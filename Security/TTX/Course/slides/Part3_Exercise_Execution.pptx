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Principles of Effective Scenario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Design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Risk-driven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Business-focused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Intelligence-informed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Realistic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Progressive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Decision-oriented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Objective-based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Adaptable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Characteristics of Effective 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Reflect current threats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Include multiple stakeholders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Require meaningful decisions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Test existing plans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Challenge assumptions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Encourage collaboration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Produce measurable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Aligning Scenarios with Exercise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Objective Alignment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Exercise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Scenario Component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Test executive 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Media inquiries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Validate incident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Malware outbreak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Evaluate legal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Regulatory notification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Assess business continuity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ERP outage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Test vendor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Third-party compromise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57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Best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150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Every inject supports an objective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Remove unnecessary storyline elements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Keep participants focused on desired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Developing the Scenario Narrative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Narrative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1. Organizational background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2. Business context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3. Current operating environment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4. Threat actor profile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5. Initial incident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6. Escalation events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7.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19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Storytelling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19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Authentic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Relevant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Plausible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Progressive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Immersive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Selecting the Threat Actor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Common Threat Actors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Threat 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Primary Motivation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Ransomware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Financial gain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Nation-State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Espionage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Insider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Personal or financial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Hacktivist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Ideological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Commercial advantage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Cybercriminal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Theft or fraud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Selection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722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Industry relevance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Current intelligence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Historical incidents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Organizational exposure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 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Defining the Initial Incident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Possible Initial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Suspicious phishing email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Unusual network activity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Ransom note discovered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Customer complaint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Third-party notification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Cloud account compromise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Data leak reported online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SIEM alert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Effective Opening Characteristics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Credible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Time-sensitive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Requires immediate action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Generates discussion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Building the Incident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 Timeline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Event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08:00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Suspicious email detected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08:30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User reports unusual activity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SOC identifies malware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Lateral movement 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11:00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Executive notification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Media inquiry received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Systems encrypted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Design Tips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Creating Decision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Examples of Decision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Declare a cyber incident?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Activate the Incident Response Team?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Shut down affected systems?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Notify regulators?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Inform customers?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Engage law enforcement?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Activate disaster recovery?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Approve public statement?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Evaluation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Decision quality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Timeliness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Collaboration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Designing Scenario Escalation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Escalation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Additional compromised systems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Data exfiltration confirmed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Social media rumors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Vendor involvement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Regulatory inquiries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Customer complaints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Financial impacts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Escalation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Logical progression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Relevant challenges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Increasing urgency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Incorporating Business Impacts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Potential Business Impacts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Revenue loss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Service disruption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Supply chain interruption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Customer dissatisfaction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Contractual penalties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Regulatory fines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Reputational damage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Shareholder concerns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Discussion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Which business units are affected?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What is the financial impact?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How should priorities change?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Integrating Technical Realism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Technical Elements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Indicators of compromise (IOCs)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Log excerpts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Network diagrams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Endpoint alerts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Cloud security findings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Threat intelligence reports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Forensic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19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Considerations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19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Avoid excessive technical jargon for mixed audiences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Tailor technical depth to participant roles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Introducing External Stakeholders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External Parties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Regulators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Law enforcement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Cyber insurance provider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Managed Security Service Provider (MSSP)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Cloud service provider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Customers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Vendors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Industry ISACs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Media and Public Relations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 Media Injects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Journalist requests comment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Social media misinformation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Customer inquiries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Press conference request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Leaked internal memo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Viral online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Communication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5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Accuracy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Consistency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Timeliness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Transparency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Legal 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Regulatory and Legal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Discussion Topics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Breach notification timelines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Evidence preservation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Privacy obligations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Contractual reporting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Cross-border data transfers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Regulatory investigations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5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Who must be notified?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What information is required?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What are the legal deadlines?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Scenario Branching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Branching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Early containment → Reduced impact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Delayed response → Expanded compromise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Strong communications → Lower reputational damage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Poor coordination → Increased regulatory scrutiny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Facilitator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Prepare alternate injects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Avoid punishing creative solutions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Keep branches aligned with objectives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Balancing Realism and Complexity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Indicators of Excessive 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Too many simultaneous events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Unclear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Excessive technical detail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Frequent topic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Simplification Strategies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Limit active injects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Clarify assumptions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Introduce events gradually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Focus on core objectives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Industry-Specific Scenario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 Sectors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Financial Services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Healthcare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Government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Manufacturing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Energy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Transportation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Education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Retail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Telecommunications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Tailoring Considerations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Regulatory environment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Threat landscape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Critical processes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Technology stack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Operational dependencies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Scenario Validation Workshop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Validation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Objectives aligned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Threat intelligence current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impacts realistic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Timeline logical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Decision points clear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Stakeholders represented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Technical details accurate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Evaluation criteria defined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Participants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Security architects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owners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Legal counsel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Communications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Incident responders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Pilot Testing the Scenario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Verify timing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Test inject flow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Identify ambiguities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Validate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Pilot Participants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Internal facilitators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Subject matter experts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Observers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Selected stakeholders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Refined timeline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Updated injects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Improved facilitator notes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Scenario Design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Align with business risk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Use current threat intelligence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Keep narratives realistic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Include multiple stakeholder perspectives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Plan decision points carefully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Prepare alternate injects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Document assumptions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Validate with subject matter experts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Common Pitfalls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Overly technical scenarios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Unrealistic timelines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Lack of executive involvement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Poor objective alignment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Module Review: Scenario Design and Storytelling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Effective scenarios are objective-driven and risk-informed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Strong narratives improve engagement and realism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Decision points should test governance and collaboration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Escalation should be gradual and purposeful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impacts broaden the discussion beyond technical issues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Branching scenarios create dynamic learning experiences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Validation and pilot testing improve quality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Industry customization increases relevance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Discussion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What characteristics make a scenario realistic for your organization?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Which decision points are most critical to test?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How can business impacts be incorporated into technical scenarios?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What improvements would you make to your scenario design process?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What Is an Inject?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An inject is a scripted event, piece of information, or simulated communication introduced during a tabletop exercise to advance the scenario, create decision points, and evaluate participant responses.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Drive discussion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Test decision-making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Introduce new information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Simulate uncertainty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Maintain exercise momentum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Validate procedures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Characteristics of Effective Injects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7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Realistic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Timely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Objective-driven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Concise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Actionable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Relevant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The Inject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Lifecycle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1. Scenario Planning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2. Inject Design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3. Validation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4. Scheduling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5. Delivery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6. Participant Response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7. Evaluation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8. Follow-up Inject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Develop inject content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Validate realism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Assign delivery time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Monitor responses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Adapt if necessary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Record observations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Types of Injects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Common Inject Types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Inject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Technical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Simulate security events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Executive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Strategic decision-making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Operational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Business continuity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Legal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Compliance and liability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Public relations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Employee issues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External communications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Third-party coordination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Technical Injects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SIEM alert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Malware detection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Endpoint compromise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Unusual VPN login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Failed MFA attempts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Privileged account misuse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Cloud security alert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Firewall anomaly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Sample Inject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Time: 09:15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The SOC receives multiple alerts indicating suspicious PowerShell execution on several finance department workstations.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Expected Discussion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Executive Decision Injects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Declare a major incident?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Activate Crisis Management Team?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Approve emergency funding?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Authorize system shutdown?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Notify Board of Directors?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Approve customer notification?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Sample Inject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5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The Incident Commander recommends shutting down the organization's primary customer portal to contain the attack.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Discussion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7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What business impact should be considered?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Who has approval authority?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Are there alternatives?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Media and Public Relations Injects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 Injects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Journalist requests an interview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Sensitive documents appear online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Social media rumors spread rapidly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Customers demand information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News outlet publishes an inaccurate article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Evaluation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Message consistency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Approval process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Timeliness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Transparency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Brand protection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Legal and Regulatory Injects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Regulator requests incident details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Privacy authority opens an investigation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Customer threatens litigation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Evidence preservation notice received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Mandatory reporting deadline approaches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Discussion Topics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Notification obligations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Legal privilege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Documentation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Evidence handling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External counsel engagement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Human Resources Injects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 Injects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Employee reports phishing email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Insider suspected of malicious activity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Employees cannot access payroll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Staff begin sharing rumors internally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Union representatives request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HR Considerations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Employee communications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Disciplinary procedures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Insider investigations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Staff wellbeing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Training needs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Customer and Vendor Injects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Customer Injects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Service outage complaints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Data breach inquiries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Contract termination threats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Escalated support tickets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Vendor Injects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Supplier confirms compromise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Cloud provider outage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Managed service provider unavailable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Software vulnerability announced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Escalation Injects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Escalation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Additional systems compromised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Ransom demand received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Data exfiltration confirmed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New malware variant detected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Backup systems fail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Media attention increases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Escalation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5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Gradual progression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Logical sequence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Aligned with objectives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Time-Based Inject Scheduling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Sample Schedule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Inject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Initial phishing alert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09:20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Malware 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09:45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Executive notification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10:15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Media inquiry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10:45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Ransom demand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11:15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Regulator notification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Timing Considerations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722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Participant workload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Discussion quality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Available time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Inject Delivery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Delivery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Facilitator announcement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Email simulation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Phone call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Chat message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News article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Social media post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SIEM dashboard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Printed handout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Best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Vary delivery methods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Maintain realism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Avoid unnecessary complexity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Writing Effective Injects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Writing Guidelines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Keep injects concise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Use realistic language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Include only necessary details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Avoid leading participants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Define the desired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Inject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Time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Source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Event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Supporting information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Facilitator notes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Evaluation criteria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Branching Inject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Containment Successful?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├── Yes → Reduced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└── No → Expanded Compromise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Facilitator Guidance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Prepare alternate injects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Reward effective decisions with realistic outcomes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Maintain alignment with exercise objectives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Managing Cognitive 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Signs of Overload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Confusion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Repeated questions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Off-topic discussions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Reduced participation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Decision fatigue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Mitigation Strategies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Slow the pace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Summarize events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Clarify assumptions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Pause for discussion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Limit concurrent injects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Facilitator Decision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Decision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Situation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Facilitator Action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Discussion has stalled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Introduce a new inject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Participants are confused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Clarify assumptions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Exercise is behind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Compress timeline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Participants solve issue quickly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Increase complexity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Team is overloaded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Pause and summarize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Incorrect assumptions persist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Provide clarification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Best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722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Maintain neutrality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Avoid coaching participants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Encourage discussion before intervening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Keep the exercise aligned with objectives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Inject Control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Sample Inject Control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Inject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INJ-01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Phishing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Facilitator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Delivered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INJ-02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09:20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Malware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White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Delivered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INJ-03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09:45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CEO notified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Facilitator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INJ-04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10:15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Media inquiry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INJ-05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10:45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Ransom 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White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57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150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Prevents missed injects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Supports coordination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Maintains timing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Documents exercise progress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Real-Time Exercise Adaptation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Reasons to Adapt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Participants take unexpected actions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Discussions require additional time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Objectives have already been achieved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New learning opportunities emerge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Technical assumptions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Adaptation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Delay injects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Accelerate timeline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Skip unnecessary events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Introduce alternate branches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Simplify technical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Facilitator Checklist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Managing Unexpected Participant Responses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Common Situations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Participants solve the problem earlier than expected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Participants ignore available evidence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Participants challenge scenario assumptions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Participants suggest alternative strategies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Participants escalate unexpectedly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Facilitator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Acknowledge the suggestion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Evaluate realism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Allow reasonable approaches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Introduce consequences naturally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Avoid forcing predetermined outcomes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White Cell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White Cell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 control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Inject delivery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Time management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Logistics support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Rule clarification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Scenario adjustments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Communications support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Observer coordination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White Cell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Exercise Director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├── Lead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├── Inject Team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Recording Decisions During the Exercise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Decision Log Example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Decision Maker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Outcome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09:30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Activate IR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Approved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10:05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Notify CEO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Incident Commander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10:45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Shut down VPN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Deferred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343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Information to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00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Decision rationale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Alternatives considered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Risks identified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Responsible owner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Follow-up actions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Evaluating Responses to Injects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Evaluation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Timeliness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Accuracy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Collaboration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Communication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Policy compliance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Risk awareness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Leadership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Rating Example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50749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Exceeded expectations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Met expectations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Needs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Partially met expectations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Unsatisfactory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Did not meet expectations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Common Inject Design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Frequent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Injects not linked to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Unrealistic technical details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Poor timing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Excessive complexity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Leading participants to a specific answer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Too many simultaneous events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Lack of business context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Inconsistent scenario progression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Prevention Strategies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Review injects against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Pilot test the exercise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Validate with subject matter experts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Simplify where necessary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Building an Inject Library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Inject Library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Technical: Malware, Phishing, Cloud compromise, Insider threat, DDoS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Executive: Board notification, Crisis declaration, Budget approval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Communications: Media inquiry, Customer notification, Social media activity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Legal: Regulatory reporting, Litigation, Privacy breach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Metadata to Include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Inject ID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Category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Difficulty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Target audience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Related ATT&amp;CK techniques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Estimated discussion time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Module Review: The Inject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Injects are the primary mechanism for driving tabletop discussions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Every inject should support one or more exercise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Technical, executive, legal, HR, customer, and media injects create realistic multi-disciplinary exercises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Facilitators should adapt inject delivery based on participant progress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The White Cell coordinates exercise control and logistics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Decision logs support comprehensive post-exercise analysis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Standardized evaluation improves consistency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 reusable inject library increases efficiency and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Discussion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Which types of injects would be most valuable for your organization?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How can inject timing influence participant engagement?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What information should be captured in a decision log?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How could an inject library improve your tabletop exercise program?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