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146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The Role of the Tabletop Exercise Facilitator</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Primary Responsibilities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Guide discussions</a:t>
            </a:r>
          </a:p>
          <a:p>
            <a:pPr>
              <a:spcAft>
                <a:spcPts val="500"/>
              </a:spcAft>
              <a:defRPr sz="1300">
                <a:solidFill>
                  <a:srgbClr val="1A1A1A"/>
                </a:solidFill>
                <a:latin typeface="Calibri"/>
              </a:defRPr>
            </a:pPr>
            <a:r>
              <a:t>—  Maintain exercise pace</a:t>
            </a:r>
          </a:p>
          <a:p>
            <a:pPr>
              <a:spcAft>
                <a:spcPts val="500"/>
              </a:spcAft>
              <a:defRPr sz="1300">
                <a:solidFill>
                  <a:srgbClr val="1A1A1A"/>
                </a:solidFill>
                <a:latin typeface="Calibri"/>
              </a:defRPr>
            </a:pPr>
            <a:r>
              <a:t>—  Encourage participation</a:t>
            </a:r>
          </a:p>
          <a:p>
            <a:pPr>
              <a:spcAft>
                <a:spcPts val="500"/>
              </a:spcAft>
              <a:defRPr sz="1300">
                <a:solidFill>
                  <a:srgbClr val="1A1A1A"/>
                </a:solidFill>
                <a:latin typeface="Calibri"/>
              </a:defRPr>
            </a:pPr>
            <a:r>
              <a:t>—  Keep participants focused on objectives</a:t>
            </a:r>
          </a:p>
          <a:p>
            <a:pPr>
              <a:spcAft>
                <a:spcPts val="500"/>
              </a:spcAft>
              <a:defRPr sz="1300">
                <a:solidFill>
                  <a:srgbClr val="1A1A1A"/>
                </a:solidFill>
                <a:latin typeface="Calibri"/>
              </a:defRPr>
            </a:pPr>
            <a:r>
              <a:t>—  Introduce injects</a:t>
            </a:r>
          </a:p>
          <a:p>
            <a:pPr>
              <a:spcAft>
                <a:spcPts val="500"/>
              </a:spcAft>
              <a:defRPr sz="1300">
                <a:solidFill>
                  <a:srgbClr val="1A1A1A"/>
                </a:solidFill>
                <a:latin typeface="Calibri"/>
              </a:defRPr>
            </a:pPr>
            <a:r>
              <a:t>—  Manage conflict</a:t>
            </a:r>
          </a:p>
          <a:p>
            <a:pPr>
              <a:spcAft>
                <a:spcPts val="500"/>
              </a:spcAft>
              <a:defRPr sz="1300">
                <a:solidFill>
                  <a:srgbClr val="1A1A1A"/>
                </a:solidFill>
                <a:latin typeface="Calibri"/>
              </a:defRPr>
            </a:pPr>
            <a:r>
              <a:t>—  Clarify assumptions</a:t>
            </a:r>
          </a:p>
          <a:p>
            <a:pPr>
              <a:spcAft>
                <a:spcPts val="500"/>
              </a:spcAft>
              <a:defRPr sz="1300">
                <a:solidFill>
                  <a:srgbClr val="1A1A1A"/>
                </a:solidFill>
                <a:latin typeface="Calibri"/>
              </a:defRPr>
            </a:pPr>
            <a:r>
              <a:t>—  Ensure psychological safety</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Facilitator vs. Instructor</a:t>
            </a:r>
          </a:p>
        </p:txBody>
      </p:sp>
      <p:graphicFrame>
        <p:nvGraphicFramePr>
          <p:cNvPr id="8" name="Table 7"/>
          <p:cNvGraphicFramePr>
            <a:graphicFrameLocks noGrp="1"/>
          </p:cNvGraphicFramePr>
          <p:nvPr/>
        </p:nvGraphicFramePr>
        <p:xfrm>
          <a:off x="548640" y="5074920"/>
          <a:ext cx="10972800" cy="22860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Facilitator</a:t>
                      </a:r>
                    </a:p>
                  </a:txBody>
                  <a:tcPr/>
                </a:tc>
                <a:tc>
                  <a:txBody>
                    <a:bodyPr/>
                    <a:lstStyle/>
                    <a:p>
                      <a:pPr>
                        <a:defRPr sz="1100" b="1">
                          <a:solidFill>
                            <a:srgbClr val="666666"/>
                          </a:solidFill>
                        </a:defRPr>
                      </a:pPr>
                      <a:r>
                        <a:t>Instructor</a:t>
                      </a:r>
                    </a:p>
                  </a:txBody>
                  <a:tcPr/>
                </a:tc>
              </a:tr>
              <a:tr h="457200">
                <a:tc>
                  <a:txBody>
                    <a:bodyPr/>
                    <a:lstStyle/>
                    <a:p>
                      <a:pPr>
                        <a:defRPr sz="1200">
                          <a:solidFill>
                            <a:srgbClr val="1A1A1A"/>
                          </a:solidFill>
                        </a:defRPr>
                      </a:pPr>
                      <a:r>
                        <a:t>Guides discussion</a:t>
                      </a:r>
                    </a:p>
                  </a:txBody>
                  <a:tcPr/>
                </a:tc>
                <a:tc>
                  <a:txBody>
                    <a:bodyPr/>
                    <a:lstStyle/>
                    <a:p>
                      <a:pPr>
                        <a:defRPr sz="1200">
                          <a:solidFill>
                            <a:srgbClr val="1A1A1A"/>
                          </a:solidFill>
                        </a:defRPr>
                      </a:pPr>
                      <a:r>
                        <a:t>Delivers knowledge</a:t>
                      </a:r>
                    </a:p>
                  </a:txBody>
                  <a:tcPr/>
                </a:tc>
              </a:tr>
              <a:tr h="457200">
                <a:tc>
                  <a:txBody>
                    <a:bodyPr/>
                    <a:lstStyle/>
                    <a:p>
                      <a:pPr>
                        <a:defRPr sz="1200">
                          <a:solidFill>
                            <a:srgbClr val="1A1A1A"/>
                          </a:solidFill>
                        </a:defRPr>
                      </a:pPr>
                      <a:r>
                        <a:t>Asks questions</a:t>
                      </a:r>
                    </a:p>
                  </a:txBody>
                  <a:tcPr/>
                </a:tc>
                <a:tc>
                  <a:txBody>
                    <a:bodyPr/>
                    <a:lstStyle/>
                    <a:p>
                      <a:pPr>
                        <a:defRPr sz="1200">
                          <a:solidFill>
                            <a:srgbClr val="1A1A1A"/>
                          </a:solidFill>
                        </a:defRPr>
                      </a:pPr>
                      <a:r>
                        <a:t>Provides answers</a:t>
                      </a:r>
                    </a:p>
                  </a:txBody>
                  <a:tcPr/>
                </a:tc>
              </a:tr>
              <a:tr h="457200">
                <a:tc>
                  <a:txBody>
                    <a:bodyPr/>
                    <a:lstStyle/>
                    <a:p>
                      <a:pPr>
                        <a:defRPr sz="1200">
                          <a:solidFill>
                            <a:srgbClr val="1A1A1A"/>
                          </a:solidFill>
                        </a:defRPr>
                      </a:pPr>
                      <a:r>
                        <a:t>Encourages collaboration</a:t>
                      </a:r>
                    </a:p>
                  </a:txBody>
                  <a:tcPr/>
                </a:tc>
                <a:tc>
                  <a:txBody>
                    <a:bodyPr/>
                    <a:lstStyle/>
                    <a:p>
                      <a:pPr>
                        <a:defRPr sz="1200">
                          <a:solidFill>
                            <a:srgbClr val="1A1A1A"/>
                          </a:solidFill>
                        </a:defRPr>
                      </a:pPr>
                      <a:r>
                        <a:t>Conducts lectures</a:t>
                      </a:r>
                    </a:p>
                  </a:txBody>
                  <a:tcPr/>
                </a:tc>
              </a:tr>
              <a:tr h="457200">
                <a:tc>
                  <a:txBody>
                    <a:bodyPr/>
                    <a:lstStyle/>
                    <a:p>
                      <a:pPr>
                        <a:defRPr sz="1200">
                          <a:solidFill>
                            <a:srgbClr val="1A1A1A"/>
                          </a:solidFill>
                        </a:defRPr>
                      </a:pPr>
                      <a:r>
                        <a:t>Remains neutral</a:t>
                      </a:r>
                    </a:p>
                  </a:txBody>
                  <a:tcPr/>
                </a:tc>
                <a:tc>
                  <a:txBody>
                    <a:bodyPr/>
                    <a:lstStyle/>
                    <a:p>
                      <a:pPr>
                        <a:defRPr sz="1200">
                          <a:solidFill>
                            <a:srgbClr val="1A1A1A"/>
                          </a:solidFill>
                        </a:defRPr>
                      </a:pPr>
                      <a:r>
                        <a:t>Directs learning</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147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Preparing to Facilitate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Preparation Checklist</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Review exercise objectives</a:t>
            </a:r>
          </a:p>
          <a:p>
            <a:pPr>
              <a:spcAft>
                <a:spcPts val="500"/>
              </a:spcAft>
              <a:defRPr sz="1300">
                <a:solidFill>
                  <a:srgbClr val="1A1A1A"/>
                </a:solidFill>
                <a:latin typeface="Calibri"/>
              </a:defRPr>
            </a:pPr>
            <a:r>
              <a:t>—  Understand the scenario</a:t>
            </a:r>
          </a:p>
          <a:p>
            <a:pPr>
              <a:spcAft>
                <a:spcPts val="500"/>
              </a:spcAft>
              <a:defRPr sz="1300">
                <a:solidFill>
                  <a:srgbClr val="1A1A1A"/>
                </a:solidFill>
                <a:latin typeface="Calibri"/>
              </a:defRPr>
            </a:pPr>
            <a:r>
              <a:t>—  Master the inject timeline</a:t>
            </a:r>
          </a:p>
          <a:p>
            <a:pPr>
              <a:spcAft>
                <a:spcPts val="500"/>
              </a:spcAft>
              <a:defRPr sz="1300">
                <a:solidFill>
                  <a:srgbClr val="1A1A1A"/>
                </a:solidFill>
                <a:latin typeface="Calibri"/>
              </a:defRPr>
            </a:pPr>
            <a:r>
              <a:t>—  Review participant roles</a:t>
            </a:r>
          </a:p>
          <a:p>
            <a:pPr>
              <a:spcAft>
                <a:spcPts val="500"/>
              </a:spcAft>
              <a:defRPr sz="1300">
                <a:solidFill>
                  <a:srgbClr val="1A1A1A"/>
                </a:solidFill>
                <a:latin typeface="Calibri"/>
              </a:defRPr>
            </a:pPr>
            <a:r>
              <a:t>—  Test presentation materials</a:t>
            </a:r>
          </a:p>
          <a:p>
            <a:pPr>
              <a:spcAft>
                <a:spcPts val="500"/>
              </a:spcAft>
              <a:defRPr sz="1300">
                <a:solidFill>
                  <a:srgbClr val="1A1A1A"/>
                </a:solidFill>
                <a:latin typeface="Calibri"/>
              </a:defRPr>
            </a:pPr>
            <a:r>
              <a:t>—  Confirm logistics</a:t>
            </a:r>
          </a:p>
          <a:p>
            <a:pPr>
              <a:spcAft>
                <a:spcPts val="500"/>
              </a:spcAft>
              <a:defRPr sz="1300">
                <a:solidFill>
                  <a:srgbClr val="1A1A1A"/>
                </a:solidFill>
                <a:latin typeface="Calibri"/>
              </a:defRPr>
            </a:pPr>
            <a:r>
              <a:t>—  Verify communication channels</a:t>
            </a:r>
          </a:p>
          <a:p>
            <a:pPr>
              <a:spcAft>
                <a:spcPts val="500"/>
              </a:spcAft>
              <a:defRPr sz="1300">
                <a:solidFill>
                  <a:srgbClr val="1A1A1A"/>
                </a:solidFill>
                <a:latin typeface="Calibri"/>
              </a:defRPr>
            </a:pPr>
            <a:r>
              <a:t>—  Prepare contingency plans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Personal Preparation</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Familiarize yourself with organizational policies</a:t>
            </a:r>
          </a:p>
          <a:p>
            <a:pPr>
              <a:spcAft>
                <a:spcPts val="500"/>
              </a:spcAft>
              <a:defRPr sz="1300">
                <a:solidFill>
                  <a:srgbClr val="1A1A1A"/>
                </a:solidFill>
                <a:latin typeface="Calibri"/>
              </a:defRPr>
            </a:pPr>
            <a:r>
              <a:t>—  Practice transitions between injects</a:t>
            </a:r>
          </a:p>
          <a:p>
            <a:pPr>
              <a:spcAft>
                <a:spcPts val="500"/>
              </a:spcAft>
              <a:defRPr sz="1300">
                <a:solidFill>
                  <a:srgbClr val="1A1A1A"/>
                </a:solidFill>
                <a:latin typeface="Calibri"/>
              </a:defRPr>
            </a:pPr>
            <a:r>
              <a:t>—  Anticipate participant questions</a:t>
            </a:r>
          </a:p>
          <a:p>
            <a:pPr>
              <a:spcAft>
                <a:spcPts val="500"/>
              </a:spcAft>
              <a:defRPr sz="1300">
                <a:solidFill>
                  <a:srgbClr val="1A1A1A"/>
                </a:solidFill>
                <a:latin typeface="Calibri"/>
              </a:defRPr>
            </a:pPr>
            <a:r>
              <a:t>—  Review expected decision 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148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Establishing the Exercise Environment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Ground Rules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Respect all participants</a:t>
            </a:r>
          </a:p>
          <a:p>
            <a:pPr>
              <a:spcAft>
                <a:spcPts val="500"/>
              </a:spcAft>
              <a:defRPr sz="1300">
                <a:solidFill>
                  <a:srgbClr val="1A1A1A"/>
                </a:solidFill>
                <a:latin typeface="Calibri"/>
              </a:defRPr>
            </a:pPr>
            <a:r>
              <a:t>—  One speaker at a time</a:t>
            </a:r>
          </a:p>
          <a:p>
            <a:pPr>
              <a:spcAft>
                <a:spcPts val="500"/>
              </a:spcAft>
              <a:defRPr sz="1300">
                <a:solidFill>
                  <a:srgbClr val="1A1A1A"/>
                </a:solidFill>
                <a:latin typeface="Calibri"/>
              </a:defRPr>
            </a:pPr>
            <a:r>
              <a:t>—  Focus on processes, not individuals</a:t>
            </a:r>
          </a:p>
          <a:p>
            <a:pPr>
              <a:spcAft>
                <a:spcPts val="500"/>
              </a:spcAft>
              <a:defRPr sz="1300">
                <a:solidFill>
                  <a:srgbClr val="1A1A1A"/>
                </a:solidFill>
                <a:latin typeface="Calibri"/>
              </a:defRPr>
            </a:pPr>
            <a:r>
              <a:t>—  Encourage constructive discussion</a:t>
            </a:r>
          </a:p>
          <a:p>
            <a:pPr>
              <a:spcAft>
                <a:spcPts val="500"/>
              </a:spcAft>
              <a:defRPr sz="1300">
                <a:solidFill>
                  <a:srgbClr val="1A1A1A"/>
                </a:solidFill>
                <a:latin typeface="Calibri"/>
              </a:defRPr>
            </a:pPr>
            <a:r>
              <a:t>—  No blame or criticism</a:t>
            </a:r>
          </a:p>
          <a:p>
            <a:pPr>
              <a:spcAft>
                <a:spcPts val="500"/>
              </a:spcAft>
              <a:defRPr sz="1300">
                <a:solidFill>
                  <a:srgbClr val="1A1A1A"/>
                </a:solidFill>
                <a:latin typeface="Calibri"/>
              </a:defRPr>
            </a:pPr>
            <a:r>
              <a:t>—  Stay within exercise scope</a:t>
            </a:r>
          </a:p>
          <a:p>
            <a:pPr>
              <a:spcAft>
                <a:spcPts val="500"/>
              </a:spcAft>
              <a:defRPr sz="1300">
                <a:solidFill>
                  <a:srgbClr val="1A1A1A"/>
                </a:solidFill>
                <a:latin typeface="Calibri"/>
              </a:defRPr>
            </a:pPr>
            <a:r>
              <a:t>—  Ask questions freely</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Setting Expectations</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is a learning opportunity</a:t>
            </a:r>
          </a:p>
          <a:p>
            <a:pPr>
              <a:spcAft>
                <a:spcPts val="500"/>
              </a:spcAft>
              <a:defRPr sz="1300">
                <a:solidFill>
                  <a:srgbClr val="1A1A1A"/>
                </a:solidFill>
                <a:latin typeface="Calibri"/>
              </a:defRPr>
            </a:pPr>
            <a:r>
              <a:t>—  Honest discussion is encouraged</a:t>
            </a:r>
          </a:p>
          <a:p>
            <a:pPr>
              <a:spcAft>
                <a:spcPts val="500"/>
              </a:spcAft>
              <a:defRPr sz="1300">
                <a:solidFill>
                  <a:srgbClr val="1A1A1A"/>
                </a:solidFill>
                <a:latin typeface="Calibri"/>
              </a:defRPr>
            </a:pPr>
            <a:r>
              <a:t>—  Mistakes are expected and valuable</a:t>
            </a:r>
          </a:p>
          <a:p>
            <a:pPr>
              <a:spcAft>
                <a:spcPts val="500"/>
              </a:spcAft>
              <a:defRPr sz="1300">
                <a:solidFill>
                  <a:srgbClr val="1A1A1A"/>
                </a:solidFill>
                <a:latin typeface="Calibri"/>
              </a:defRPr>
            </a:pPr>
            <a:r>
              <a:t>—  Participation from all attendees is important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149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Active Listening Skills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Active Listening Behaviors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Maintain eye contact</a:t>
            </a:r>
          </a:p>
          <a:p>
            <a:pPr>
              <a:spcAft>
                <a:spcPts val="500"/>
              </a:spcAft>
              <a:defRPr sz="1300">
                <a:solidFill>
                  <a:srgbClr val="1A1A1A"/>
                </a:solidFill>
                <a:latin typeface="Calibri"/>
              </a:defRPr>
            </a:pPr>
            <a:r>
              <a:t>—  Avoid interruptions</a:t>
            </a:r>
          </a:p>
          <a:p>
            <a:pPr>
              <a:spcAft>
                <a:spcPts val="500"/>
              </a:spcAft>
              <a:defRPr sz="1300">
                <a:solidFill>
                  <a:srgbClr val="1A1A1A"/>
                </a:solidFill>
                <a:latin typeface="Calibri"/>
              </a:defRPr>
            </a:pPr>
            <a:r>
              <a:t>—  Summarize key points</a:t>
            </a:r>
          </a:p>
          <a:p>
            <a:pPr>
              <a:spcAft>
                <a:spcPts val="500"/>
              </a:spcAft>
              <a:defRPr sz="1300">
                <a:solidFill>
                  <a:srgbClr val="1A1A1A"/>
                </a:solidFill>
                <a:latin typeface="Calibri"/>
              </a:defRPr>
            </a:pPr>
            <a:r>
              <a:t>—  Ask clarifying questions</a:t>
            </a:r>
          </a:p>
          <a:p>
            <a:pPr>
              <a:spcAft>
                <a:spcPts val="500"/>
              </a:spcAft>
              <a:defRPr sz="1300">
                <a:solidFill>
                  <a:srgbClr val="1A1A1A"/>
                </a:solidFill>
                <a:latin typeface="Calibri"/>
              </a:defRPr>
            </a:pPr>
            <a:r>
              <a:t>—  Observe body language</a:t>
            </a:r>
          </a:p>
          <a:p>
            <a:pPr>
              <a:spcAft>
                <a:spcPts val="500"/>
              </a:spcAft>
              <a:defRPr sz="1300">
                <a:solidFill>
                  <a:srgbClr val="1A1A1A"/>
                </a:solidFill>
                <a:latin typeface="Calibri"/>
              </a:defRPr>
            </a:pPr>
            <a:r>
              <a:t>—  Acknowledge contributions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Sample Questions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Can you explain your reasoning?</a:t>
            </a:r>
          </a:p>
          <a:p>
            <a:pPr>
              <a:spcAft>
                <a:spcPts val="500"/>
              </a:spcAft>
              <a:defRPr sz="1300">
                <a:solidFill>
                  <a:srgbClr val="1A1A1A"/>
                </a:solidFill>
                <a:latin typeface="Calibri"/>
              </a:defRPr>
            </a:pPr>
            <a:r>
              <a:t>—  What assumptions are you making?</a:t>
            </a:r>
          </a:p>
          <a:p>
            <a:pPr>
              <a:spcAft>
                <a:spcPts val="500"/>
              </a:spcAft>
              <a:defRPr sz="1300">
                <a:solidFill>
                  <a:srgbClr val="1A1A1A"/>
                </a:solidFill>
                <a:latin typeface="Calibri"/>
              </a:defRPr>
            </a:pPr>
            <a:r>
              <a:t>—  How would that decision affect other teams?</a:t>
            </a:r>
          </a:p>
          <a:p>
            <a:pPr>
              <a:spcAft>
                <a:spcPts val="500"/>
              </a:spcAft>
              <a:defRPr sz="1300">
                <a:solidFill>
                  <a:srgbClr val="1A1A1A"/>
                </a:solidFill>
                <a:latin typeface="Calibri"/>
              </a:defRPr>
            </a:pPr>
            <a:r>
              <a:t>—  Are there alternative approaches?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Asking Effective Questions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Open-Ended Questions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What information do you need?</a:t>
            </a:r>
          </a:p>
          <a:p>
            <a:pPr>
              <a:spcAft>
                <a:spcPts val="500"/>
              </a:spcAft>
              <a:defRPr sz="1300">
                <a:solidFill>
                  <a:srgbClr val="1A1A1A"/>
                </a:solidFill>
                <a:latin typeface="Calibri"/>
              </a:defRPr>
            </a:pPr>
            <a:r>
              <a:t>—  Who should be involved?</a:t>
            </a:r>
          </a:p>
          <a:p>
            <a:pPr>
              <a:spcAft>
                <a:spcPts val="500"/>
              </a:spcAft>
              <a:defRPr sz="1300">
                <a:solidFill>
                  <a:srgbClr val="1A1A1A"/>
                </a:solidFill>
                <a:latin typeface="Calibri"/>
              </a:defRPr>
            </a:pPr>
            <a:r>
              <a:t>—  What are your priorities?</a:t>
            </a:r>
          </a:p>
          <a:p>
            <a:pPr>
              <a:spcAft>
                <a:spcPts val="500"/>
              </a:spcAft>
              <a:defRPr sz="1300">
                <a:solidFill>
                  <a:srgbClr val="1A1A1A"/>
                </a:solidFill>
                <a:latin typeface="Calibri"/>
              </a:defRPr>
            </a:pPr>
            <a:r>
              <a:t>—  What risks concern you most?</a:t>
            </a:r>
          </a:p>
          <a:p>
            <a:pPr>
              <a:spcAft>
                <a:spcPts val="500"/>
              </a:spcAft>
              <a:defRPr sz="1300">
                <a:solidFill>
                  <a:srgbClr val="1A1A1A"/>
                </a:solidFill>
                <a:latin typeface="Calibri"/>
              </a:defRPr>
            </a:pPr>
            <a:r>
              <a:t>—  What would happen next?</a:t>
            </a:r>
          </a:p>
        </p:txBody>
      </p:sp>
      <p:sp>
        <p:nvSpPr>
          <p:cNvPr id="7" name="TextBox 6"/>
          <p:cNvSpPr txBox="1"/>
          <p:nvPr/>
        </p:nvSpPr>
        <p:spPr>
          <a:xfrm>
            <a:off x="548640" y="3931920"/>
            <a:ext cx="10972800" cy="320040"/>
          </a:xfrm>
          <a:prstGeom prst="rect">
            <a:avLst/>
          </a:prstGeom>
          <a:noFill/>
        </p:spPr>
        <p:txBody>
          <a:bodyPr wrap="square">
            <a:spAutoFit/>
          </a:bodyPr>
          <a:lstStyle/>
          <a:p>
            <a:pPr algn="l">
              <a:defRPr sz="1300" b="1">
                <a:solidFill>
                  <a:srgbClr val="666666"/>
                </a:solidFill>
                <a:latin typeface="Calibri"/>
              </a:defRPr>
            </a:pPr>
            <a:r>
              <a:t>Probing Questions</a:t>
            </a:r>
          </a:p>
        </p:txBody>
      </p:sp>
      <p:sp>
        <p:nvSpPr>
          <p:cNvPr id="8" name="TextBox 7"/>
          <p:cNvSpPr txBox="1"/>
          <p:nvPr/>
        </p:nvSpPr>
        <p:spPr>
          <a:xfrm>
            <a:off x="548640" y="4389120"/>
            <a:ext cx="10972800" cy="2743200"/>
          </a:xfrm>
          <a:prstGeom prst="rect">
            <a:avLst/>
          </a:prstGeom>
          <a:noFill/>
        </p:spPr>
        <p:txBody>
          <a:bodyPr wrap="square">
            <a:spAutoFit/>
          </a:bodyPr>
          <a:lstStyle/>
          <a:p>
            <a:pPr>
              <a:spcAft>
                <a:spcPts val="500"/>
              </a:spcAft>
              <a:defRPr sz="1300">
                <a:solidFill>
                  <a:srgbClr val="1A1A1A"/>
                </a:solidFill>
                <a:latin typeface="Calibri"/>
              </a:defRPr>
            </a:pPr>
            <a:r>
              <a:t>—  Why was that decision made?</a:t>
            </a:r>
          </a:p>
          <a:p>
            <a:pPr>
              <a:spcAft>
                <a:spcPts val="500"/>
              </a:spcAft>
              <a:defRPr sz="1300">
                <a:solidFill>
                  <a:srgbClr val="1A1A1A"/>
                </a:solidFill>
                <a:latin typeface="Calibri"/>
              </a:defRPr>
            </a:pPr>
            <a:r>
              <a:t>—  What alternatives were considered?</a:t>
            </a:r>
          </a:p>
          <a:p>
            <a:pPr>
              <a:spcAft>
                <a:spcPts val="500"/>
              </a:spcAft>
              <a:defRPr sz="1300">
                <a:solidFill>
                  <a:srgbClr val="1A1A1A"/>
                </a:solidFill>
                <a:latin typeface="Calibri"/>
              </a:defRPr>
            </a:pPr>
            <a:r>
              <a:t>—  What assumptions support that conclusion?</a:t>
            </a:r>
          </a:p>
          <a:p>
            <a:pPr>
              <a:spcAft>
                <a:spcPts val="500"/>
              </a:spcAft>
              <a:defRPr sz="1300">
                <a:solidFill>
                  <a:srgbClr val="1A1A1A"/>
                </a:solidFill>
                <a:latin typeface="Calibri"/>
              </a:defRPr>
            </a:pPr>
            <a:r>
              <a:t>—  How would you communicate this?</a:t>
            </a:r>
          </a:p>
        </p:txBody>
      </p:sp>
      <p:sp>
        <p:nvSpPr>
          <p:cNvPr id="9" name="TextBox 8"/>
          <p:cNvSpPr txBox="1"/>
          <p:nvPr/>
        </p:nvSpPr>
        <p:spPr>
          <a:xfrm>
            <a:off x="548640" y="5806440"/>
            <a:ext cx="10972800" cy="320040"/>
          </a:xfrm>
          <a:prstGeom prst="rect">
            <a:avLst/>
          </a:prstGeom>
          <a:noFill/>
        </p:spPr>
        <p:txBody>
          <a:bodyPr wrap="square">
            <a:spAutoFit/>
          </a:bodyPr>
          <a:lstStyle/>
          <a:p>
            <a:pPr algn="l">
              <a:defRPr sz="1300" b="1">
                <a:solidFill>
                  <a:srgbClr val="666666"/>
                </a:solidFill>
                <a:latin typeface="Calibri"/>
              </a:defRPr>
            </a:pPr>
            <a:r>
              <a:t>Avoid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Managing Group Dynamics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Common Behaviors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Dominant participant</a:t>
            </a:r>
          </a:p>
          <a:p>
            <a:pPr>
              <a:spcAft>
                <a:spcPts val="500"/>
              </a:spcAft>
              <a:defRPr sz="1300">
                <a:solidFill>
                  <a:srgbClr val="1A1A1A"/>
                </a:solidFill>
                <a:latin typeface="Calibri"/>
              </a:defRPr>
            </a:pPr>
            <a:r>
              <a:t>—  Quiet participant</a:t>
            </a:r>
          </a:p>
          <a:p>
            <a:pPr>
              <a:spcAft>
                <a:spcPts val="500"/>
              </a:spcAft>
              <a:defRPr sz="1300">
                <a:solidFill>
                  <a:srgbClr val="1A1A1A"/>
                </a:solidFill>
                <a:latin typeface="Calibri"/>
              </a:defRPr>
            </a:pPr>
            <a:r>
              <a:t>—  Subject matter expert</a:t>
            </a:r>
          </a:p>
          <a:p>
            <a:pPr>
              <a:spcAft>
                <a:spcPts val="500"/>
              </a:spcAft>
              <a:defRPr sz="1300">
                <a:solidFill>
                  <a:srgbClr val="1A1A1A"/>
                </a:solidFill>
                <a:latin typeface="Calibri"/>
              </a:defRPr>
            </a:pPr>
            <a:r>
              <a:t>—  Executive influence</a:t>
            </a:r>
          </a:p>
          <a:p>
            <a:pPr>
              <a:spcAft>
                <a:spcPts val="500"/>
              </a:spcAft>
              <a:defRPr sz="1300">
                <a:solidFill>
                  <a:srgbClr val="1A1A1A"/>
                </a:solidFill>
                <a:latin typeface="Calibri"/>
              </a:defRPr>
            </a:pPr>
            <a:r>
              <a:t>—  Skeptical participant</a:t>
            </a:r>
          </a:p>
          <a:p>
            <a:pPr>
              <a:spcAft>
                <a:spcPts val="500"/>
              </a:spcAft>
              <a:defRPr sz="1300">
                <a:solidFill>
                  <a:srgbClr val="1A1A1A"/>
                </a:solidFill>
                <a:latin typeface="Calibri"/>
              </a:defRPr>
            </a:pPr>
            <a:r>
              <a:t>—  Off-topic discussion</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Facilitation Strategies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Redirect respectfully</a:t>
            </a:r>
          </a:p>
          <a:p>
            <a:pPr>
              <a:spcAft>
                <a:spcPts val="500"/>
              </a:spcAft>
              <a:defRPr sz="1300">
                <a:solidFill>
                  <a:srgbClr val="1A1A1A"/>
                </a:solidFill>
                <a:latin typeface="Calibri"/>
              </a:defRPr>
            </a:pPr>
            <a:r>
              <a:t>—  Invite quieter participants</a:t>
            </a:r>
          </a:p>
          <a:p>
            <a:pPr>
              <a:spcAft>
                <a:spcPts val="500"/>
              </a:spcAft>
              <a:defRPr sz="1300">
                <a:solidFill>
                  <a:srgbClr val="1A1A1A"/>
                </a:solidFill>
                <a:latin typeface="Calibri"/>
              </a:defRPr>
            </a:pPr>
            <a:r>
              <a:t>—  Balance technical and business perspectives</a:t>
            </a:r>
          </a:p>
          <a:p>
            <a:pPr>
              <a:spcAft>
                <a:spcPts val="500"/>
              </a:spcAft>
              <a:defRPr sz="1300">
                <a:solidFill>
                  <a:srgbClr val="1A1A1A"/>
                </a:solidFill>
                <a:latin typeface="Calibri"/>
              </a:defRPr>
            </a:pPr>
            <a:r>
              <a:t>—  Summarize discussions</a:t>
            </a:r>
          </a:p>
          <a:p>
            <a:pPr>
              <a:spcAft>
                <a:spcPts val="500"/>
              </a:spcAft>
              <a:defRPr sz="1300">
                <a:solidFill>
                  <a:srgbClr val="1A1A1A"/>
                </a:solidFill>
                <a:latin typeface="Calibri"/>
              </a:defRPr>
            </a:pPr>
            <a:r>
              <a:t>—  Keep conversations objective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Managing Difficult Participants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Common Challenges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Interrupting others</a:t>
            </a:r>
          </a:p>
          <a:p>
            <a:pPr>
              <a:spcAft>
                <a:spcPts val="500"/>
              </a:spcAft>
              <a:defRPr sz="1300">
                <a:solidFill>
                  <a:srgbClr val="1A1A1A"/>
                </a:solidFill>
                <a:latin typeface="Calibri"/>
              </a:defRPr>
            </a:pPr>
            <a:r>
              <a:t>—  Arguing excessively</a:t>
            </a:r>
          </a:p>
          <a:p>
            <a:pPr>
              <a:spcAft>
                <a:spcPts val="500"/>
              </a:spcAft>
              <a:defRPr sz="1300">
                <a:solidFill>
                  <a:srgbClr val="1A1A1A"/>
                </a:solidFill>
                <a:latin typeface="Calibri"/>
              </a:defRPr>
            </a:pPr>
            <a:r>
              <a:t>—  Side conversations</a:t>
            </a:r>
          </a:p>
          <a:p>
            <a:pPr>
              <a:spcAft>
                <a:spcPts val="500"/>
              </a:spcAft>
              <a:defRPr sz="1300">
                <a:solidFill>
                  <a:srgbClr val="1A1A1A"/>
                </a:solidFill>
                <a:latin typeface="Calibri"/>
              </a:defRPr>
            </a:pPr>
            <a:r>
              <a:t>—  Dominating discussions</a:t>
            </a:r>
          </a:p>
          <a:p>
            <a:pPr>
              <a:spcAft>
                <a:spcPts val="500"/>
              </a:spcAft>
              <a:defRPr sz="1300">
                <a:solidFill>
                  <a:srgbClr val="1A1A1A"/>
                </a:solidFill>
                <a:latin typeface="Calibri"/>
              </a:defRPr>
            </a:pPr>
            <a:r>
              <a:t>—  Refusing to participate</a:t>
            </a:r>
          </a:p>
          <a:p>
            <a:pPr>
              <a:spcAft>
                <a:spcPts val="500"/>
              </a:spcAft>
              <a:defRPr sz="1300">
                <a:solidFill>
                  <a:srgbClr val="1A1A1A"/>
                </a:solidFill>
                <a:latin typeface="Calibri"/>
              </a:defRPr>
            </a:pPr>
            <a:r>
              <a:t>—  Challenging exercise assumptions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Response Techniques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Acknowledge concerns</a:t>
            </a:r>
          </a:p>
          <a:p>
            <a:pPr>
              <a:spcAft>
                <a:spcPts val="500"/>
              </a:spcAft>
              <a:defRPr sz="1300">
                <a:solidFill>
                  <a:srgbClr val="1A1A1A"/>
                </a:solidFill>
                <a:latin typeface="Calibri"/>
              </a:defRPr>
            </a:pPr>
            <a:r>
              <a:t>—  Redirect discussion</a:t>
            </a:r>
          </a:p>
          <a:p>
            <a:pPr>
              <a:spcAft>
                <a:spcPts val="500"/>
              </a:spcAft>
              <a:defRPr sz="1300">
                <a:solidFill>
                  <a:srgbClr val="1A1A1A"/>
                </a:solidFill>
                <a:latin typeface="Calibri"/>
              </a:defRPr>
            </a:pPr>
            <a:r>
              <a:t>—  Refer to exercise objectives</a:t>
            </a:r>
          </a:p>
          <a:p>
            <a:pPr>
              <a:spcAft>
                <a:spcPts val="500"/>
              </a:spcAft>
              <a:defRPr sz="1300">
                <a:solidFill>
                  <a:srgbClr val="1A1A1A"/>
                </a:solidFill>
                <a:latin typeface="Calibri"/>
              </a:defRPr>
            </a:pPr>
            <a:r>
              <a:t>—  Reinforce ground rules</a:t>
            </a:r>
          </a:p>
          <a:p>
            <a:pPr>
              <a:spcAft>
                <a:spcPts val="500"/>
              </a:spcAft>
              <a:defRPr sz="1300">
                <a:solidFill>
                  <a:srgbClr val="1A1A1A"/>
                </a:solidFill>
                <a:latin typeface="Calibri"/>
              </a:defRPr>
            </a:pPr>
            <a:r>
              <a:t>—  Use breaks when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Encouraging Collaboration</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Collaboration Techniques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Round-robin discussions</a:t>
            </a:r>
          </a:p>
          <a:p>
            <a:pPr>
              <a:spcAft>
                <a:spcPts val="500"/>
              </a:spcAft>
              <a:defRPr sz="1300">
                <a:solidFill>
                  <a:srgbClr val="1A1A1A"/>
                </a:solidFill>
                <a:latin typeface="Calibri"/>
              </a:defRPr>
            </a:pPr>
            <a:r>
              <a:t>—  Cross-functional questions</a:t>
            </a:r>
          </a:p>
          <a:p>
            <a:pPr>
              <a:spcAft>
                <a:spcPts val="500"/>
              </a:spcAft>
              <a:defRPr sz="1300">
                <a:solidFill>
                  <a:srgbClr val="1A1A1A"/>
                </a:solidFill>
                <a:latin typeface="Calibri"/>
              </a:defRPr>
            </a:pPr>
            <a:r>
              <a:t>—  Shared decision-making</a:t>
            </a:r>
          </a:p>
          <a:p>
            <a:pPr>
              <a:spcAft>
                <a:spcPts val="500"/>
              </a:spcAft>
              <a:defRPr sz="1300">
                <a:solidFill>
                  <a:srgbClr val="1A1A1A"/>
                </a:solidFill>
                <a:latin typeface="Calibri"/>
              </a:defRPr>
            </a:pPr>
            <a:r>
              <a:t>—  Joint problem solving</a:t>
            </a:r>
          </a:p>
          <a:p>
            <a:pPr>
              <a:spcAft>
                <a:spcPts val="500"/>
              </a:spcAft>
              <a:defRPr sz="1300">
                <a:solidFill>
                  <a:srgbClr val="1A1A1A"/>
                </a:solidFill>
                <a:latin typeface="Calibri"/>
              </a:defRPr>
            </a:pPr>
            <a:r>
              <a:t>—  Scenario brainstorming</a:t>
            </a:r>
          </a:p>
          <a:p>
            <a:pPr>
              <a:spcAft>
                <a:spcPts val="500"/>
              </a:spcAft>
              <a:defRPr sz="1300">
                <a:solidFill>
                  <a:srgbClr val="1A1A1A"/>
                </a:solidFill>
                <a:latin typeface="Calibri"/>
              </a:defRPr>
            </a:pPr>
            <a:r>
              <a:t>—  Consensus building</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Better decisions</a:t>
            </a:r>
          </a:p>
          <a:p>
            <a:pPr>
              <a:spcAft>
                <a:spcPts val="500"/>
              </a:spcAft>
              <a:defRPr sz="1300">
                <a:solidFill>
                  <a:srgbClr val="1A1A1A"/>
                </a:solidFill>
                <a:latin typeface="Calibri"/>
              </a:defRPr>
            </a:pPr>
            <a:r>
              <a:t>—  Increased engagement</a:t>
            </a:r>
          </a:p>
          <a:p>
            <a:pPr>
              <a:spcAft>
                <a:spcPts val="500"/>
              </a:spcAft>
              <a:defRPr sz="1300">
                <a:solidFill>
                  <a:srgbClr val="1A1A1A"/>
                </a:solidFill>
                <a:latin typeface="Calibri"/>
              </a:defRPr>
            </a:pPr>
            <a:r>
              <a:t>—  Shared understanding</a:t>
            </a:r>
          </a:p>
          <a:p>
            <a:pPr>
              <a:spcAft>
                <a:spcPts val="500"/>
              </a:spcAft>
              <a:defRPr sz="1300">
                <a:solidFill>
                  <a:srgbClr val="1A1A1A"/>
                </a:solidFill>
                <a:latin typeface="Calibri"/>
              </a:defRPr>
            </a:pPr>
            <a:r>
              <a:t>—  Stronger relationships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Time Management During the Exercise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Time Management Tips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Allocate discussion time per inject</a:t>
            </a:r>
          </a:p>
          <a:p>
            <a:pPr>
              <a:spcAft>
                <a:spcPts val="500"/>
              </a:spcAft>
              <a:defRPr sz="1300">
                <a:solidFill>
                  <a:srgbClr val="1A1A1A"/>
                </a:solidFill>
                <a:latin typeface="Calibri"/>
              </a:defRPr>
            </a:pPr>
            <a:r>
              <a:t>—  Monitor progress</a:t>
            </a:r>
          </a:p>
          <a:p>
            <a:pPr>
              <a:spcAft>
                <a:spcPts val="500"/>
              </a:spcAft>
              <a:defRPr sz="1300">
                <a:solidFill>
                  <a:srgbClr val="1A1A1A"/>
                </a:solidFill>
                <a:latin typeface="Calibri"/>
              </a:defRPr>
            </a:pPr>
            <a:r>
              <a:t>—  Summarize regularly</a:t>
            </a:r>
          </a:p>
          <a:p>
            <a:pPr>
              <a:spcAft>
                <a:spcPts val="500"/>
              </a:spcAft>
              <a:defRPr sz="1300">
                <a:solidFill>
                  <a:srgbClr val="1A1A1A"/>
                </a:solidFill>
                <a:latin typeface="Calibri"/>
              </a:defRPr>
            </a:pPr>
            <a:r>
              <a:t>—  Park unrelated topics</a:t>
            </a:r>
          </a:p>
          <a:p>
            <a:pPr>
              <a:spcAft>
                <a:spcPts val="500"/>
              </a:spcAft>
              <a:defRPr sz="1300">
                <a:solidFill>
                  <a:srgbClr val="1A1A1A"/>
                </a:solidFill>
                <a:latin typeface="Calibri"/>
              </a:defRPr>
            </a:pPr>
            <a:r>
              <a:t>—  Adjust inject timing if necessary</a:t>
            </a:r>
          </a:p>
        </p:txBody>
      </p:sp>
      <p:sp>
        <p:nvSpPr>
          <p:cNvPr id="7" name="TextBox 6"/>
          <p:cNvSpPr txBox="1"/>
          <p:nvPr/>
        </p:nvSpPr>
        <p:spPr>
          <a:xfrm>
            <a:off x="548640" y="3931920"/>
            <a:ext cx="10972800" cy="320040"/>
          </a:xfrm>
          <a:prstGeom prst="rect">
            <a:avLst/>
          </a:prstGeom>
          <a:noFill/>
        </p:spPr>
        <p:txBody>
          <a:bodyPr wrap="square">
            <a:spAutoFit/>
          </a:bodyPr>
          <a:lstStyle/>
          <a:p>
            <a:pPr algn="l">
              <a:defRPr sz="1300" b="1">
                <a:solidFill>
                  <a:srgbClr val="666666"/>
                </a:solidFill>
                <a:latin typeface="Calibri"/>
              </a:defRPr>
            </a:pPr>
            <a:r>
              <a:t>Warning Signs</a:t>
            </a:r>
          </a:p>
        </p:txBody>
      </p:sp>
      <p:sp>
        <p:nvSpPr>
          <p:cNvPr id="8" name="TextBox 7"/>
          <p:cNvSpPr txBox="1"/>
          <p:nvPr/>
        </p:nvSpPr>
        <p:spPr>
          <a:xfrm>
            <a:off x="548640" y="4389120"/>
            <a:ext cx="10972800" cy="2743200"/>
          </a:xfrm>
          <a:prstGeom prst="rect">
            <a:avLst/>
          </a:prstGeom>
          <a:noFill/>
        </p:spPr>
        <p:txBody>
          <a:bodyPr wrap="square">
            <a:spAutoFit/>
          </a:bodyPr>
          <a:lstStyle/>
          <a:p>
            <a:pPr>
              <a:spcAft>
                <a:spcPts val="500"/>
              </a:spcAft>
              <a:defRPr sz="1300">
                <a:solidFill>
                  <a:srgbClr val="1A1A1A"/>
                </a:solidFill>
                <a:latin typeface="Calibri"/>
              </a:defRPr>
            </a:pPr>
            <a:r>
              <a:t>—  Repeated discussions</a:t>
            </a:r>
          </a:p>
          <a:p>
            <a:pPr>
              <a:spcAft>
                <a:spcPts val="500"/>
              </a:spcAft>
              <a:defRPr sz="1300">
                <a:solidFill>
                  <a:srgbClr val="1A1A1A"/>
                </a:solidFill>
                <a:latin typeface="Calibri"/>
              </a:defRPr>
            </a:pPr>
            <a:r>
              <a:t>—  Excessive technical detail</a:t>
            </a:r>
          </a:p>
          <a:p>
            <a:pPr>
              <a:spcAft>
                <a:spcPts val="500"/>
              </a:spcAft>
              <a:defRPr sz="1300">
                <a:solidFill>
                  <a:srgbClr val="1A1A1A"/>
                </a:solidFill>
                <a:latin typeface="Calibri"/>
              </a:defRPr>
            </a:pPr>
            <a:r>
              <a:t>—  Missed objectives</a:t>
            </a:r>
          </a:p>
          <a:p>
            <a:pPr>
              <a:spcAft>
                <a:spcPts val="500"/>
              </a:spcAft>
              <a:defRPr sz="1300">
                <a:solidFill>
                  <a:srgbClr val="1A1A1A"/>
                </a:solidFill>
                <a:latin typeface="Calibri"/>
              </a:defRPr>
            </a:pPr>
            <a:r>
              <a:t>—  Schedule delays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Facilitating Executive Discussions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Executive Discussion Topics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Business priorities</a:t>
            </a:r>
          </a:p>
          <a:p>
            <a:pPr>
              <a:spcAft>
                <a:spcPts val="500"/>
              </a:spcAft>
              <a:defRPr sz="1300">
                <a:solidFill>
                  <a:srgbClr val="1A1A1A"/>
                </a:solidFill>
                <a:latin typeface="Calibri"/>
              </a:defRPr>
            </a:pPr>
            <a:r>
              <a:t>—  Risk appetite</a:t>
            </a:r>
          </a:p>
          <a:p>
            <a:pPr>
              <a:spcAft>
                <a:spcPts val="500"/>
              </a:spcAft>
              <a:defRPr sz="1300">
                <a:solidFill>
                  <a:srgbClr val="1A1A1A"/>
                </a:solidFill>
                <a:latin typeface="Calibri"/>
              </a:defRPr>
            </a:pPr>
            <a:r>
              <a:t>—  Public communications</a:t>
            </a:r>
          </a:p>
          <a:p>
            <a:pPr>
              <a:spcAft>
                <a:spcPts val="500"/>
              </a:spcAft>
              <a:defRPr sz="1300">
                <a:solidFill>
                  <a:srgbClr val="1A1A1A"/>
                </a:solidFill>
                <a:latin typeface="Calibri"/>
              </a:defRPr>
            </a:pPr>
            <a:r>
              <a:t>—  Financial implications</a:t>
            </a:r>
          </a:p>
          <a:p>
            <a:pPr>
              <a:spcAft>
                <a:spcPts val="500"/>
              </a:spcAft>
              <a:defRPr sz="1300">
                <a:solidFill>
                  <a:srgbClr val="1A1A1A"/>
                </a:solidFill>
                <a:latin typeface="Calibri"/>
              </a:defRPr>
            </a:pPr>
            <a:r>
              <a:t>—  Regulatory obligations</a:t>
            </a:r>
          </a:p>
          <a:p>
            <a:pPr>
              <a:spcAft>
                <a:spcPts val="500"/>
              </a:spcAft>
              <a:defRPr sz="1300">
                <a:solidFill>
                  <a:srgbClr val="1A1A1A"/>
                </a:solidFill>
                <a:latin typeface="Calibri"/>
              </a:defRPr>
            </a:pPr>
            <a:r>
              <a:t>—  Reputation management</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Facilitator Tips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Avoid unnecessary technical jargon</a:t>
            </a:r>
          </a:p>
          <a:p>
            <a:pPr>
              <a:spcAft>
                <a:spcPts val="500"/>
              </a:spcAft>
              <a:defRPr sz="1300">
                <a:solidFill>
                  <a:srgbClr val="1A1A1A"/>
                </a:solidFill>
                <a:latin typeface="Calibri"/>
              </a:defRPr>
            </a:pPr>
            <a:r>
              <a:t>—  Focus on strategic impacts</a:t>
            </a:r>
          </a:p>
          <a:p>
            <a:pPr>
              <a:spcAft>
                <a:spcPts val="500"/>
              </a:spcAft>
              <a:defRPr sz="1300">
                <a:solidFill>
                  <a:srgbClr val="1A1A1A"/>
                </a:solidFill>
                <a:latin typeface="Calibri"/>
              </a:defRPr>
            </a:pPr>
            <a:r>
              <a:t>—  Encourage cross-functional perspectives</a:t>
            </a:r>
          </a:p>
          <a:p>
            <a:pPr>
              <a:spcAft>
                <a:spcPts val="500"/>
              </a:spcAft>
              <a:defRPr sz="1300">
                <a:solidFill>
                  <a:srgbClr val="1A1A1A"/>
                </a:solidFill>
                <a:latin typeface="Calibri"/>
              </a:defRPr>
            </a:pPr>
            <a:r>
              <a:t>—  Highlight business trade-offs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Psychological Safety</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Characteristics of Psychological Safety</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Respect</a:t>
            </a:r>
          </a:p>
          <a:p>
            <a:pPr>
              <a:spcAft>
                <a:spcPts val="500"/>
              </a:spcAft>
              <a:defRPr sz="1300">
                <a:solidFill>
                  <a:srgbClr val="1A1A1A"/>
                </a:solidFill>
                <a:latin typeface="Calibri"/>
              </a:defRPr>
            </a:pPr>
            <a:r>
              <a:t>—  Trust</a:t>
            </a:r>
          </a:p>
          <a:p>
            <a:pPr>
              <a:spcAft>
                <a:spcPts val="500"/>
              </a:spcAft>
              <a:defRPr sz="1300">
                <a:solidFill>
                  <a:srgbClr val="1A1A1A"/>
                </a:solidFill>
                <a:latin typeface="Calibri"/>
              </a:defRPr>
            </a:pPr>
            <a:r>
              <a:t>—  Openness</a:t>
            </a:r>
          </a:p>
          <a:p>
            <a:pPr>
              <a:spcAft>
                <a:spcPts val="500"/>
              </a:spcAft>
              <a:defRPr sz="1300">
                <a:solidFill>
                  <a:srgbClr val="1A1A1A"/>
                </a:solidFill>
                <a:latin typeface="Calibri"/>
              </a:defRPr>
            </a:pPr>
            <a:r>
              <a:t>—  Inclusion</a:t>
            </a:r>
          </a:p>
          <a:p>
            <a:pPr>
              <a:spcAft>
                <a:spcPts val="500"/>
              </a:spcAft>
              <a:defRPr sz="1300">
                <a:solidFill>
                  <a:srgbClr val="1A1A1A"/>
                </a:solidFill>
                <a:latin typeface="Calibri"/>
              </a:defRPr>
            </a:pPr>
            <a:r>
              <a:t>—  Curiosity</a:t>
            </a:r>
          </a:p>
          <a:p>
            <a:pPr>
              <a:spcAft>
                <a:spcPts val="500"/>
              </a:spcAft>
              <a:defRPr sz="1300">
                <a:solidFill>
                  <a:srgbClr val="1A1A1A"/>
                </a:solidFill>
                <a:latin typeface="Calibri"/>
              </a:defRPr>
            </a:pPr>
            <a:r>
              <a:t>—  Learning mindset</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Facilitator Behaviors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Encourage questions</a:t>
            </a:r>
          </a:p>
          <a:p>
            <a:pPr>
              <a:spcAft>
                <a:spcPts val="500"/>
              </a:spcAft>
              <a:defRPr sz="1300">
                <a:solidFill>
                  <a:srgbClr val="1A1A1A"/>
                </a:solidFill>
                <a:latin typeface="Calibri"/>
              </a:defRPr>
            </a:pPr>
            <a:r>
              <a:t>—  Acknowledge uncertainty</a:t>
            </a:r>
          </a:p>
          <a:p>
            <a:pPr>
              <a:spcAft>
                <a:spcPts val="500"/>
              </a:spcAft>
              <a:defRPr sz="1300">
                <a:solidFill>
                  <a:srgbClr val="1A1A1A"/>
                </a:solidFill>
                <a:latin typeface="Calibri"/>
              </a:defRPr>
            </a:pPr>
            <a:r>
              <a:t>—  Normalize mistakes</a:t>
            </a:r>
          </a:p>
          <a:p>
            <a:pPr>
              <a:spcAft>
                <a:spcPts val="500"/>
              </a:spcAft>
              <a:defRPr sz="1300">
                <a:solidFill>
                  <a:srgbClr val="1A1A1A"/>
                </a:solidFill>
                <a:latin typeface="Calibri"/>
              </a:defRPr>
            </a:pPr>
            <a:r>
              <a:t>—  Avoid assigning blame</a:t>
            </a:r>
          </a:p>
          <a:p>
            <a:pPr>
              <a:spcAft>
                <a:spcPts val="500"/>
              </a:spcAft>
              <a:defRPr sz="1300">
                <a:solidFill>
                  <a:srgbClr val="1A1A1A"/>
                </a:solidFill>
                <a:latin typeface="Calibri"/>
              </a:defRPr>
            </a:pPr>
            <a:r>
              <a:t>—  Recognize contributions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Facilitating Virtual Tabletop Exercises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Best Practices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Test technology beforehand</a:t>
            </a:r>
          </a:p>
          <a:p>
            <a:pPr>
              <a:spcAft>
                <a:spcPts val="500"/>
              </a:spcAft>
              <a:defRPr sz="1300">
                <a:solidFill>
                  <a:srgbClr val="1A1A1A"/>
                </a:solidFill>
                <a:latin typeface="Calibri"/>
              </a:defRPr>
            </a:pPr>
            <a:r>
              <a:t>—  Use breakout rooms when appropriate</a:t>
            </a:r>
          </a:p>
          <a:p>
            <a:pPr>
              <a:spcAft>
                <a:spcPts val="500"/>
              </a:spcAft>
              <a:defRPr sz="1300">
                <a:solidFill>
                  <a:srgbClr val="1A1A1A"/>
                </a:solidFill>
                <a:latin typeface="Calibri"/>
              </a:defRPr>
            </a:pPr>
            <a:r>
              <a:t>—  Encourage camera use (where practical)</a:t>
            </a:r>
          </a:p>
          <a:p>
            <a:pPr>
              <a:spcAft>
                <a:spcPts val="500"/>
              </a:spcAft>
              <a:defRPr sz="1300">
                <a:solidFill>
                  <a:srgbClr val="1A1A1A"/>
                </a:solidFill>
                <a:latin typeface="Calibri"/>
              </a:defRPr>
            </a:pPr>
            <a:r>
              <a:t>—  Monitor chat discussions</a:t>
            </a:r>
          </a:p>
          <a:p>
            <a:pPr>
              <a:spcAft>
                <a:spcPts val="500"/>
              </a:spcAft>
              <a:defRPr sz="1300">
                <a:solidFill>
                  <a:srgbClr val="1A1A1A"/>
                </a:solidFill>
                <a:latin typeface="Calibri"/>
              </a:defRPr>
            </a:pPr>
            <a:r>
              <a:t>—  Use collaborative whiteboards</a:t>
            </a:r>
          </a:p>
          <a:p>
            <a:pPr>
              <a:spcAft>
                <a:spcPts val="500"/>
              </a:spcAft>
              <a:defRPr sz="1300">
                <a:solidFill>
                  <a:srgbClr val="1A1A1A"/>
                </a:solidFill>
                <a:latin typeface="Calibri"/>
              </a:defRPr>
            </a:pPr>
            <a:r>
              <a:t>—  Schedule regular breaks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Challenges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Reduced non-verbal cues</a:t>
            </a:r>
          </a:p>
          <a:p>
            <a:pPr>
              <a:spcAft>
                <a:spcPts val="500"/>
              </a:spcAft>
              <a:defRPr sz="1300">
                <a:solidFill>
                  <a:srgbClr val="1A1A1A"/>
                </a:solidFill>
                <a:latin typeface="Calibri"/>
              </a:defRPr>
            </a:pPr>
            <a:r>
              <a:t>—  Technical issues</a:t>
            </a:r>
          </a:p>
          <a:p>
            <a:pPr>
              <a:spcAft>
                <a:spcPts val="500"/>
              </a:spcAft>
              <a:defRPr sz="1300">
                <a:solidFill>
                  <a:srgbClr val="1A1A1A"/>
                </a:solidFill>
                <a:latin typeface="Calibri"/>
              </a:defRPr>
            </a:pPr>
            <a:r>
              <a:t>—  Participant distractions</a:t>
            </a:r>
          </a:p>
          <a:p>
            <a:pPr>
              <a:spcAft>
                <a:spcPts val="500"/>
              </a:spcAft>
              <a:defRPr sz="1300">
                <a:solidFill>
                  <a:srgbClr val="1A1A1A"/>
                </a:solidFill>
                <a:latin typeface="Calibri"/>
              </a:defRPr>
            </a:pPr>
            <a:r>
              <a:t>—  Time zone coordination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Managing Exercise Momentum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Momentum Builders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Timely injects</a:t>
            </a:r>
          </a:p>
          <a:p>
            <a:pPr>
              <a:spcAft>
                <a:spcPts val="500"/>
              </a:spcAft>
              <a:defRPr sz="1300">
                <a:solidFill>
                  <a:srgbClr val="1A1A1A"/>
                </a:solidFill>
                <a:latin typeface="Calibri"/>
              </a:defRPr>
            </a:pPr>
            <a:r>
              <a:t>—  Clear transitions</a:t>
            </a:r>
          </a:p>
          <a:p>
            <a:pPr>
              <a:spcAft>
                <a:spcPts val="500"/>
              </a:spcAft>
              <a:defRPr sz="1300">
                <a:solidFill>
                  <a:srgbClr val="1A1A1A"/>
                </a:solidFill>
                <a:latin typeface="Calibri"/>
              </a:defRPr>
            </a:pPr>
            <a:r>
              <a:t>—  Summary checkpoints</a:t>
            </a:r>
          </a:p>
          <a:p>
            <a:pPr>
              <a:spcAft>
                <a:spcPts val="500"/>
              </a:spcAft>
              <a:defRPr sz="1300">
                <a:solidFill>
                  <a:srgbClr val="1A1A1A"/>
                </a:solidFill>
                <a:latin typeface="Calibri"/>
              </a:defRPr>
            </a:pPr>
            <a:r>
              <a:t>—  Progressive escalation</a:t>
            </a:r>
          </a:p>
          <a:p>
            <a:pPr>
              <a:spcAft>
                <a:spcPts val="500"/>
              </a:spcAft>
              <a:defRPr sz="1300">
                <a:solidFill>
                  <a:srgbClr val="1A1A1A"/>
                </a:solidFill>
                <a:latin typeface="Calibri"/>
              </a:defRPr>
            </a:pPr>
            <a:r>
              <a:t>—  Participant recognition</a:t>
            </a:r>
          </a:p>
          <a:p>
            <a:pPr>
              <a:spcAft>
                <a:spcPts val="500"/>
              </a:spcAft>
              <a:defRPr sz="1300">
                <a:solidFill>
                  <a:srgbClr val="1A1A1A"/>
                </a:solidFill>
                <a:latin typeface="Calibri"/>
              </a:defRPr>
            </a:pPr>
            <a:r>
              <a:t>—  Dynamic discussions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Recovery Strategies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Introduce a new inject</a:t>
            </a:r>
          </a:p>
          <a:p>
            <a:pPr>
              <a:spcAft>
                <a:spcPts val="500"/>
              </a:spcAft>
              <a:defRPr sz="1300">
                <a:solidFill>
                  <a:srgbClr val="1A1A1A"/>
                </a:solidFill>
                <a:latin typeface="Calibri"/>
              </a:defRPr>
            </a:pPr>
            <a:r>
              <a:t>—  Reframe the discussion</a:t>
            </a:r>
          </a:p>
          <a:p>
            <a:pPr>
              <a:spcAft>
                <a:spcPts val="500"/>
              </a:spcAft>
              <a:defRPr sz="1300">
                <a:solidFill>
                  <a:srgbClr val="1A1A1A"/>
                </a:solidFill>
                <a:latin typeface="Calibri"/>
              </a:defRPr>
            </a:pPr>
            <a:r>
              <a:t>—  Clarify assumptions</a:t>
            </a:r>
          </a:p>
          <a:p>
            <a:pPr>
              <a:spcAft>
                <a:spcPts val="500"/>
              </a:spcAft>
              <a:defRPr sz="1300">
                <a:solidFill>
                  <a:srgbClr val="1A1A1A"/>
                </a:solidFill>
                <a:latin typeface="Calibri"/>
              </a:defRPr>
            </a:pPr>
            <a:r>
              <a:t>—  Ask targeted questions</a:t>
            </a:r>
          </a:p>
          <a:p>
            <a:pPr>
              <a:spcAft>
                <a:spcPts val="500"/>
              </a:spcAft>
              <a:defRPr sz="1300">
                <a:solidFill>
                  <a:srgbClr val="1A1A1A"/>
                </a:solidFill>
                <a:latin typeface="Calibri"/>
              </a:defRPr>
            </a:pPr>
            <a:r>
              <a:t>—  Pause for reflection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159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Common Facilitation Mistakes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Mistakes to Avoid</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Talking too much</a:t>
            </a:r>
          </a:p>
          <a:p>
            <a:pPr>
              <a:spcAft>
                <a:spcPts val="500"/>
              </a:spcAft>
              <a:defRPr sz="1300">
                <a:solidFill>
                  <a:srgbClr val="1A1A1A"/>
                </a:solidFill>
                <a:latin typeface="Calibri"/>
              </a:defRPr>
            </a:pPr>
            <a:r>
              <a:t>—  Leading participants</a:t>
            </a:r>
          </a:p>
          <a:p>
            <a:pPr>
              <a:spcAft>
                <a:spcPts val="500"/>
              </a:spcAft>
              <a:defRPr sz="1300">
                <a:solidFill>
                  <a:srgbClr val="1A1A1A"/>
                </a:solidFill>
                <a:latin typeface="Calibri"/>
              </a:defRPr>
            </a:pPr>
            <a:r>
              <a:t>—  Revealing future injects</a:t>
            </a:r>
          </a:p>
          <a:p>
            <a:pPr>
              <a:spcAft>
                <a:spcPts val="500"/>
              </a:spcAft>
              <a:defRPr sz="1300">
                <a:solidFill>
                  <a:srgbClr val="1A1A1A"/>
                </a:solidFill>
                <a:latin typeface="Calibri"/>
              </a:defRPr>
            </a:pPr>
            <a:r>
              <a:t>—  Ignoring quieter participants</a:t>
            </a:r>
          </a:p>
          <a:p>
            <a:pPr>
              <a:spcAft>
                <a:spcPts val="500"/>
              </a:spcAft>
              <a:defRPr sz="1300">
                <a:solidFill>
                  <a:srgbClr val="1A1A1A"/>
                </a:solidFill>
                <a:latin typeface="Calibri"/>
              </a:defRPr>
            </a:pPr>
            <a:r>
              <a:t>—  Rushing discussions</a:t>
            </a:r>
          </a:p>
          <a:p>
            <a:pPr>
              <a:spcAft>
                <a:spcPts val="500"/>
              </a:spcAft>
              <a:defRPr sz="1300">
                <a:solidFill>
                  <a:srgbClr val="1A1A1A"/>
                </a:solidFill>
                <a:latin typeface="Calibri"/>
              </a:defRPr>
            </a:pPr>
            <a:r>
              <a:t>—  Allowing blame culture</a:t>
            </a:r>
          </a:p>
          <a:p>
            <a:pPr>
              <a:spcAft>
                <a:spcPts val="500"/>
              </a:spcAft>
              <a:defRPr sz="1300">
                <a:solidFill>
                  <a:srgbClr val="1A1A1A"/>
                </a:solidFill>
                <a:latin typeface="Calibri"/>
              </a:defRPr>
            </a:pPr>
            <a:r>
              <a:t>—  Losing track of objectives</a:t>
            </a:r>
          </a:p>
          <a:p>
            <a:pPr>
              <a:spcAft>
                <a:spcPts val="500"/>
              </a:spcAft>
              <a:defRPr sz="1300">
                <a:solidFill>
                  <a:srgbClr val="1A1A1A"/>
                </a:solidFill>
                <a:latin typeface="Calibri"/>
              </a:defRPr>
            </a:pPr>
            <a:r>
              <a:t>—  Overcorrecting participant decisions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Best Practices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Listen more than you speak</a:t>
            </a:r>
          </a:p>
          <a:p>
            <a:pPr>
              <a:spcAft>
                <a:spcPts val="500"/>
              </a:spcAft>
              <a:defRPr sz="1300">
                <a:solidFill>
                  <a:srgbClr val="1A1A1A"/>
                </a:solidFill>
                <a:latin typeface="Calibri"/>
              </a:defRPr>
            </a:pPr>
            <a:r>
              <a:t>—  Ask rather than tell</a:t>
            </a:r>
          </a:p>
          <a:p>
            <a:pPr>
              <a:spcAft>
                <a:spcPts val="500"/>
              </a:spcAft>
              <a:defRPr sz="1300">
                <a:solidFill>
                  <a:srgbClr val="1A1A1A"/>
                </a:solidFill>
                <a:latin typeface="Calibri"/>
              </a:defRPr>
            </a:pPr>
            <a:r>
              <a:t>—  Stay objective</a:t>
            </a:r>
          </a:p>
          <a:p>
            <a:pPr>
              <a:spcAft>
                <a:spcPts val="500"/>
              </a:spcAft>
              <a:defRPr sz="1300">
                <a:solidFill>
                  <a:srgbClr val="1A1A1A"/>
                </a:solidFill>
                <a:latin typeface="Calibri"/>
              </a:defRPr>
            </a:pPr>
            <a:r>
              <a:t>—  Encourage exploration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Module Review: Advanced Facilitation Techniques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Key Takeaways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Facilitators guide learning rather than provide answers</a:t>
            </a:r>
          </a:p>
          <a:p>
            <a:pPr>
              <a:spcAft>
                <a:spcPts val="500"/>
              </a:spcAft>
              <a:defRPr sz="1300">
                <a:solidFill>
                  <a:srgbClr val="1A1A1A"/>
                </a:solidFill>
                <a:latin typeface="Calibri"/>
              </a:defRPr>
            </a:pPr>
            <a:r>
              <a:t>—  Preparation is essential for successful delivery</a:t>
            </a:r>
          </a:p>
          <a:p>
            <a:pPr>
              <a:spcAft>
                <a:spcPts val="500"/>
              </a:spcAft>
              <a:defRPr sz="1300">
                <a:solidFill>
                  <a:srgbClr val="1A1A1A"/>
                </a:solidFill>
                <a:latin typeface="Calibri"/>
              </a:defRPr>
            </a:pPr>
            <a:r>
              <a:t>—  Active listening and effective questioning drive discussion</a:t>
            </a:r>
          </a:p>
          <a:p>
            <a:pPr>
              <a:spcAft>
                <a:spcPts val="500"/>
              </a:spcAft>
              <a:defRPr sz="1300">
                <a:solidFill>
                  <a:srgbClr val="1A1A1A"/>
                </a:solidFill>
                <a:latin typeface="Calibri"/>
              </a:defRPr>
            </a:pPr>
            <a:r>
              <a:t>—  Balanced participation improves exercise outcomes</a:t>
            </a:r>
          </a:p>
          <a:p>
            <a:pPr>
              <a:spcAft>
                <a:spcPts val="500"/>
              </a:spcAft>
              <a:defRPr sz="1300">
                <a:solidFill>
                  <a:srgbClr val="1A1A1A"/>
                </a:solidFill>
                <a:latin typeface="Calibri"/>
              </a:defRPr>
            </a:pPr>
            <a:r>
              <a:t>—  Psychological safety encourages honest dialogue</a:t>
            </a:r>
          </a:p>
          <a:p>
            <a:pPr>
              <a:spcAft>
                <a:spcPts val="500"/>
              </a:spcAft>
              <a:defRPr sz="1300">
                <a:solidFill>
                  <a:srgbClr val="1A1A1A"/>
                </a:solidFill>
                <a:latin typeface="Calibri"/>
              </a:defRPr>
            </a:pPr>
            <a:r>
              <a:t>—  Executive discussions should focus on business impacts</a:t>
            </a:r>
          </a:p>
          <a:p>
            <a:pPr>
              <a:spcAft>
                <a:spcPts val="500"/>
              </a:spcAft>
              <a:defRPr sz="1300">
                <a:solidFill>
                  <a:srgbClr val="1A1A1A"/>
                </a:solidFill>
                <a:latin typeface="Calibri"/>
              </a:defRPr>
            </a:pPr>
            <a:r>
              <a:t>—  Virtual facilitation requires additional planning</a:t>
            </a:r>
          </a:p>
          <a:p>
            <a:pPr>
              <a:spcAft>
                <a:spcPts val="500"/>
              </a:spcAft>
              <a:defRPr sz="1300">
                <a:solidFill>
                  <a:srgbClr val="1A1A1A"/>
                </a:solidFill>
                <a:latin typeface="Calibri"/>
              </a:defRPr>
            </a:pPr>
            <a:r>
              <a:t>—  Neutrality and adaptability are hallmarks of effective facilitators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Discussion Questions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Which facilitation skills are most challenging for you?</a:t>
            </a:r>
          </a:p>
          <a:p>
            <a:pPr>
              <a:spcAft>
                <a:spcPts val="500"/>
              </a:spcAft>
              <a:defRPr sz="1300">
                <a:solidFill>
                  <a:srgbClr val="1A1A1A"/>
                </a:solidFill>
                <a:latin typeface="Calibri"/>
              </a:defRPr>
            </a:pPr>
            <a:r>
              <a:t>—  How can you encourage quieter participants to contribute?</a:t>
            </a:r>
          </a:p>
          <a:p>
            <a:pPr>
              <a:spcAft>
                <a:spcPts val="500"/>
              </a:spcAft>
              <a:defRPr sz="1300">
                <a:solidFill>
                  <a:srgbClr val="1A1A1A"/>
                </a:solidFill>
                <a:latin typeface="Calibri"/>
              </a:defRPr>
            </a:pPr>
            <a:r>
              <a:t>—  What techniques help maintain psychological safety?</a:t>
            </a:r>
          </a:p>
          <a:p>
            <a:pPr>
              <a:spcAft>
                <a:spcPts val="500"/>
              </a:spcAft>
              <a:defRPr sz="1300">
                <a:solidFill>
                  <a:srgbClr val="1A1A1A"/>
                </a:solidFill>
                <a:latin typeface="Calibri"/>
              </a:defRPr>
            </a:pPr>
            <a:r>
              <a:t>—  How would you adapt your facilitation style for virtual exercises?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Why Exercise Evaluation Matters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Definition</a:t>
            </a:r>
          </a:p>
        </p:txBody>
      </p:sp>
      <p:sp>
        <p:nvSpPr>
          <p:cNvPr id="6" name="TextBox 5"/>
          <p:cNvSpPr txBox="1"/>
          <p:nvPr/>
        </p:nvSpPr>
        <p:spPr>
          <a:xfrm>
            <a:off x="548640" y="2194560"/>
            <a:ext cx="10972800" cy="365760"/>
          </a:xfrm>
          <a:prstGeom prst="rect">
            <a:avLst/>
          </a:prstGeom>
          <a:noFill/>
        </p:spPr>
        <p:txBody>
          <a:bodyPr wrap="square">
            <a:spAutoFit/>
          </a:bodyPr>
          <a:lstStyle/>
          <a:p>
            <a:pPr algn="l">
              <a:defRPr sz="1400" b="0">
                <a:solidFill>
                  <a:srgbClr val="1A1A1A"/>
                </a:solidFill>
                <a:latin typeface="Calibri"/>
              </a:defRPr>
            </a:pPr>
            <a:r>
              <a:t>Exercise evaluation is the structured process of assessing how effectively participants, teams, and organizational processes achieved the objectives of the tabletop exercise.</a:t>
            </a:r>
          </a:p>
        </p:txBody>
      </p:sp>
      <p:sp>
        <p:nvSpPr>
          <p:cNvPr id="7" name="TextBox 6"/>
          <p:cNvSpPr txBox="1"/>
          <p:nvPr/>
        </p:nvSpPr>
        <p:spPr>
          <a:xfrm>
            <a:off x="548640" y="2697480"/>
            <a:ext cx="10972800" cy="320040"/>
          </a:xfrm>
          <a:prstGeom prst="rect">
            <a:avLst/>
          </a:prstGeom>
          <a:noFill/>
        </p:spPr>
        <p:txBody>
          <a:bodyPr wrap="square">
            <a:spAutoFit/>
          </a:bodyPr>
          <a:lstStyle/>
          <a:p>
            <a:pPr algn="l">
              <a:defRPr sz="1300" b="1">
                <a:solidFill>
                  <a:srgbClr val="666666"/>
                </a:solidFill>
                <a:latin typeface="Calibri"/>
              </a:defRPr>
            </a:pPr>
            <a:r>
              <a:t>Goals of Evaluation</a:t>
            </a:r>
          </a:p>
        </p:txBody>
      </p:sp>
      <p:sp>
        <p:nvSpPr>
          <p:cNvPr id="8" name="TextBox 7"/>
          <p:cNvSpPr txBox="1"/>
          <p:nvPr/>
        </p:nvSpPr>
        <p:spPr>
          <a:xfrm>
            <a:off x="548640" y="3154680"/>
            <a:ext cx="10972800" cy="2743200"/>
          </a:xfrm>
          <a:prstGeom prst="rect">
            <a:avLst/>
          </a:prstGeom>
          <a:noFill/>
        </p:spPr>
        <p:txBody>
          <a:bodyPr wrap="square">
            <a:spAutoFit/>
          </a:bodyPr>
          <a:lstStyle/>
          <a:p>
            <a:pPr>
              <a:spcAft>
                <a:spcPts val="500"/>
              </a:spcAft>
              <a:defRPr sz="1300">
                <a:solidFill>
                  <a:srgbClr val="1A1A1A"/>
                </a:solidFill>
                <a:latin typeface="Calibri"/>
              </a:defRPr>
            </a:pPr>
            <a:r>
              <a:t>—  Measure objective achievement</a:t>
            </a:r>
          </a:p>
          <a:p>
            <a:pPr>
              <a:spcAft>
                <a:spcPts val="500"/>
              </a:spcAft>
              <a:defRPr sz="1300">
                <a:solidFill>
                  <a:srgbClr val="1A1A1A"/>
                </a:solidFill>
                <a:latin typeface="Calibri"/>
              </a:defRPr>
            </a:pPr>
            <a:r>
              <a:t>—  Identify capability gaps</a:t>
            </a:r>
          </a:p>
          <a:p>
            <a:pPr>
              <a:spcAft>
                <a:spcPts val="500"/>
              </a:spcAft>
              <a:defRPr sz="1300">
                <a:solidFill>
                  <a:srgbClr val="1A1A1A"/>
                </a:solidFill>
                <a:latin typeface="Calibri"/>
              </a:defRPr>
            </a:pPr>
            <a:r>
              <a:t>—  Validate policies and procedures</a:t>
            </a:r>
          </a:p>
          <a:p>
            <a:pPr>
              <a:spcAft>
                <a:spcPts val="500"/>
              </a:spcAft>
              <a:defRPr sz="1300">
                <a:solidFill>
                  <a:srgbClr val="1A1A1A"/>
                </a:solidFill>
                <a:latin typeface="Calibri"/>
              </a:defRPr>
            </a:pPr>
            <a:r>
              <a:t>—  Improve organizational resilience</a:t>
            </a:r>
          </a:p>
          <a:p>
            <a:pPr>
              <a:spcAft>
                <a:spcPts val="500"/>
              </a:spcAft>
              <a:defRPr sz="1300">
                <a:solidFill>
                  <a:srgbClr val="1A1A1A"/>
                </a:solidFill>
                <a:latin typeface="Calibri"/>
              </a:defRPr>
            </a:pPr>
            <a:r>
              <a:t>—  Support continuous improvement</a:t>
            </a:r>
          </a:p>
          <a:p>
            <a:pPr>
              <a:spcAft>
                <a:spcPts val="500"/>
              </a:spcAft>
              <a:defRPr sz="1300">
                <a:solidFill>
                  <a:srgbClr val="1A1A1A"/>
                </a:solidFill>
                <a:latin typeface="Calibri"/>
              </a:defRPr>
            </a:pPr>
            <a:r>
              <a:t>—  Justify investment in cybersecurity programs</a:t>
            </a:r>
          </a:p>
        </p:txBody>
      </p:sp>
      <p:sp>
        <p:nvSpPr>
          <p:cNvPr id="9" name="TextBox 8"/>
          <p:cNvSpPr txBox="1"/>
          <p:nvPr/>
        </p:nvSpPr>
        <p:spPr>
          <a:xfrm>
            <a:off x="548640" y="5212079"/>
            <a:ext cx="10972800" cy="320040"/>
          </a:xfrm>
          <a:prstGeom prst="rect">
            <a:avLst/>
          </a:prstGeom>
          <a:noFill/>
        </p:spPr>
        <p:txBody>
          <a:bodyPr wrap="square">
            <a:spAutoFit/>
          </a:bodyPr>
          <a:lstStyle/>
          <a:p>
            <a:pPr algn="l">
              <a:defRPr sz="1300" b="1">
                <a:solidFill>
                  <a:srgbClr val="666666"/>
                </a:solidFill>
                <a:latin typeface="Calibri"/>
              </a:defRPr>
            </a:pPr>
            <a:r>
              <a:t>Evaluation Principles</a:t>
            </a:r>
          </a:p>
        </p:txBody>
      </p:sp>
      <p:sp>
        <p:nvSpPr>
          <p:cNvPr id="10" name="TextBox 9"/>
          <p:cNvSpPr txBox="1"/>
          <p:nvPr/>
        </p:nvSpPr>
        <p:spPr>
          <a:xfrm>
            <a:off x="548640" y="5669279"/>
            <a:ext cx="10972800" cy="2743200"/>
          </a:xfrm>
          <a:prstGeom prst="rect">
            <a:avLst/>
          </a:prstGeom>
          <a:noFill/>
        </p:spPr>
        <p:txBody>
          <a:bodyPr wrap="square">
            <a:spAutoFit/>
          </a:bodyPr>
          <a:lstStyle/>
          <a:p>
            <a:pPr>
              <a:spcAft>
                <a:spcPts val="500"/>
              </a:spcAft>
              <a:defRPr sz="1300">
                <a:solidFill>
                  <a:srgbClr val="1A1A1A"/>
                </a:solidFill>
                <a:latin typeface="Calibri"/>
              </a:defRPr>
            </a:pPr>
            <a:r>
              <a:t>—  Objective</a:t>
            </a:r>
          </a:p>
          <a:p>
            <a:pPr>
              <a:spcAft>
                <a:spcPts val="500"/>
              </a:spcAft>
              <a:defRPr sz="1300">
                <a:solidFill>
                  <a:srgbClr val="1A1A1A"/>
                </a:solidFill>
                <a:latin typeface="Calibri"/>
              </a:defRPr>
            </a:pPr>
            <a:r>
              <a:t>—  Evidence-based</a:t>
            </a:r>
          </a:p>
          <a:p>
            <a:pPr>
              <a:spcAft>
                <a:spcPts val="500"/>
              </a:spcAft>
              <a:defRPr sz="1300">
                <a:solidFill>
                  <a:srgbClr val="1A1A1A"/>
                </a:solidFill>
                <a:latin typeface="Calibri"/>
              </a:defRPr>
            </a:pPr>
            <a:r>
              <a:t>—  Fair</a:t>
            </a:r>
          </a:p>
          <a:p>
            <a:pPr>
              <a:spcAft>
                <a:spcPts val="500"/>
              </a:spcAft>
              <a:defRPr sz="1300">
                <a:solidFill>
                  <a:srgbClr val="1A1A1A"/>
                </a:solidFill>
                <a:latin typeface="Calibri"/>
              </a:defRPr>
            </a:pPr>
            <a:r>
              <a:t>—  Repeatable</a:t>
            </a:r>
          </a:p>
          <a:p>
            <a:pPr>
              <a:spcAft>
                <a:spcPts val="500"/>
              </a:spcAft>
              <a:defRPr sz="1300">
                <a:solidFill>
                  <a:srgbClr val="1A1A1A"/>
                </a:solidFill>
                <a:latin typeface="Calibri"/>
              </a:defRPr>
            </a:pPr>
            <a:r>
              <a:t>—  Action-oriented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Observer Roles and Responsibilities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Observer Responsibilities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Observe participant discussions</a:t>
            </a:r>
          </a:p>
          <a:p>
            <a:pPr>
              <a:spcAft>
                <a:spcPts val="500"/>
              </a:spcAft>
              <a:defRPr sz="1300">
                <a:solidFill>
                  <a:srgbClr val="1A1A1A"/>
                </a:solidFill>
                <a:latin typeface="Calibri"/>
              </a:defRPr>
            </a:pPr>
            <a:r>
              <a:t>—  Record significant decisions</a:t>
            </a:r>
          </a:p>
          <a:p>
            <a:pPr>
              <a:spcAft>
                <a:spcPts val="500"/>
              </a:spcAft>
              <a:defRPr sz="1300">
                <a:solidFill>
                  <a:srgbClr val="1A1A1A"/>
                </a:solidFill>
                <a:latin typeface="Calibri"/>
              </a:defRPr>
            </a:pPr>
            <a:r>
              <a:t>—  Capture timelines</a:t>
            </a:r>
          </a:p>
          <a:p>
            <a:pPr>
              <a:spcAft>
                <a:spcPts val="500"/>
              </a:spcAft>
              <a:defRPr sz="1300">
                <a:solidFill>
                  <a:srgbClr val="1A1A1A"/>
                </a:solidFill>
                <a:latin typeface="Calibri"/>
              </a:defRPr>
            </a:pPr>
            <a:r>
              <a:t>—  Note strengths and weaknesses</a:t>
            </a:r>
          </a:p>
          <a:p>
            <a:pPr>
              <a:spcAft>
                <a:spcPts val="500"/>
              </a:spcAft>
              <a:defRPr sz="1300">
                <a:solidFill>
                  <a:srgbClr val="1A1A1A"/>
                </a:solidFill>
                <a:latin typeface="Calibri"/>
              </a:defRPr>
            </a:pPr>
            <a:r>
              <a:t>—  Avoid influencing participants</a:t>
            </a:r>
          </a:p>
          <a:p>
            <a:pPr>
              <a:spcAft>
                <a:spcPts val="500"/>
              </a:spcAft>
              <a:defRPr sz="1300">
                <a:solidFill>
                  <a:srgbClr val="1A1A1A"/>
                </a:solidFill>
                <a:latin typeface="Calibri"/>
              </a:defRPr>
            </a:pPr>
            <a:r>
              <a:t>—  Document evidence objectively</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Observer Should NOT</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Coach participants</a:t>
            </a:r>
          </a:p>
          <a:p>
            <a:pPr>
              <a:spcAft>
                <a:spcPts val="500"/>
              </a:spcAft>
              <a:defRPr sz="1300">
                <a:solidFill>
                  <a:srgbClr val="1A1A1A"/>
                </a:solidFill>
                <a:latin typeface="Calibri"/>
              </a:defRPr>
            </a:pPr>
            <a:r>
              <a:t>—  Answer scenario questions</a:t>
            </a:r>
          </a:p>
          <a:p>
            <a:pPr>
              <a:spcAft>
                <a:spcPts val="500"/>
              </a:spcAft>
              <a:defRPr sz="1300">
                <a:solidFill>
                  <a:srgbClr val="1A1A1A"/>
                </a:solidFill>
                <a:latin typeface="Calibri"/>
              </a:defRPr>
            </a:pPr>
            <a:r>
              <a:t>—  Reveal future injects</a:t>
            </a:r>
          </a:p>
          <a:p>
            <a:pPr>
              <a:spcAft>
                <a:spcPts val="500"/>
              </a:spcAft>
              <a:defRPr sz="1300">
                <a:solidFill>
                  <a:srgbClr val="1A1A1A"/>
                </a:solidFill>
                <a:latin typeface="Calibri"/>
              </a:defRPr>
            </a:pPr>
            <a:r>
              <a:t>—  Participate in decision-making</a:t>
            </a:r>
          </a:p>
          <a:p>
            <a:pPr>
              <a:spcAft>
                <a:spcPts val="500"/>
              </a:spcAft>
              <a:defRPr sz="1300">
                <a:solidFill>
                  <a:srgbClr val="1A1A1A"/>
                </a:solidFill>
                <a:latin typeface="Calibri"/>
              </a:defRPr>
            </a:pPr>
            <a:r>
              <a:t>—  Correct participant mistakes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Evaluation Framework</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Evaluation Process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Objectives → Evaluation Criteria → Observation → Evidence Collection → Analysis → Recommendations</a:t>
            </a:r>
          </a:p>
        </p:txBody>
      </p:sp>
      <p:sp>
        <p:nvSpPr>
          <p:cNvPr id="7" name="TextBox 6"/>
          <p:cNvSpPr txBox="1"/>
          <p:nvPr/>
        </p:nvSpPr>
        <p:spPr>
          <a:xfrm>
            <a:off x="548640" y="2651760"/>
            <a:ext cx="10972800" cy="320040"/>
          </a:xfrm>
          <a:prstGeom prst="rect">
            <a:avLst/>
          </a:prstGeom>
          <a:noFill/>
        </p:spPr>
        <p:txBody>
          <a:bodyPr wrap="square">
            <a:spAutoFit/>
          </a:bodyPr>
          <a:lstStyle/>
          <a:p>
            <a:pPr algn="l">
              <a:defRPr sz="1300" b="1">
                <a:solidFill>
                  <a:srgbClr val="666666"/>
                </a:solidFill>
                <a:latin typeface="Calibri"/>
              </a:defRPr>
            </a:pPr>
            <a:r>
              <a:t>Evaluation Questions</a:t>
            </a:r>
          </a:p>
        </p:txBody>
      </p:sp>
      <p:sp>
        <p:nvSpPr>
          <p:cNvPr id="8" name="TextBox 7"/>
          <p:cNvSpPr txBox="1"/>
          <p:nvPr/>
        </p:nvSpPr>
        <p:spPr>
          <a:xfrm>
            <a:off x="548640" y="3108960"/>
            <a:ext cx="10972800" cy="2743200"/>
          </a:xfrm>
          <a:prstGeom prst="rect">
            <a:avLst/>
          </a:prstGeom>
          <a:noFill/>
        </p:spPr>
        <p:txBody>
          <a:bodyPr wrap="square">
            <a:spAutoFit/>
          </a:bodyPr>
          <a:lstStyle/>
          <a:p>
            <a:pPr>
              <a:spcAft>
                <a:spcPts val="500"/>
              </a:spcAft>
              <a:defRPr sz="1300">
                <a:solidFill>
                  <a:srgbClr val="1A1A1A"/>
                </a:solidFill>
                <a:latin typeface="Calibri"/>
              </a:defRPr>
            </a:pPr>
            <a:r>
              <a:t>—  Were objectives achieved?</a:t>
            </a:r>
          </a:p>
          <a:p>
            <a:pPr>
              <a:spcAft>
                <a:spcPts val="500"/>
              </a:spcAft>
              <a:defRPr sz="1300">
                <a:solidFill>
                  <a:srgbClr val="1A1A1A"/>
                </a:solidFill>
                <a:latin typeface="Calibri"/>
              </a:defRPr>
            </a:pPr>
            <a:r>
              <a:t>—  Were procedures followed?</a:t>
            </a:r>
          </a:p>
          <a:p>
            <a:pPr>
              <a:spcAft>
                <a:spcPts val="500"/>
              </a:spcAft>
              <a:defRPr sz="1300">
                <a:solidFill>
                  <a:srgbClr val="1A1A1A"/>
                </a:solidFill>
                <a:latin typeface="Calibri"/>
              </a:defRPr>
            </a:pPr>
            <a:r>
              <a:t>—  Were responsibilities understood?</a:t>
            </a:r>
          </a:p>
          <a:p>
            <a:pPr>
              <a:spcAft>
                <a:spcPts val="500"/>
              </a:spcAft>
              <a:defRPr sz="1300">
                <a:solidFill>
                  <a:srgbClr val="1A1A1A"/>
                </a:solidFill>
                <a:latin typeface="Calibri"/>
              </a:defRPr>
            </a:pPr>
            <a:r>
              <a:t>—  Were decisions timely?</a:t>
            </a:r>
          </a:p>
          <a:p>
            <a:pPr>
              <a:spcAft>
                <a:spcPts val="500"/>
              </a:spcAft>
              <a:defRPr sz="1300">
                <a:solidFill>
                  <a:srgbClr val="1A1A1A"/>
                </a:solidFill>
                <a:latin typeface="Calibri"/>
              </a:defRPr>
            </a:pPr>
            <a:r>
              <a:t>—  Were communications effective?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Measuring Performance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Performance Categories</a:t>
            </a:r>
          </a:p>
        </p:txBody>
      </p:sp>
      <p:graphicFrame>
        <p:nvGraphicFramePr>
          <p:cNvPr id="6" name="Table 5"/>
          <p:cNvGraphicFramePr>
            <a:graphicFrameLocks noGrp="1"/>
          </p:cNvGraphicFramePr>
          <p:nvPr/>
        </p:nvGraphicFramePr>
        <p:xfrm>
          <a:off x="548640" y="2194560"/>
          <a:ext cx="10972800" cy="32004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Category</a:t>
                      </a:r>
                    </a:p>
                  </a:txBody>
                  <a:tcPr/>
                </a:tc>
                <a:tc>
                  <a:txBody>
                    <a:bodyPr/>
                    <a:lstStyle/>
                    <a:p>
                      <a:pPr>
                        <a:defRPr sz="1100" b="1">
                          <a:solidFill>
                            <a:srgbClr val="666666"/>
                          </a:solidFill>
                        </a:defRPr>
                      </a:pPr>
                      <a:r>
                        <a:t>Example Metric</a:t>
                      </a:r>
                    </a:p>
                  </a:txBody>
                  <a:tcPr/>
                </a:tc>
              </a:tr>
              <a:tr h="457200">
                <a:tc>
                  <a:txBody>
                    <a:bodyPr/>
                    <a:lstStyle/>
                    <a:p>
                      <a:pPr>
                        <a:defRPr sz="1200">
                          <a:solidFill>
                            <a:srgbClr val="1A1A1A"/>
                          </a:solidFill>
                        </a:defRPr>
                      </a:pPr>
                      <a:r>
                        <a:t>Detection</a:t>
                      </a:r>
                    </a:p>
                  </a:txBody>
                  <a:tcPr/>
                </a:tc>
                <a:tc>
                  <a:txBody>
                    <a:bodyPr/>
                    <a:lstStyle/>
                    <a:p>
                      <a:pPr>
                        <a:defRPr sz="1200">
                          <a:solidFill>
                            <a:srgbClr val="1A1A1A"/>
                          </a:solidFill>
                        </a:defRPr>
                      </a:pPr>
                      <a:r>
                        <a:t>Time to identify incident</a:t>
                      </a:r>
                    </a:p>
                  </a:txBody>
                  <a:tcPr/>
                </a:tc>
              </a:tr>
              <a:tr h="457200">
                <a:tc>
                  <a:txBody>
                    <a:bodyPr/>
                    <a:lstStyle/>
                    <a:p>
                      <a:pPr>
                        <a:defRPr sz="1200">
                          <a:solidFill>
                            <a:srgbClr val="1A1A1A"/>
                          </a:solidFill>
                        </a:defRPr>
                      </a:pPr>
                      <a:r>
                        <a:t>Escalation</a:t>
                      </a:r>
                    </a:p>
                  </a:txBody>
                  <a:tcPr/>
                </a:tc>
                <a:tc>
                  <a:txBody>
                    <a:bodyPr/>
                    <a:lstStyle/>
                    <a:p>
                      <a:pPr>
                        <a:defRPr sz="1200">
                          <a:solidFill>
                            <a:srgbClr val="1A1A1A"/>
                          </a:solidFill>
                        </a:defRPr>
                      </a:pPr>
                      <a:r>
                        <a:t>Time to notify leadership</a:t>
                      </a:r>
                    </a:p>
                  </a:txBody>
                  <a:tcPr/>
                </a:tc>
              </a:tr>
              <a:tr h="457200">
                <a:tc>
                  <a:txBody>
                    <a:bodyPr/>
                    <a:lstStyle/>
                    <a:p>
                      <a:pPr>
                        <a:defRPr sz="1200">
                          <a:solidFill>
                            <a:srgbClr val="1A1A1A"/>
                          </a:solidFill>
                        </a:defRPr>
                      </a:pPr>
                      <a:r>
                        <a:t>Communication</a:t>
                      </a:r>
                    </a:p>
                  </a:txBody>
                  <a:tcPr/>
                </a:tc>
                <a:tc>
                  <a:txBody>
                    <a:bodyPr/>
                    <a:lstStyle/>
                    <a:p>
                      <a:pPr>
                        <a:defRPr sz="1200">
                          <a:solidFill>
                            <a:srgbClr val="1A1A1A"/>
                          </a:solidFill>
                        </a:defRPr>
                      </a:pPr>
                      <a:r>
                        <a:t>Accuracy of messaging</a:t>
                      </a:r>
                    </a:p>
                  </a:txBody>
                  <a:tcPr/>
                </a:tc>
              </a:tr>
              <a:tr h="457200">
                <a:tc>
                  <a:txBody>
                    <a:bodyPr/>
                    <a:lstStyle/>
                    <a:p>
                      <a:pPr>
                        <a:defRPr sz="1200">
                          <a:solidFill>
                            <a:srgbClr val="1A1A1A"/>
                          </a:solidFill>
                        </a:defRPr>
                      </a:pPr>
                      <a:r>
                        <a:t>Coordination</a:t>
                      </a:r>
                    </a:p>
                  </a:txBody>
                  <a:tcPr/>
                </a:tc>
                <a:tc>
                  <a:txBody>
                    <a:bodyPr/>
                    <a:lstStyle/>
                    <a:p>
                      <a:pPr>
                        <a:defRPr sz="1200">
                          <a:solidFill>
                            <a:srgbClr val="1A1A1A"/>
                          </a:solidFill>
                        </a:defRPr>
                      </a:pPr>
                      <a:r>
                        <a:t>Cross-functional collaboration</a:t>
                      </a:r>
                    </a:p>
                  </a:txBody>
                  <a:tcPr/>
                </a:tc>
              </a:tr>
              <a:tr h="457200">
                <a:tc>
                  <a:txBody>
                    <a:bodyPr/>
                    <a:lstStyle/>
                    <a:p>
                      <a:pPr>
                        <a:defRPr sz="1200">
                          <a:solidFill>
                            <a:srgbClr val="1A1A1A"/>
                          </a:solidFill>
                        </a:defRPr>
                      </a:pPr>
                      <a:r>
                        <a:t>Decision-Making</a:t>
                      </a:r>
                    </a:p>
                  </a:txBody>
                  <a:tcPr/>
                </a:tc>
                <a:tc>
                  <a:txBody>
                    <a:bodyPr/>
                    <a:lstStyle/>
                    <a:p>
                      <a:pPr>
                        <a:defRPr sz="1200">
                          <a:solidFill>
                            <a:srgbClr val="1A1A1A"/>
                          </a:solidFill>
                        </a:defRPr>
                      </a:pPr>
                      <a:r>
                        <a:t>Quality of strategic decisions</a:t>
                      </a:r>
                    </a:p>
                  </a:txBody>
                  <a:tcPr/>
                </a:tc>
              </a:tr>
              <a:tr h="457200">
                <a:tc>
                  <a:txBody>
                    <a:bodyPr/>
                    <a:lstStyle/>
                    <a:p>
                      <a:pPr>
                        <a:defRPr sz="1200">
                          <a:solidFill>
                            <a:srgbClr val="1A1A1A"/>
                          </a:solidFill>
                        </a:defRPr>
                      </a:pPr>
                      <a:r>
                        <a:t>Documentation</a:t>
                      </a:r>
                    </a:p>
                  </a:txBody>
                  <a:tcPr/>
                </a:tc>
                <a:tc>
                  <a:txBody>
                    <a:bodyPr/>
                    <a:lstStyle/>
                    <a:p>
                      <a:pPr>
                        <a:defRPr sz="1200">
                          <a:solidFill>
                            <a:srgbClr val="1A1A1A"/>
                          </a:solidFill>
                        </a:defRPr>
                      </a:pPr>
                      <a:r>
                        <a:t>Completeness of records</a:t>
                      </a:r>
                    </a:p>
                  </a:txBody>
                  <a:tcPr/>
                </a:tc>
              </a:tr>
            </a:tbl>
          </a:graphicData>
        </a:graphic>
      </p:graphicFrame>
      <p:sp>
        <p:nvSpPr>
          <p:cNvPr id="7" name="TextBox 6"/>
          <p:cNvSpPr txBox="1"/>
          <p:nvPr/>
        </p:nvSpPr>
        <p:spPr>
          <a:xfrm>
            <a:off x="548640" y="5715000"/>
            <a:ext cx="10972800" cy="320040"/>
          </a:xfrm>
          <a:prstGeom prst="rect">
            <a:avLst/>
          </a:prstGeom>
          <a:noFill/>
        </p:spPr>
        <p:txBody>
          <a:bodyPr wrap="square">
            <a:spAutoFit/>
          </a:bodyPr>
          <a:lstStyle/>
          <a:p>
            <a:pPr algn="l">
              <a:defRPr sz="1300" b="1">
                <a:solidFill>
                  <a:srgbClr val="666666"/>
                </a:solidFill>
                <a:latin typeface="Calibri"/>
              </a:defRPr>
            </a:pPr>
            <a:r>
              <a:t>Characteristics of Good Metrics</a:t>
            </a:r>
          </a:p>
        </p:txBody>
      </p:sp>
      <p:sp>
        <p:nvSpPr>
          <p:cNvPr id="8" name="TextBox 7"/>
          <p:cNvSpPr txBox="1"/>
          <p:nvPr/>
        </p:nvSpPr>
        <p:spPr>
          <a:xfrm>
            <a:off x="548640" y="6172200"/>
            <a:ext cx="10972800" cy="2743200"/>
          </a:xfrm>
          <a:prstGeom prst="rect">
            <a:avLst/>
          </a:prstGeom>
          <a:noFill/>
        </p:spPr>
        <p:txBody>
          <a:bodyPr wrap="square">
            <a:spAutoFit/>
          </a:bodyPr>
          <a:lstStyle/>
          <a:p>
            <a:pPr>
              <a:spcAft>
                <a:spcPts val="500"/>
              </a:spcAft>
              <a:defRPr sz="1300">
                <a:solidFill>
                  <a:srgbClr val="1A1A1A"/>
                </a:solidFill>
                <a:latin typeface="Calibri"/>
              </a:defRPr>
            </a:pPr>
            <a:r>
              <a:t>—  Objective</a:t>
            </a:r>
          </a:p>
          <a:p>
            <a:pPr>
              <a:spcAft>
                <a:spcPts val="500"/>
              </a:spcAft>
              <a:defRPr sz="1300">
                <a:solidFill>
                  <a:srgbClr val="1A1A1A"/>
                </a:solidFill>
                <a:latin typeface="Calibri"/>
              </a:defRPr>
            </a:pPr>
            <a:r>
              <a:t>—  Measurable</a:t>
            </a:r>
          </a:p>
          <a:p>
            <a:pPr>
              <a:spcAft>
                <a:spcPts val="500"/>
              </a:spcAft>
              <a:defRPr sz="1300">
                <a:solidFill>
                  <a:srgbClr val="1A1A1A"/>
                </a:solidFill>
                <a:latin typeface="Calibri"/>
              </a:defRPr>
            </a:pPr>
            <a:r>
              <a:t>—  Relevant</a:t>
            </a:r>
          </a:p>
          <a:p>
            <a:pPr>
              <a:spcAft>
                <a:spcPts val="500"/>
              </a:spcAft>
              <a:defRPr sz="1300">
                <a:solidFill>
                  <a:srgbClr val="1A1A1A"/>
                </a:solidFill>
                <a:latin typeface="Calibri"/>
              </a:defRPr>
            </a:pPr>
            <a:r>
              <a:t>—  Repeatable</a:t>
            </a:r>
          </a:p>
          <a:p>
            <a:pPr>
              <a:spcAft>
                <a:spcPts val="500"/>
              </a:spcAft>
              <a:defRPr sz="1300">
                <a:solidFill>
                  <a:srgbClr val="1A1A1A"/>
                </a:solidFill>
                <a:latin typeface="Calibri"/>
              </a:defRPr>
            </a:pPr>
            <a:r>
              <a:t>—  Actionable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Key Performance Indicators (KPIs)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KPIs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Mean Time to Detect (MTTD)</a:t>
            </a:r>
          </a:p>
          <a:p>
            <a:pPr>
              <a:spcAft>
                <a:spcPts val="500"/>
              </a:spcAft>
              <a:defRPr sz="1300">
                <a:solidFill>
                  <a:srgbClr val="1A1A1A"/>
                </a:solidFill>
                <a:latin typeface="Calibri"/>
              </a:defRPr>
            </a:pPr>
            <a:r>
              <a:t>—  Mean Time to Escalate (MTTE)</a:t>
            </a:r>
          </a:p>
          <a:p>
            <a:pPr>
              <a:spcAft>
                <a:spcPts val="500"/>
              </a:spcAft>
              <a:defRPr sz="1300">
                <a:solidFill>
                  <a:srgbClr val="1A1A1A"/>
                </a:solidFill>
                <a:latin typeface="Calibri"/>
              </a:defRPr>
            </a:pPr>
            <a:r>
              <a:t>—  Mean Time to Notify (MTTN)</a:t>
            </a:r>
          </a:p>
          <a:p>
            <a:pPr>
              <a:spcAft>
                <a:spcPts val="500"/>
              </a:spcAft>
              <a:defRPr sz="1300">
                <a:solidFill>
                  <a:srgbClr val="1A1A1A"/>
                </a:solidFill>
                <a:latin typeface="Calibri"/>
              </a:defRPr>
            </a:pPr>
            <a:r>
              <a:t>—  Incident declaration time</a:t>
            </a:r>
          </a:p>
          <a:p>
            <a:pPr>
              <a:spcAft>
                <a:spcPts val="500"/>
              </a:spcAft>
              <a:defRPr sz="1300">
                <a:solidFill>
                  <a:srgbClr val="1A1A1A"/>
                </a:solidFill>
                <a:latin typeface="Calibri"/>
              </a:defRPr>
            </a:pPr>
            <a:r>
              <a:t>—  Decision approval time</a:t>
            </a:r>
          </a:p>
          <a:p>
            <a:pPr>
              <a:spcAft>
                <a:spcPts val="500"/>
              </a:spcAft>
              <a:defRPr sz="1300">
                <a:solidFill>
                  <a:srgbClr val="1A1A1A"/>
                </a:solidFill>
                <a:latin typeface="Calibri"/>
              </a:defRPr>
            </a:pPr>
            <a:r>
              <a:t>—  Percentage of objectives achieved</a:t>
            </a:r>
          </a:p>
          <a:p>
            <a:pPr>
              <a:spcAft>
                <a:spcPts val="500"/>
              </a:spcAft>
              <a:defRPr sz="1300">
                <a:solidFill>
                  <a:srgbClr val="1A1A1A"/>
                </a:solidFill>
                <a:latin typeface="Calibri"/>
              </a:defRPr>
            </a:pPr>
            <a:r>
              <a:t>—  Participation rate</a:t>
            </a:r>
          </a:p>
          <a:p>
            <a:pPr>
              <a:spcAft>
                <a:spcPts val="500"/>
              </a:spcAft>
              <a:defRPr sz="1300">
                <a:solidFill>
                  <a:srgbClr val="1A1A1A"/>
                </a:solidFill>
                <a:latin typeface="Calibri"/>
              </a:defRPr>
            </a:pPr>
            <a:r>
              <a:t>—  Policy compliance rate</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Dashboard Example</a:t>
            </a:r>
          </a:p>
        </p:txBody>
      </p:sp>
      <p:graphicFrame>
        <p:nvGraphicFramePr>
          <p:cNvPr id="8" name="Table 7"/>
          <p:cNvGraphicFramePr>
            <a:graphicFrameLocks noGrp="1"/>
          </p:cNvGraphicFramePr>
          <p:nvPr/>
        </p:nvGraphicFramePr>
        <p:xfrm>
          <a:off x="548640" y="5074920"/>
          <a:ext cx="10972800" cy="2286000"/>
        </p:xfrm>
        <a:graphic>
          <a:graphicData uri="http://schemas.openxmlformats.org/drawingml/2006/table">
            <a:tbl>
              <a:tblPr firstRow="1" bandRow="1">
                <a:tableStyleId>{5C22544A-7EE6-4342-B048-85BDC9FD1C3A}</a:tableStyleId>
              </a:tblPr>
              <a:tblGrid>
                <a:gridCol w="3657600"/>
                <a:gridCol w="3657600"/>
                <a:gridCol w="3657600"/>
              </a:tblGrid>
              <a:tr h="457200">
                <a:tc>
                  <a:txBody>
                    <a:bodyPr/>
                    <a:lstStyle/>
                    <a:p>
                      <a:pPr>
                        <a:defRPr sz="1100" b="1">
                          <a:solidFill>
                            <a:srgbClr val="666666"/>
                          </a:solidFill>
                        </a:defRPr>
                      </a:pPr>
                      <a:r>
                        <a:t>KPI</a:t>
                      </a:r>
                    </a:p>
                  </a:txBody>
                  <a:tcPr/>
                </a:tc>
                <a:tc>
                  <a:txBody>
                    <a:bodyPr/>
                    <a:lstStyle/>
                    <a:p>
                      <a:pPr>
                        <a:defRPr sz="1100" b="1">
                          <a:solidFill>
                            <a:srgbClr val="666666"/>
                          </a:solidFill>
                        </a:defRPr>
                      </a:pPr>
                      <a:r>
                        <a:t>Target</a:t>
                      </a:r>
                    </a:p>
                  </a:txBody>
                  <a:tcPr/>
                </a:tc>
                <a:tc>
                  <a:txBody>
                    <a:bodyPr/>
                    <a:lstStyle/>
                    <a:p>
                      <a:pPr>
                        <a:defRPr sz="1100" b="1">
                          <a:solidFill>
                            <a:srgbClr val="666666"/>
                          </a:solidFill>
                        </a:defRPr>
                      </a:pPr>
                      <a:r>
                        <a:t>Actual</a:t>
                      </a:r>
                    </a:p>
                  </a:txBody>
                  <a:tcPr/>
                </a:tc>
              </a:tr>
              <a:tr h="457200">
                <a:tc>
                  <a:txBody>
                    <a:bodyPr/>
                    <a:lstStyle/>
                    <a:p>
                      <a:pPr>
                        <a:defRPr sz="1200">
                          <a:solidFill>
                            <a:srgbClr val="1A1A1A"/>
                          </a:solidFill>
                        </a:defRPr>
                      </a:pPr>
                      <a:r>
                        <a:t>MTTD</a:t>
                      </a:r>
                    </a:p>
                  </a:txBody>
                  <a:tcPr/>
                </a:tc>
                <a:tc>
                  <a:txBody>
                    <a:bodyPr/>
                    <a:lstStyle/>
                    <a:p>
                      <a:pPr>
                        <a:defRPr sz="1200">
                          <a:solidFill>
                            <a:srgbClr val="1A1A1A"/>
                          </a:solidFill>
                        </a:defRPr>
                      </a:pPr>
                      <a:r>
                        <a:t>15 min</a:t>
                      </a:r>
                    </a:p>
                  </a:txBody>
                  <a:tcPr/>
                </a:tc>
                <a:tc>
                  <a:txBody>
                    <a:bodyPr/>
                    <a:lstStyle/>
                    <a:p>
                      <a:pPr>
                        <a:defRPr sz="1200">
                          <a:solidFill>
                            <a:srgbClr val="1A1A1A"/>
                          </a:solidFill>
                        </a:defRPr>
                      </a:pPr>
                      <a:r>
                        <a:t>12 min</a:t>
                      </a:r>
                    </a:p>
                  </a:txBody>
                  <a:tcPr/>
                </a:tc>
              </a:tr>
              <a:tr h="457200">
                <a:tc>
                  <a:txBody>
                    <a:bodyPr/>
                    <a:lstStyle/>
                    <a:p>
                      <a:pPr>
                        <a:defRPr sz="1200">
                          <a:solidFill>
                            <a:srgbClr val="1A1A1A"/>
                          </a:solidFill>
                        </a:defRPr>
                      </a:pPr>
                      <a:r>
                        <a:t>MTTE</a:t>
                      </a:r>
                    </a:p>
                  </a:txBody>
                  <a:tcPr/>
                </a:tc>
                <a:tc>
                  <a:txBody>
                    <a:bodyPr/>
                    <a:lstStyle/>
                    <a:p>
                      <a:pPr>
                        <a:defRPr sz="1200">
                          <a:solidFill>
                            <a:srgbClr val="1A1A1A"/>
                          </a:solidFill>
                        </a:defRPr>
                      </a:pPr>
                      <a:r>
                        <a:t>30 min</a:t>
                      </a:r>
                    </a:p>
                  </a:txBody>
                  <a:tcPr/>
                </a:tc>
                <a:tc>
                  <a:txBody>
                    <a:bodyPr/>
                    <a:lstStyle/>
                    <a:p>
                      <a:pPr>
                        <a:defRPr sz="1200">
                          <a:solidFill>
                            <a:srgbClr val="1A1A1A"/>
                          </a:solidFill>
                        </a:defRPr>
                      </a:pPr>
                      <a:r>
                        <a:t>25 min</a:t>
                      </a:r>
                    </a:p>
                  </a:txBody>
                  <a:tcPr/>
                </a:tc>
              </a:tr>
              <a:tr h="457200">
                <a:tc>
                  <a:txBody>
                    <a:bodyPr/>
                    <a:lstStyle/>
                    <a:p>
                      <a:pPr>
                        <a:defRPr sz="1200">
                          <a:solidFill>
                            <a:srgbClr val="1A1A1A"/>
                          </a:solidFill>
                        </a:defRPr>
                      </a:pPr>
                      <a:r>
                        <a:t>Notification</a:t>
                      </a:r>
                    </a:p>
                  </a:txBody>
                  <a:tcPr/>
                </a:tc>
                <a:tc>
                  <a:txBody>
                    <a:bodyPr/>
                    <a:lstStyle/>
                    <a:p>
                      <a:pPr>
                        <a:defRPr sz="1200">
                          <a:solidFill>
                            <a:srgbClr val="1A1A1A"/>
                          </a:solidFill>
                        </a:defRPr>
                      </a:pPr>
                      <a:r>
                        <a:t>60 min</a:t>
                      </a:r>
                    </a:p>
                  </a:txBody>
                  <a:tcPr/>
                </a:tc>
                <a:tc>
                  <a:txBody>
                    <a:bodyPr/>
                    <a:lstStyle/>
                    <a:p>
                      <a:pPr>
                        <a:defRPr sz="1200">
                          <a:solidFill>
                            <a:srgbClr val="1A1A1A"/>
                          </a:solidFill>
                        </a:defRPr>
                      </a:pPr>
                      <a:r>
                        <a:t>55 min</a:t>
                      </a:r>
                    </a:p>
                  </a:txBody>
                  <a:tcPr/>
                </a:tc>
              </a:tr>
              <a:tr h="457200">
                <a:tc>
                  <a:txBody>
                    <a:bodyPr/>
                    <a:lstStyle/>
                    <a:p>
                      <a:pPr>
                        <a:defRPr sz="1200">
                          <a:solidFill>
                            <a:srgbClr val="1A1A1A"/>
                          </a:solidFill>
                        </a:defRPr>
                      </a:pPr>
                      <a:r>
                        <a:t>Objectives Achieved</a:t>
                      </a:r>
                    </a:p>
                  </a:txBody>
                  <a:tcPr/>
                </a:tc>
                <a:tc>
                  <a:txBody>
                    <a:bodyPr/>
                    <a:lstStyle/>
                    <a:p>
                      <a:pPr>
                        <a:defRPr sz="1200">
                          <a:solidFill>
                            <a:srgbClr val="1A1A1A"/>
                          </a:solidFill>
                        </a:defRPr>
                      </a:pPr>
                      <a:r>
                        <a:t>90%</a:t>
                      </a:r>
                    </a:p>
                  </a:txBody>
                  <a:tcPr/>
                </a:tc>
                <a:tc>
                  <a:txBody>
                    <a:bodyPr/>
                    <a:lstStyle/>
                    <a:p>
                      <a:pPr>
                        <a:defRPr sz="1200">
                          <a:solidFill>
                            <a:srgbClr val="1A1A1A"/>
                          </a:solidFill>
                        </a:defRPr>
                      </a:pPr>
                      <a:r>
                        <a:t>88%</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Evaluating Decision Quality</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Evaluation Criteria</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Timeliness</a:t>
            </a:r>
          </a:p>
          <a:p>
            <a:pPr>
              <a:spcAft>
                <a:spcPts val="500"/>
              </a:spcAft>
              <a:defRPr sz="1300">
                <a:solidFill>
                  <a:srgbClr val="1A1A1A"/>
                </a:solidFill>
                <a:latin typeface="Calibri"/>
              </a:defRPr>
            </a:pPr>
            <a:r>
              <a:t>—  Risk awareness</a:t>
            </a:r>
          </a:p>
          <a:p>
            <a:pPr>
              <a:spcAft>
                <a:spcPts val="500"/>
              </a:spcAft>
              <a:defRPr sz="1300">
                <a:solidFill>
                  <a:srgbClr val="1A1A1A"/>
                </a:solidFill>
                <a:latin typeface="Calibri"/>
              </a:defRPr>
            </a:pPr>
            <a:r>
              <a:t>—  Alignment with policy</a:t>
            </a:r>
          </a:p>
          <a:p>
            <a:pPr>
              <a:spcAft>
                <a:spcPts val="500"/>
              </a:spcAft>
              <a:defRPr sz="1300">
                <a:solidFill>
                  <a:srgbClr val="1A1A1A"/>
                </a:solidFill>
                <a:latin typeface="Calibri"/>
              </a:defRPr>
            </a:pPr>
            <a:r>
              <a:t>—  Stakeholder involvement</a:t>
            </a:r>
          </a:p>
          <a:p>
            <a:pPr>
              <a:spcAft>
                <a:spcPts val="500"/>
              </a:spcAft>
              <a:defRPr sz="1300">
                <a:solidFill>
                  <a:srgbClr val="1A1A1A"/>
                </a:solidFill>
                <a:latin typeface="Calibri"/>
              </a:defRPr>
            </a:pPr>
            <a:r>
              <a:t>—  Documentation</a:t>
            </a:r>
          </a:p>
          <a:p>
            <a:pPr>
              <a:spcAft>
                <a:spcPts val="500"/>
              </a:spcAft>
              <a:defRPr sz="1300">
                <a:solidFill>
                  <a:srgbClr val="1A1A1A"/>
                </a:solidFill>
                <a:latin typeface="Calibri"/>
              </a:defRPr>
            </a:pPr>
            <a:r>
              <a:t>—  Business impact</a:t>
            </a:r>
          </a:p>
          <a:p>
            <a:pPr>
              <a:spcAft>
                <a:spcPts val="500"/>
              </a:spcAft>
              <a:defRPr sz="1300">
                <a:solidFill>
                  <a:srgbClr val="1A1A1A"/>
                </a:solidFill>
                <a:latin typeface="Calibri"/>
              </a:defRPr>
            </a:pPr>
            <a:r>
              <a:t>—  Regulatory considerations</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Decision Review Questions</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Was sufficient information available?</a:t>
            </a:r>
          </a:p>
          <a:p>
            <a:pPr>
              <a:spcAft>
                <a:spcPts val="500"/>
              </a:spcAft>
              <a:defRPr sz="1300">
                <a:solidFill>
                  <a:srgbClr val="1A1A1A"/>
                </a:solidFill>
                <a:latin typeface="Calibri"/>
              </a:defRPr>
            </a:pPr>
            <a:r>
              <a:t>—  Were alternatives considered?</a:t>
            </a:r>
          </a:p>
          <a:p>
            <a:pPr>
              <a:spcAft>
                <a:spcPts val="500"/>
              </a:spcAft>
              <a:defRPr sz="1300">
                <a:solidFill>
                  <a:srgbClr val="1A1A1A"/>
                </a:solidFill>
                <a:latin typeface="Calibri"/>
              </a:defRPr>
            </a:pPr>
            <a:r>
              <a:t>—  Was authority clearly established?</a:t>
            </a:r>
          </a:p>
          <a:p>
            <a:pPr>
              <a:spcAft>
                <a:spcPts val="500"/>
              </a:spcAft>
              <a:defRPr sz="1300">
                <a:solidFill>
                  <a:srgbClr val="1A1A1A"/>
                </a:solidFill>
                <a:latin typeface="Calibri"/>
              </a:defRPr>
            </a:pPr>
            <a:r>
              <a:t>—  Was the rationale documented?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Assessing Communication</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Communication Channels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Executive briefings</a:t>
            </a:r>
          </a:p>
          <a:p>
            <a:pPr>
              <a:spcAft>
                <a:spcPts val="500"/>
              </a:spcAft>
              <a:defRPr sz="1300">
                <a:solidFill>
                  <a:srgbClr val="1A1A1A"/>
                </a:solidFill>
                <a:latin typeface="Calibri"/>
              </a:defRPr>
            </a:pPr>
            <a:r>
              <a:t>—  Incident Response Team updates</a:t>
            </a:r>
          </a:p>
          <a:p>
            <a:pPr>
              <a:spcAft>
                <a:spcPts val="500"/>
              </a:spcAft>
              <a:defRPr sz="1300">
                <a:solidFill>
                  <a:srgbClr val="1A1A1A"/>
                </a:solidFill>
                <a:latin typeface="Calibri"/>
              </a:defRPr>
            </a:pPr>
            <a:r>
              <a:t>—  Email</a:t>
            </a:r>
          </a:p>
          <a:p>
            <a:pPr>
              <a:spcAft>
                <a:spcPts val="500"/>
              </a:spcAft>
              <a:defRPr sz="1300">
                <a:solidFill>
                  <a:srgbClr val="1A1A1A"/>
                </a:solidFill>
                <a:latin typeface="Calibri"/>
              </a:defRPr>
            </a:pPr>
            <a:r>
              <a:t>—  Messaging platforms</a:t>
            </a:r>
          </a:p>
          <a:p>
            <a:pPr>
              <a:spcAft>
                <a:spcPts val="500"/>
              </a:spcAft>
              <a:defRPr sz="1300">
                <a:solidFill>
                  <a:srgbClr val="1A1A1A"/>
                </a:solidFill>
                <a:latin typeface="Calibri"/>
              </a:defRPr>
            </a:pPr>
            <a:r>
              <a:t>—  Media statements</a:t>
            </a:r>
          </a:p>
          <a:p>
            <a:pPr>
              <a:spcAft>
                <a:spcPts val="500"/>
              </a:spcAft>
              <a:defRPr sz="1300">
                <a:solidFill>
                  <a:srgbClr val="1A1A1A"/>
                </a:solidFill>
                <a:latin typeface="Calibri"/>
              </a:defRPr>
            </a:pPr>
            <a:r>
              <a:t>—  Customer notifications</a:t>
            </a:r>
          </a:p>
          <a:p>
            <a:pPr>
              <a:spcAft>
                <a:spcPts val="500"/>
              </a:spcAft>
              <a:defRPr sz="1300">
                <a:solidFill>
                  <a:srgbClr val="1A1A1A"/>
                </a:solidFill>
                <a:latin typeface="Calibri"/>
              </a:defRPr>
            </a:pPr>
            <a:r>
              <a:t>—  Regulatory reporting</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Assessment Criteria</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Accuracy</a:t>
            </a:r>
          </a:p>
          <a:p>
            <a:pPr>
              <a:spcAft>
                <a:spcPts val="500"/>
              </a:spcAft>
              <a:defRPr sz="1300">
                <a:solidFill>
                  <a:srgbClr val="1A1A1A"/>
                </a:solidFill>
                <a:latin typeface="Calibri"/>
              </a:defRPr>
            </a:pPr>
            <a:r>
              <a:t>—  Consistency</a:t>
            </a:r>
          </a:p>
          <a:p>
            <a:pPr>
              <a:spcAft>
                <a:spcPts val="500"/>
              </a:spcAft>
              <a:defRPr sz="1300">
                <a:solidFill>
                  <a:srgbClr val="1A1A1A"/>
                </a:solidFill>
                <a:latin typeface="Calibri"/>
              </a:defRPr>
            </a:pPr>
            <a:r>
              <a:t>—  Timeliness</a:t>
            </a:r>
          </a:p>
          <a:p>
            <a:pPr>
              <a:spcAft>
                <a:spcPts val="500"/>
              </a:spcAft>
              <a:defRPr sz="1300">
                <a:solidFill>
                  <a:srgbClr val="1A1A1A"/>
                </a:solidFill>
                <a:latin typeface="Calibri"/>
              </a:defRPr>
            </a:pPr>
            <a:r>
              <a:t>—  Completeness</a:t>
            </a:r>
          </a:p>
          <a:p>
            <a:pPr>
              <a:spcAft>
                <a:spcPts val="500"/>
              </a:spcAft>
              <a:defRPr sz="1300">
                <a:solidFill>
                  <a:srgbClr val="1A1A1A"/>
                </a:solidFill>
                <a:latin typeface="Calibri"/>
              </a:defRPr>
            </a:pPr>
            <a:r>
              <a:t>—  Audience appropriateness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Assessing Team Collaboration</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Collaboration Indicators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Shared situational awareness</a:t>
            </a:r>
          </a:p>
          <a:p>
            <a:pPr>
              <a:spcAft>
                <a:spcPts val="500"/>
              </a:spcAft>
              <a:defRPr sz="1300">
                <a:solidFill>
                  <a:srgbClr val="1A1A1A"/>
                </a:solidFill>
                <a:latin typeface="Calibri"/>
              </a:defRPr>
            </a:pPr>
            <a:r>
              <a:t>—  Information sharing</a:t>
            </a:r>
          </a:p>
          <a:p>
            <a:pPr>
              <a:spcAft>
                <a:spcPts val="500"/>
              </a:spcAft>
              <a:defRPr sz="1300">
                <a:solidFill>
                  <a:srgbClr val="1A1A1A"/>
                </a:solidFill>
                <a:latin typeface="Calibri"/>
              </a:defRPr>
            </a:pPr>
            <a:r>
              <a:t>—  Joint decision-making</a:t>
            </a:r>
          </a:p>
          <a:p>
            <a:pPr>
              <a:spcAft>
                <a:spcPts val="500"/>
              </a:spcAft>
              <a:defRPr sz="1300">
                <a:solidFill>
                  <a:srgbClr val="1A1A1A"/>
                </a:solidFill>
                <a:latin typeface="Calibri"/>
              </a:defRPr>
            </a:pPr>
            <a:r>
              <a:t>—  Respectful discussion</a:t>
            </a:r>
          </a:p>
          <a:p>
            <a:pPr>
              <a:spcAft>
                <a:spcPts val="500"/>
              </a:spcAft>
              <a:defRPr sz="1300">
                <a:solidFill>
                  <a:srgbClr val="1A1A1A"/>
                </a:solidFill>
                <a:latin typeface="Calibri"/>
              </a:defRPr>
            </a:pPr>
            <a:r>
              <a:t>—  Role clarity</a:t>
            </a:r>
          </a:p>
          <a:p>
            <a:pPr>
              <a:spcAft>
                <a:spcPts val="500"/>
              </a:spcAft>
              <a:defRPr sz="1300">
                <a:solidFill>
                  <a:srgbClr val="1A1A1A"/>
                </a:solidFill>
                <a:latin typeface="Calibri"/>
              </a:defRPr>
            </a:pPr>
            <a:r>
              <a:t>—  Conflict resolution</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Warning Signs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Information silos</a:t>
            </a:r>
          </a:p>
          <a:p>
            <a:pPr>
              <a:spcAft>
                <a:spcPts val="500"/>
              </a:spcAft>
              <a:defRPr sz="1300">
                <a:solidFill>
                  <a:srgbClr val="1A1A1A"/>
                </a:solidFill>
                <a:latin typeface="Calibri"/>
              </a:defRPr>
            </a:pPr>
            <a:r>
              <a:t>—  Duplicate efforts</a:t>
            </a:r>
          </a:p>
          <a:p>
            <a:pPr>
              <a:spcAft>
                <a:spcPts val="500"/>
              </a:spcAft>
              <a:defRPr sz="1300">
                <a:solidFill>
                  <a:srgbClr val="1A1A1A"/>
                </a:solidFill>
                <a:latin typeface="Calibri"/>
              </a:defRPr>
            </a:pPr>
            <a:r>
              <a:t>—  Miscommunication</a:t>
            </a:r>
          </a:p>
          <a:p>
            <a:pPr>
              <a:spcAft>
                <a:spcPts val="500"/>
              </a:spcAft>
              <a:defRPr sz="1300">
                <a:solidFill>
                  <a:srgbClr val="1A1A1A"/>
                </a:solidFill>
                <a:latin typeface="Calibri"/>
              </a:defRPr>
            </a:pPr>
            <a:r>
              <a:t>—  Delayed coordination</a:t>
            </a:r>
          </a:p>
          <a:p>
            <a:pPr>
              <a:spcAft>
                <a:spcPts val="500"/>
              </a:spcAft>
              <a:defRPr sz="1300">
                <a:solidFill>
                  <a:srgbClr val="1A1A1A"/>
                </a:solidFill>
                <a:latin typeface="Calibri"/>
              </a:defRPr>
            </a:pPr>
            <a:r>
              <a:t>—  Unclear responsibilities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169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Evidence Collection</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Evidence Sources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Observer notes</a:t>
            </a:r>
          </a:p>
          <a:p>
            <a:pPr>
              <a:spcAft>
                <a:spcPts val="500"/>
              </a:spcAft>
              <a:defRPr sz="1300">
                <a:solidFill>
                  <a:srgbClr val="1A1A1A"/>
                </a:solidFill>
                <a:latin typeface="Calibri"/>
              </a:defRPr>
            </a:pPr>
            <a:r>
              <a:t>—  Decision logs</a:t>
            </a:r>
          </a:p>
          <a:p>
            <a:pPr>
              <a:spcAft>
                <a:spcPts val="500"/>
              </a:spcAft>
              <a:defRPr sz="1300">
                <a:solidFill>
                  <a:srgbClr val="1A1A1A"/>
                </a:solidFill>
                <a:latin typeface="Calibri"/>
              </a:defRPr>
            </a:pPr>
            <a:r>
              <a:t>—  White Cell records</a:t>
            </a:r>
          </a:p>
          <a:p>
            <a:pPr>
              <a:spcAft>
                <a:spcPts val="500"/>
              </a:spcAft>
              <a:defRPr sz="1300">
                <a:solidFill>
                  <a:srgbClr val="1A1A1A"/>
                </a:solidFill>
                <a:latin typeface="Calibri"/>
              </a:defRPr>
            </a:pPr>
            <a:r>
              <a:t>—  Chat transcripts</a:t>
            </a:r>
          </a:p>
          <a:p>
            <a:pPr>
              <a:spcAft>
                <a:spcPts val="500"/>
              </a:spcAft>
              <a:defRPr sz="1300">
                <a:solidFill>
                  <a:srgbClr val="1A1A1A"/>
                </a:solidFill>
                <a:latin typeface="Calibri"/>
              </a:defRPr>
            </a:pPr>
            <a:r>
              <a:t>—  Email simulations</a:t>
            </a:r>
          </a:p>
          <a:p>
            <a:pPr>
              <a:spcAft>
                <a:spcPts val="500"/>
              </a:spcAft>
              <a:defRPr sz="1300">
                <a:solidFill>
                  <a:srgbClr val="1A1A1A"/>
                </a:solidFill>
                <a:latin typeface="Calibri"/>
              </a:defRPr>
            </a:pPr>
            <a:r>
              <a:t>—  Presentation materials</a:t>
            </a:r>
          </a:p>
          <a:p>
            <a:pPr>
              <a:spcAft>
                <a:spcPts val="500"/>
              </a:spcAft>
              <a:defRPr sz="1300">
                <a:solidFill>
                  <a:srgbClr val="1A1A1A"/>
                </a:solidFill>
                <a:latin typeface="Calibri"/>
              </a:defRPr>
            </a:pPr>
            <a:r>
              <a:t>—  Participant worksheets</a:t>
            </a:r>
          </a:p>
          <a:p>
            <a:pPr>
              <a:spcAft>
                <a:spcPts val="500"/>
              </a:spcAft>
              <a:defRPr sz="1300">
                <a:solidFill>
                  <a:srgbClr val="1A1A1A"/>
                </a:solidFill>
                <a:latin typeface="Calibri"/>
              </a:defRPr>
            </a:pPr>
            <a:r>
              <a:t>—  Facilitator observations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Documentation Tips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Record facts, not opinions</a:t>
            </a:r>
          </a:p>
          <a:p>
            <a:pPr>
              <a:spcAft>
                <a:spcPts val="500"/>
              </a:spcAft>
              <a:defRPr sz="1300">
                <a:solidFill>
                  <a:srgbClr val="1A1A1A"/>
                </a:solidFill>
                <a:latin typeface="Calibri"/>
              </a:defRPr>
            </a:pPr>
            <a:r>
              <a:t>—  Include timestamps</a:t>
            </a:r>
          </a:p>
          <a:p>
            <a:pPr>
              <a:spcAft>
                <a:spcPts val="500"/>
              </a:spcAft>
              <a:defRPr sz="1300">
                <a:solidFill>
                  <a:srgbClr val="1A1A1A"/>
                </a:solidFill>
                <a:latin typeface="Calibri"/>
              </a:defRPr>
            </a:pPr>
            <a:r>
              <a:t>—  Quote participants when relevant</a:t>
            </a:r>
          </a:p>
          <a:p>
            <a:pPr>
              <a:spcAft>
                <a:spcPts val="500"/>
              </a:spcAft>
              <a:defRPr sz="1300">
                <a:solidFill>
                  <a:srgbClr val="1A1A1A"/>
                </a:solidFill>
                <a:latin typeface="Calibri"/>
              </a:defRPr>
            </a:pPr>
            <a:r>
              <a:t>—  Reference supporting artifacts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Exercise Scoring Models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Common Models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Qualitative: Excellent / Good / Satisfactory / Needs Improvement</a:t>
            </a:r>
          </a:p>
          <a:p>
            <a:pPr>
              <a:spcAft>
                <a:spcPts val="500"/>
              </a:spcAft>
              <a:defRPr sz="1300">
                <a:solidFill>
                  <a:srgbClr val="1A1A1A"/>
                </a:solidFill>
                <a:latin typeface="Calibri"/>
              </a:defRPr>
            </a:pPr>
            <a:r>
              <a:t>—  Quantitative: Numerical score (1–5), Percentage completion, Weighted scoring, Maturity levels</a:t>
            </a:r>
          </a:p>
        </p:txBody>
      </p:sp>
      <p:sp>
        <p:nvSpPr>
          <p:cNvPr id="7" name="TextBox 6"/>
          <p:cNvSpPr txBox="1"/>
          <p:nvPr/>
        </p:nvSpPr>
        <p:spPr>
          <a:xfrm>
            <a:off x="548640" y="2971800"/>
            <a:ext cx="10972800" cy="320040"/>
          </a:xfrm>
          <a:prstGeom prst="rect">
            <a:avLst/>
          </a:prstGeom>
          <a:noFill/>
        </p:spPr>
        <p:txBody>
          <a:bodyPr wrap="square">
            <a:spAutoFit/>
          </a:bodyPr>
          <a:lstStyle/>
          <a:p>
            <a:pPr algn="l">
              <a:defRPr sz="1300" b="1">
                <a:solidFill>
                  <a:srgbClr val="666666"/>
                </a:solidFill>
                <a:latin typeface="Calibri"/>
              </a:defRPr>
            </a:pPr>
            <a:r>
              <a:t>Sample Capability Scorecard</a:t>
            </a:r>
          </a:p>
        </p:txBody>
      </p:sp>
      <p:graphicFrame>
        <p:nvGraphicFramePr>
          <p:cNvPr id="8" name="Table 7"/>
          <p:cNvGraphicFramePr>
            <a:graphicFrameLocks noGrp="1"/>
          </p:cNvGraphicFramePr>
          <p:nvPr/>
        </p:nvGraphicFramePr>
        <p:xfrm>
          <a:off x="548640" y="3429000"/>
          <a:ext cx="10972800" cy="22860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Capability</a:t>
                      </a:r>
                    </a:p>
                  </a:txBody>
                  <a:tcPr/>
                </a:tc>
                <a:tc>
                  <a:txBody>
                    <a:bodyPr/>
                    <a:lstStyle/>
                    <a:p>
                      <a:pPr>
                        <a:defRPr sz="1100" b="1">
                          <a:solidFill>
                            <a:srgbClr val="666666"/>
                          </a:solidFill>
                        </a:defRPr>
                      </a:pPr>
                      <a:r>
                        <a:t>Score</a:t>
                      </a:r>
                    </a:p>
                  </a:txBody>
                  <a:tcPr/>
                </a:tc>
              </a:tr>
              <a:tr h="457200">
                <a:tc>
                  <a:txBody>
                    <a:bodyPr/>
                    <a:lstStyle/>
                    <a:p>
                      <a:pPr>
                        <a:defRPr sz="1200">
                          <a:solidFill>
                            <a:srgbClr val="1A1A1A"/>
                          </a:solidFill>
                        </a:defRPr>
                      </a:pPr>
                      <a:r>
                        <a:t>Detection</a:t>
                      </a:r>
                    </a:p>
                  </a:txBody>
                  <a:tcPr/>
                </a:tc>
                <a:tc>
                  <a:txBody>
                    <a:bodyPr/>
                    <a:lstStyle/>
                    <a:p>
                      <a:pPr>
                        <a:defRPr sz="1200">
                          <a:solidFill>
                            <a:srgbClr val="1A1A1A"/>
                          </a:solidFill>
                        </a:defRPr>
                      </a:pPr>
                      <a:r>
                        <a:t>4/5</a:t>
                      </a:r>
                    </a:p>
                  </a:txBody>
                  <a:tcPr/>
                </a:tc>
              </a:tr>
              <a:tr h="457200">
                <a:tc>
                  <a:txBody>
                    <a:bodyPr/>
                    <a:lstStyle/>
                    <a:p>
                      <a:pPr>
                        <a:defRPr sz="1200">
                          <a:solidFill>
                            <a:srgbClr val="1A1A1A"/>
                          </a:solidFill>
                        </a:defRPr>
                      </a:pPr>
                      <a:r>
                        <a:t>Escalation</a:t>
                      </a:r>
                    </a:p>
                  </a:txBody>
                  <a:tcPr/>
                </a:tc>
                <a:tc>
                  <a:txBody>
                    <a:bodyPr/>
                    <a:lstStyle/>
                    <a:p>
                      <a:pPr>
                        <a:defRPr sz="1200">
                          <a:solidFill>
                            <a:srgbClr val="1A1A1A"/>
                          </a:solidFill>
                        </a:defRPr>
                      </a:pPr>
                      <a:r>
                        <a:t>5/5</a:t>
                      </a:r>
                    </a:p>
                  </a:txBody>
                  <a:tcPr/>
                </a:tc>
              </a:tr>
              <a:tr h="457200">
                <a:tc>
                  <a:txBody>
                    <a:bodyPr/>
                    <a:lstStyle/>
                    <a:p>
                      <a:pPr>
                        <a:defRPr sz="1200">
                          <a:solidFill>
                            <a:srgbClr val="1A1A1A"/>
                          </a:solidFill>
                        </a:defRPr>
                      </a:pPr>
                      <a:r>
                        <a:t>Communications</a:t>
                      </a:r>
                    </a:p>
                  </a:txBody>
                  <a:tcPr/>
                </a:tc>
                <a:tc>
                  <a:txBody>
                    <a:bodyPr/>
                    <a:lstStyle/>
                    <a:p>
                      <a:pPr>
                        <a:defRPr sz="1200">
                          <a:solidFill>
                            <a:srgbClr val="1A1A1A"/>
                          </a:solidFill>
                        </a:defRPr>
                      </a:pPr>
                      <a:r>
                        <a:t>3/5</a:t>
                      </a:r>
                    </a:p>
                  </a:txBody>
                  <a:tcPr/>
                </a:tc>
              </a:tr>
              <a:tr h="457200">
                <a:tc>
                  <a:txBody>
                    <a:bodyPr/>
                    <a:lstStyle/>
                    <a:p>
                      <a:pPr>
                        <a:defRPr sz="1200">
                          <a:solidFill>
                            <a:srgbClr val="1A1A1A"/>
                          </a:solidFill>
                        </a:defRPr>
                      </a:pPr>
                      <a:r>
                        <a:t>Recovery Planning</a:t>
                      </a:r>
                    </a:p>
                  </a:txBody>
                  <a:tcPr/>
                </a:tc>
                <a:tc>
                  <a:txBody>
                    <a:bodyPr/>
                    <a:lstStyle/>
                    <a:p>
                      <a:pPr>
                        <a:defRPr sz="1200">
                          <a:solidFill>
                            <a:srgbClr val="1A1A1A"/>
                          </a:solidFill>
                        </a:defRPr>
                      </a:pPr>
                      <a:r>
                        <a:t>2/5</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Capability Maturity Assessment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Maturity Model</a:t>
            </a:r>
          </a:p>
        </p:txBody>
      </p:sp>
      <p:graphicFrame>
        <p:nvGraphicFramePr>
          <p:cNvPr id="6" name="Table 5"/>
          <p:cNvGraphicFramePr>
            <a:graphicFrameLocks noGrp="1"/>
          </p:cNvGraphicFramePr>
          <p:nvPr/>
        </p:nvGraphicFramePr>
        <p:xfrm>
          <a:off x="548640" y="2194560"/>
          <a:ext cx="10972800" cy="27432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Level</a:t>
                      </a:r>
                    </a:p>
                  </a:txBody>
                  <a:tcPr/>
                </a:tc>
                <a:tc>
                  <a:txBody>
                    <a:bodyPr/>
                    <a:lstStyle/>
                    <a:p>
                      <a:pPr>
                        <a:defRPr sz="1100" b="1">
                          <a:solidFill>
                            <a:srgbClr val="666666"/>
                          </a:solidFill>
                        </a:defRPr>
                      </a:pPr>
                      <a:r>
                        <a:t>Description</a:t>
                      </a:r>
                    </a:p>
                  </a:txBody>
                  <a:tcPr/>
                </a:tc>
              </a:tr>
              <a:tr h="457200">
                <a:tc>
                  <a:txBody>
                    <a:bodyPr/>
                    <a:lstStyle/>
                    <a:p>
                      <a:pPr>
                        <a:defRPr sz="1200">
                          <a:solidFill>
                            <a:srgbClr val="1A1A1A"/>
                          </a:solidFill>
                        </a:defRPr>
                      </a:pPr>
                      <a:r>
                        <a:t>1</a:t>
                      </a:r>
                    </a:p>
                  </a:txBody>
                  <a:tcPr/>
                </a:tc>
                <a:tc>
                  <a:txBody>
                    <a:bodyPr/>
                    <a:lstStyle/>
                    <a:p>
                      <a:pPr>
                        <a:defRPr sz="1200">
                          <a:solidFill>
                            <a:srgbClr val="1A1A1A"/>
                          </a:solidFill>
                        </a:defRPr>
                      </a:pPr>
                      <a:r>
                        <a:t>Initial</a:t>
                      </a:r>
                    </a:p>
                  </a:txBody>
                  <a:tcPr/>
                </a:tc>
              </a:tr>
              <a:tr h="457200">
                <a:tc>
                  <a:txBody>
                    <a:bodyPr/>
                    <a:lstStyle/>
                    <a:p>
                      <a:pPr>
                        <a:defRPr sz="1200">
                          <a:solidFill>
                            <a:srgbClr val="1A1A1A"/>
                          </a:solidFill>
                        </a:defRPr>
                      </a:pPr>
                      <a:r>
                        <a:t>2</a:t>
                      </a:r>
                    </a:p>
                  </a:txBody>
                  <a:tcPr/>
                </a:tc>
                <a:tc>
                  <a:txBody>
                    <a:bodyPr/>
                    <a:lstStyle/>
                    <a:p>
                      <a:pPr>
                        <a:defRPr sz="1200">
                          <a:solidFill>
                            <a:srgbClr val="1A1A1A"/>
                          </a:solidFill>
                        </a:defRPr>
                      </a:pPr>
                      <a:r>
                        <a:t>Developing</a:t>
                      </a:r>
                    </a:p>
                  </a:txBody>
                  <a:tcPr/>
                </a:tc>
              </a:tr>
              <a:tr h="457200">
                <a:tc>
                  <a:txBody>
                    <a:bodyPr/>
                    <a:lstStyle/>
                    <a:p>
                      <a:pPr>
                        <a:defRPr sz="1200">
                          <a:solidFill>
                            <a:srgbClr val="1A1A1A"/>
                          </a:solidFill>
                        </a:defRPr>
                      </a:pPr>
                      <a:r>
                        <a:t>3</a:t>
                      </a:r>
                    </a:p>
                  </a:txBody>
                  <a:tcPr/>
                </a:tc>
                <a:tc>
                  <a:txBody>
                    <a:bodyPr/>
                    <a:lstStyle/>
                    <a:p>
                      <a:pPr>
                        <a:defRPr sz="1200">
                          <a:solidFill>
                            <a:srgbClr val="1A1A1A"/>
                          </a:solidFill>
                        </a:defRPr>
                      </a:pPr>
                      <a:r>
                        <a:t>Defined</a:t>
                      </a:r>
                    </a:p>
                  </a:txBody>
                  <a:tcPr/>
                </a:tc>
              </a:tr>
              <a:tr h="457200">
                <a:tc>
                  <a:txBody>
                    <a:bodyPr/>
                    <a:lstStyle/>
                    <a:p>
                      <a:pPr>
                        <a:defRPr sz="1200">
                          <a:solidFill>
                            <a:srgbClr val="1A1A1A"/>
                          </a:solidFill>
                        </a:defRPr>
                      </a:pPr>
                      <a:r>
                        <a:t>4</a:t>
                      </a:r>
                    </a:p>
                  </a:txBody>
                  <a:tcPr/>
                </a:tc>
                <a:tc>
                  <a:txBody>
                    <a:bodyPr/>
                    <a:lstStyle/>
                    <a:p>
                      <a:pPr>
                        <a:defRPr sz="1200">
                          <a:solidFill>
                            <a:srgbClr val="1A1A1A"/>
                          </a:solidFill>
                        </a:defRPr>
                      </a:pPr>
                      <a:r>
                        <a:t>Managed</a:t>
                      </a:r>
                    </a:p>
                  </a:txBody>
                  <a:tcPr/>
                </a:tc>
              </a:tr>
              <a:tr h="457200">
                <a:tc>
                  <a:txBody>
                    <a:bodyPr/>
                    <a:lstStyle/>
                    <a:p>
                      <a:pPr>
                        <a:defRPr sz="1200">
                          <a:solidFill>
                            <a:srgbClr val="1A1A1A"/>
                          </a:solidFill>
                        </a:defRPr>
                      </a:pPr>
                      <a:r>
                        <a:t>5</a:t>
                      </a:r>
                    </a:p>
                  </a:txBody>
                  <a:tcPr/>
                </a:tc>
                <a:tc>
                  <a:txBody>
                    <a:bodyPr/>
                    <a:lstStyle/>
                    <a:p>
                      <a:pPr>
                        <a:defRPr sz="1200">
                          <a:solidFill>
                            <a:srgbClr val="1A1A1A"/>
                          </a:solidFill>
                        </a:defRPr>
                      </a:pPr>
                      <a:r>
                        <a:t>Optimized</a:t>
                      </a:r>
                    </a:p>
                  </a:txBody>
                  <a:tcPr/>
                </a:tc>
              </a:tr>
            </a:tbl>
          </a:graphicData>
        </a:graphic>
      </p:graphicFrame>
      <p:sp>
        <p:nvSpPr>
          <p:cNvPr id="7" name="TextBox 6"/>
          <p:cNvSpPr txBox="1"/>
          <p:nvPr/>
        </p:nvSpPr>
        <p:spPr>
          <a:xfrm>
            <a:off x="548640" y="5257800"/>
            <a:ext cx="10972800" cy="320040"/>
          </a:xfrm>
          <a:prstGeom prst="rect">
            <a:avLst/>
          </a:prstGeom>
          <a:noFill/>
        </p:spPr>
        <p:txBody>
          <a:bodyPr wrap="square">
            <a:spAutoFit/>
          </a:bodyPr>
          <a:lstStyle/>
          <a:p>
            <a:pPr algn="l">
              <a:defRPr sz="1300" b="1">
                <a:solidFill>
                  <a:srgbClr val="666666"/>
                </a:solidFill>
                <a:latin typeface="Calibri"/>
              </a:defRPr>
            </a:pPr>
            <a:r>
              <a:t>Assessment Areas</a:t>
            </a:r>
          </a:p>
        </p:txBody>
      </p:sp>
      <p:sp>
        <p:nvSpPr>
          <p:cNvPr id="8" name="TextBox 7"/>
          <p:cNvSpPr txBox="1"/>
          <p:nvPr/>
        </p:nvSpPr>
        <p:spPr>
          <a:xfrm>
            <a:off x="548640" y="5715000"/>
            <a:ext cx="10972800" cy="2743200"/>
          </a:xfrm>
          <a:prstGeom prst="rect">
            <a:avLst/>
          </a:prstGeom>
          <a:noFill/>
        </p:spPr>
        <p:txBody>
          <a:bodyPr wrap="square">
            <a:spAutoFit/>
          </a:bodyPr>
          <a:lstStyle/>
          <a:p>
            <a:pPr>
              <a:spcAft>
                <a:spcPts val="500"/>
              </a:spcAft>
              <a:defRPr sz="1300">
                <a:solidFill>
                  <a:srgbClr val="1A1A1A"/>
                </a:solidFill>
                <a:latin typeface="Calibri"/>
              </a:defRPr>
            </a:pPr>
            <a:r>
              <a:t>—  Governance</a:t>
            </a:r>
          </a:p>
          <a:p>
            <a:pPr>
              <a:spcAft>
                <a:spcPts val="500"/>
              </a:spcAft>
              <a:defRPr sz="1300">
                <a:solidFill>
                  <a:srgbClr val="1A1A1A"/>
                </a:solidFill>
                <a:latin typeface="Calibri"/>
              </a:defRPr>
            </a:pPr>
            <a:r>
              <a:t>—  Incident Response</a:t>
            </a:r>
          </a:p>
          <a:p>
            <a:pPr>
              <a:spcAft>
                <a:spcPts val="500"/>
              </a:spcAft>
              <a:defRPr sz="1300">
                <a:solidFill>
                  <a:srgbClr val="1A1A1A"/>
                </a:solidFill>
                <a:latin typeface="Calibri"/>
              </a:defRPr>
            </a:pPr>
            <a:r>
              <a:t>—  Communications</a:t>
            </a:r>
          </a:p>
          <a:p>
            <a:pPr>
              <a:spcAft>
                <a:spcPts val="500"/>
              </a:spcAft>
              <a:defRPr sz="1300">
                <a:solidFill>
                  <a:srgbClr val="1A1A1A"/>
                </a:solidFill>
                <a:latin typeface="Calibri"/>
              </a:defRPr>
            </a:pPr>
            <a:r>
              <a:t>—  Business Continuity</a:t>
            </a:r>
          </a:p>
          <a:p>
            <a:pPr>
              <a:spcAft>
                <a:spcPts val="500"/>
              </a:spcAft>
              <a:defRPr sz="1300">
                <a:solidFill>
                  <a:srgbClr val="1A1A1A"/>
                </a:solidFill>
                <a:latin typeface="Calibri"/>
              </a:defRPr>
            </a:pPr>
            <a:r>
              <a:t>—  Threat Intelligence</a:t>
            </a:r>
          </a:p>
          <a:p>
            <a:pPr>
              <a:spcAft>
                <a:spcPts val="500"/>
              </a:spcAft>
              <a:defRPr sz="1300">
                <a:solidFill>
                  <a:srgbClr val="1A1A1A"/>
                </a:solidFill>
                <a:latin typeface="Calibri"/>
              </a:defRPr>
            </a:pPr>
            <a:r>
              <a:t>—  Technology</a:t>
            </a:r>
          </a:p>
          <a:p>
            <a:pPr>
              <a:spcAft>
                <a:spcPts val="500"/>
              </a:spcAft>
              <a:defRPr sz="1300">
                <a:solidFill>
                  <a:srgbClr val="1A1A1A"/>
                </a:solidFill>
                <a:latin typeface="Calibri"/>
              </a:defRPr>
            </a:pPr>
            <a:r>
              <a:t>—  Recovery</a:t>
            </a:r>
          </a:p>
          <a:p>
            <a:pPr>
              <a:spcAft>
                <a:spcPts val="500"/>
              </a:spcAft>
              <a:defRPr sz="1300">
                <a:solidFill>
                  <a:srgbClr val="1A1A1A"/>
                </a:solidFill>
                <a:latin typeface="Calibri"/>
              </a:defRPr>
            </a:pPr>
            <a:r>
              <a:t>—  Leadership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Measuring Exercise Objectives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Objective Assessment Matrix</a:t>
            </a:r>
          </a:p>
        </p:txBody>
      </p:sp>
      <p:graphicFrame>
        <p:nvGraphicFramePr>
          <p:cNvPr id="6" name="Table 5"/>
          <p:cNvGraphicFramePr>
            <a:graphicFrameLocks noGrp="1"/>
          </p:cNvGraphicFramePr>
          <p:nvPr/>
        </p:nvGraphicFramePr>
        <p:xfrm>
          <a:off x="548640" y="2194560"/>
          <a:ext cx="10972800" cy="2286000"/>
        </p:xfrm>
        <a:graphic>
          <a:graphicData uri="http://schemas.openxmlformats.org/drawingml/2006/table">
            <a:tbl>
              <a:tblPr firstRow="1" bandRow="1">
                <a:tableStyleId>{5C22544A-7EE6-4342-B048-85BDC9FD1C3A}</a:tableStyleId>
              </a:tblPr>
              <a:tblGrid>
                <a:gridCol w="3657600"/>
                <a:gridCol w="3657600"/>
                <a:gridCol w="3657600"/>
              </a:tblGrid>
              <a:tr h="457200">
                <a:tc>
                  <a:txBody>
                    <a:bodyPr/>
                    <a:lstStyle/>
                    <a:p>
                      <a:pPr>
                        <a:defRPr sz="1100" b="1">
                          <a:solidFill>
                            <a:srgbClr val="666666"/>
                          </a:solidFill>
                        </a:defRPr>
                      </a:pPr>
                      <a:r>
                        <a:t>Objective</a:t>
                      </a:r>
                    </a:p>
                  </a:txBody>
                  <a:tcPr/>
                </a:tc>
                <a:tc>
                  <a:txBody>
                    <a:bodyPr/>
                    <a:lstStyle/>
                    <a:p>
                      <a:pPr>
                        <a:defRPr sz="1100" b="1">
                          <a:solidFill>
                            <a:srgbClr val="666666"/>
                          </a:solidFill>
                        </a:defRPr>
                      </a:pPr>
                      <a:r>
                        <a:t>Achieved</a:t>
                      </a:r>
                    </a:p>
                  </a:txBody>
                  <a:tcPr/>
                </a:tc>
                <a:tc>
                  <a:txBody>
                    <a:bodyPr/>
                    <a:lstStyle/>
                    <a:p>
                      <a:pPr>
                        <a:defRPr sz="1100" b="1">
                          <a:solidFill>
                            <a:srgbClr val="666666"/>
                          </a:solidFill>
                        </a:defRPr>
                      </a:pPr>
                      <a:r>
                        <a:t>Evidence</a:t>
                      </a:r>
                    </a:p>
                  </a:txBody>
                  <a:tcPr/>
                </a:tc>
              </a:tr>
              <a:tr h="457200">
                <a:tc>
                  <a:txBody>
                    <a:bodyPr/>
                    <a:lstStyle/>
                    <a:p>
                      <a:pPr>
                        <a:defRPr sz="1200">
                          <a:solidFill>
                            <a:srgbClr val="1A1A1A"/>
                          </a:solidFill>
                        </a:defRPr>
                      </a:pPr>
                      <a:r>
                        <a:t>Incident escalation</a:t>
                      </a:r>
                    </a:p>
                  </a:txBody>
                  <a:tcPr/>
                </a:tc>
                <a:tc>
                  <a:txBody>
                    <a:bodyPr/>
                    <a:lstStyle/>
                    <a:p>
                      <a:pPr>
                        <a:defRPr sz="1200">
                          <a:solidFill>
                            <a:srgbClr val="1A1A1A"/>
                          </a:solidFill>
                        </a:defRPr>
                      </a:pPr>
                      <a:r>
                        <a:t>Yes</a:t>
                      </a:r>
                    </a:p>
                  </a:txBody>
                  <a:tcPr/>
                </a:tc>
                <a:tc>
                  <a:txBody>
                    <a:bodyPr/>
                    <a:lstStyle/>
                    <a:p>
                      <a:pPr>
                        <a:defRPr sz="1200">
                          <a:solidFill>
                            <a:srgbClr val="1A1A1A"/>
                          </a:solidFill>
                        </a:defRPr>
                      </a:pPr>
                      <a:r>
                        <a:t>Decision log</a:t>
                      </a:r>
                    </a:p>
                  </a:txBody>
                  <a:tcPr/>
                </a:tc>
              </a:tr>
              <a:tr h="457200">
                <a:tc>
                  <a:txBody>
                    <a:bodyPr/>
                    <a:lstStyle/>
                    <a:p>
                      <a:pPr>
                        <a:defRPr sz="1200">
                          <a:solidFill>
                            <a:srgbClr val="1A1A1A"/>
                          </a:solidFill>
                        </a:defRPr>
                      </a:pPr>
                      <a:r>
                        <a:t>Executive notification</a:t>
                      </a:r>
                    </a:p>
                  </a:txBody>
                  <a:tcPr/>
                </a:tc>
                <a:tc>
                  <a:txBody>
                    <a:bodyPr/>
                    <a:lstStyle/>
                    <a:p>
                      <a:pPr>
                        <a:defRPr sz="1200">
                          <a:solidFill>
                            <a:srgbClr val="1A1A1A"/>
                          </a:solidFill>
                        </a:defRPr>
                      </a:pPr>
                      <a:r>
                        <a:t>Yes</a:t>
                      </a:r>
                    </a:p>
                  </a:txBody>
                  <a:tcPr/>
                </a:tc>
                <a:tc>
                  <a:txBody>
                    <a:bodyPr/>
                    <a:lstStyle/>
                    <a:p>
                      <a:pPr>
                        <a:defRPr sz="1200">
                          <a:solidFill>
                            <a:srgbClr val="1A1A1A"/>
                          </a:solidFill>
                        </a:defRPr>
                      </a:pPr>
                      <a:r>
                        <a:t>Timeline</a:t>
                      </a:r>
                    </a:p>
                  </a:txBody>
                  <a:tcPr/>
                </a:tc>
              </a:tr>
              <a:tr h="457200">
                <a:tc>
                  <a:txBody>
                    <a:bodyPr/>
                    <a:lstStyle/>
                    <a:p>
                      <a:pPr>
                        <a:defRPr sz="1200">
                          <a:solidFill>
                            <a:srgbClr val="1A1A1A"/>
                          </a:solidFill>
                        </a:defRPr>
                      </a:pPr>
                      <a:r>
                        <a:t>Regulatory reporting</a:t>
                      </a:r>
                    </a:p>
                  </a:txBody>
                  <a:tcPr/>
                </a:tc>
                <a:tc>
                  <a:txBody>
                    <a:bodyPr/>
                    <a:lstStyle/>
                    <a:p>
                      <a:pPr>
                        <a:defRPr sz="1200">
                          <a:solidFill>
                            <a:srgbClr val="1A1A1A"/>
                          </a:solidFill>
                        </a:defRPr>
                      </a:pPr>
                      <a:r>
                        <a:t>Partial</a:t>
                      </a:r>
                    </a:p>
                  </a:txBody>
                  <a:tcPr/>
                </a:tc>
                <a:tc>
                  <a:txBody>
                    <a:bodyPr/>
                    <a:lstStyle/>
                    <a:p>
                      <a:pPr>
                        <a:defRPr sz="1200">
                          <a:solidFill>
                            <a:srgbClr val="1A1A1A"/>
                          </a:solidFill>
                        </a:defRPr>
                      </a:pPr>
                      <a:r>
                        <a:t>Observer notes</a:t>
                      </a:r>
                    </a:p>
                  </a:txBody>
                  <a:tcPr/>
                </a:tc>
              </a:tr>
              <a:tr h="457200">
                <a:tc>
                  <a:txBody>
                    <a:bodyPr/>
                    <a:lstStyle/>
                    <a:p>
                      <a:pPr>
                        <a:defRPr sz="1200">
                          <a:solidFill>
                            <a:srgbClr val="1A1A1A"/>
                          </a:solidFill>
                        </a:defRPr>
                      </a:pPr>
                      <a:r>
                        <a:t>Customer communication</a:t>
                      </a:r>
                    </a:p>
                  </a:txBody>
                  <a:tcPr/>
                </a:tc>
                <a:tc>
                  <a:txBody>
                    <a:bodyPr/>
                    <a:lstStyle/>
                    <a:p>
                      <a:pPr>
                        <a:defRPr sz="1200">
                          <a:solidFill>
                            <a:srgbClr val="1A1A1A"/>
                          </a:solidFill>
                        </a:defRPr>
                      </a:pPr>
                      <a:r>
                        <a:t>No</a:t>
                      </a:r>
                    </a:p>
                  </a:txBody>
                  <a:tcPr/>
                </a:tc>
                <a:tc>
                  <a:txBody>
                    <a:bodyPr/>
                    <a:lstStyle/>
                    <a:p>
                      <a:pPr>
                        <a:defRPr sz="1200">
                          <a:solidFill>
                            <a:srgbClr val="1A1A1A"/>
                          </a:solidFill>
                        </a:defRPr>
                      </a:pPr>
                      <a:r>
                        <a:t>Missing process</a:t>
                      </a:r>
                    </a:p>
                  </a:txBody>
                  <a:tcPr/>
                </a:tc>
              </a:tr>
            </a:tbl>
          </a:graphicData>
        </a:graphic>
      </p:graphicFrame>
      <p:sp>
        <p:nvSpPr>
          <p:cNvPr id="7" name="TextBox 6"/>
          <p:cNvSpPr txBox="1"/>
          <p:nvPr/>
        </p:nvSpPr>
        <p:spPr>
          <a:xfrm>
            <a:off x="548640" y="4800600"/>
            <a:ext cx="10972800" cy="320040"/>
          </a:xfrm>
          <a:prstGeom prst="rect">
            <a:avLst/>
          </a:prstGeom>
          <a:noFill/>
        </p:spPr>
        <p:txBody>
          <a:bodyPr wrap="square">
            <a:spAutoFit/>
          </a:bodyPr>
          <a:lstStyle/>
          <a:p>
            <a:pPr algn="l">
              <a:defRPr sz="1300" b="1">
                <a:solidFill>
                  <a:srgbClr val="666666"/>
                </a:solidFill>
                <a:latin typeface="Calibri"/>
              </a:defRPr>
            </a:pPr>
            <a:r>
              <a:t>Best Practices</a:t>
            </a:r>
          </a:p>
        </p:txBody>
      </p:sp>
      <p:sp>
        <p:nvSpPr>
          <p:cNvPr id="8" name="TextBox 7"/>
          <p:cNvSpPr txBox="1"/>
          <p:nvPr/>
        </p:nvSpPr>
        <p:spPr>
          <a:xfrm>
            <a:off x="548640" y="5257800"/>
            <a:ext cx="10972800" cy="2743200"/>
          </a:xfrm>
          <a:prstGeom prst="rect">
            <a:avLst/>
          </a:prstGeom>
          <a:noFill/>
        </p:spPr>
        <p:txBody>
          <a:bodyPr wrap="square">
            <a:spAutoFit/>
          </a:bodyPr>
          <a:lstStyle/>
          <a:p>
            <a:pPr>
              <a:spcAft>
                <a:spcPts val="500"/>
              </a:spcAft>
              <a:defRPr sz="1300">
                <a:solidFill>
                  <a:srgbClr val="1A1A1A"/>
                </a:solidFill>
                <a:latin typeface="Calibri"/>
              </a:defRPr>
            </a:pPr>
            <a:r>
              <a:t>—  Evaluate each objective independently</a:t>
            </a:r>
          </a:p>
          <a:p>
            <a:pPr>
              <a:spcAft>
                <a:spcPts val="500"/>
              </a:spcAft>
              <a:defRPr sz="1300">
                <a:solidFill>
                  <a:srgbClr val="1A1A1A"/>
                </a:solidFill>
                <a:latin typeface="Calibri"/>
              </a:defRPr>
            </a:pPr>
            <a:r>
              <a:t>—  Support findings with evidence</a:t>
            </a:r>
          </a:p>
          <a:p>
            <a:pPr>
              <a:spcAft>
                <a:spcPts val="500"/>
              </a:spcAft>
              <a:defRPr sz="1300">
                <a:solidFill>
                  <a:srgbClr val="1A1A1A"/>
                </a:solidFill>
                <a:latin typeface="Calibri"/>
              </a:defRPr>
            </a:pPr>
            <a:r>
              <a:t>—  Identify reasons for gaps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Preparing for the Hot Wash</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Hot Wash Objectives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Gather participant feedback</a:t>
            </a:r>
          </a:p>
          <a:p>
            <a:pPr>
              <a:spcAft>
                <a:spcPts val="500"/>
              </a:spcAft>
              <a:defRPr sz="1300">
                <a:solidFill>
                  <a:srgbClr val="1A1A1A"/>
                </a:solidFill>
                <a:latin typeface="Calibri"/>
              </a:defRPr>
            </a:pPr>
            <a:r>
              <a:t>—  Validate observer findings</a:t>
            </a:r>
          </a:p>
          <a:p>
            <a:pPr>
              <a:spcAft>
                <a:spcPts val="500"/>
              </a:spcAft>
              <a:defRPr sz="1300">
                <a:solidFill>
                  <a:srgbClr val="1A1A1A"/>
                </a:solidFill>
                <a:latin typeface="Calibri"/>
              </a:defRPr>
            </a:pPr>
            <a:r>
              <a:t>—  Identify lessons learned</a:t>
            </a:r>
          </a:p>
          <a:p>
            <a:pPr>
              <a:spcAft>
                <a:spcPts val="500"/>
              </a:spcAft>
              <a:defRPr sz="1300">
                <a:solidFill>
                  <a:srgbClr val="1A1A1A"/>
                </a:solidFill>
                <a:latin typeface="Calibri"/>
              </a:defRPr>
            </a:pPr>
            <a:r>
              <a:t>—  Clarify unanswered questions</a:t>
            </a:r>
          </a:p>
          <a:p>
            <a:pPr>
              <a:spcAft>
                <a:spcPts val="500"/>
              </a:spcAft>
              <a:defRPr sz="1300">
                <a:solidFill>
                  <a:srgbClr val="1A1A1A"/>
                </a:solidFill>
                <a:latin typeface="Calibri"/>
              </a:defRPr>
            </a:pPr>
            <a:r>
              <a:t>—  Prioritize improvement opportunities</a:t>
            </a:r>
          </a:p>
        </p:txBody>
      </p:sp>
      <p:sp>
        <p:nvSpPr>
          <p:cNvPr id="7" name="TextBox 6"/>
          <p:cNvSpPr txBox="1"/>
          <p:nvPr/>
        </p:nvSpPr>
        <p:spPr>
          <a:xfrm>
            <a:off x="548640" y="3931920"/>
            <a:ext cx="10972800" cy="320040"/>
          </a:xfrm>
          <a:prstGeom prst="rect">
            <a:avLst/>
          </a:prstGeom>
          <a:noFill/>
        </p:spPr>
        <p:txBody>
          <a:bodyPr wrap="square">
            <a:spAutoFit/>
          </a:bodyPr>
          <a:lstStyle/>
          <a:p>
            <a:pPr algn="l">
              <a:defRPr sz="1300" b="1">
                <a:solidFill>
                  <a:srgbClr val="666666"/>
                </a:solidFill>
                <a:latin typeface="Calibri"/>
              </a:defRPr>
            </a:pPr>
            <a:r>
              <a:t>Preparation Checklist</a:t>
            </a:r>
          </a:p>
        </p:txBody>
      </p:sp>
      <p:sp>
        <p:nvSpPr>
          <p:cNvPr id="8" name="TextBox 7"/>
          <p:cNvSpPr txBox="1"/>
          <p:nvPr/>
        </p:nvSpPr>
        <p:spPr>
          <a:xfrm>
            <a:off x="548640" y="4389120"/>
            <a:ext cx="10972800" cy="2743200"/>
          </a:xfrm>
          <a:prstGeom prst="rect">
            <a:avLst/>
          </a:prstGeom>
          <a:noFill/>
        </p:spPr>
        <p:txBody>
          <a:bodyPr wrap="square">
            <a:spAutoFit/>
          </a:bodyPr>
          <a:lstStyle/>
          <a:p>
            <a:pPr>
              <a:spcAft>
                <a:spcPts val="500"/>
              </a:spcAft>
              <a:defRPr sz="1300">
                <a:solidFill>
                  <a:srgbClr val="1A1A1A"/>
                </a:solidFill>
                <a:latin typeface="Calibri"/>
              </a:defRPr>
            </a:pPr>
            <a:r>
              <a:t>—  Observer notes complete</a:t>
            </a:r>
          </a:p>
          <a:p>
            <a:pPr>
              <a:spcAft>
                <a:spcPts val="500"/>
              </a:spcAft>
              <a:defRPr sz="1300">
                <a:solidFill>
                  <a:srgbClr val="1A1A1A"/>
                </a:solidFill>
                <a:latin typeface="Calibri"/>
              </a:defRPr>
            </a:pPr>
            <a:r>
              <a:t>—  Decision logs collected</a:t>
            </a:r>
          </a:p>
          <a:p>
            <a:pPr>
              <a:spcAft>
                <a:spcPts val="500"/>
              </a:spcAft>
              <a:defRPr sz="1300">
                <a:solidFill>
                  <a:srgbClr val="1A1A1A"/>
                </a:solidFill>
                <a:latin typeface="Calibri"/>
              </a:defRPr>
            </a:pPr>
            <a:r>
              <a:t>—  Evaluation forms ready</a:t>
            </a:r>
          </a:p>
          <a:p>
            <a:pPr>
              <a:spcAft>
                <a:spcPts val="500"/>
              </a:spcAft>
              <a:defRPr sz="1300">
                <a:solidFill>
                  <a:srgbClr val="1A1A1A"/>
                </a:solidFill>
                <a:latin typeface="Calibri"/>
              </a:defRPr>
            </a:pPr>
            <a:r>
              <a:t>—  Meeting facilitator assigned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Common Evaluation Pitfalls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Pitfalls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Evaluating individuals instead of processes</a:t>
            </a:r>
          </a:p>
          <a:p>
            <a:pPr>
              <a:spcAft>
                <a:spcPts val="500"/>
              </a:spcAft>
              <a:defRPr sz="1300">
                <a:solidFill>
                  <a:srgbClr val="1A1A1A"/>
                </a:solidFill>
                <a:latin typeface="Calibri"/>
              </a:defRPr>
            </a:pPr>
            <a:r>
              <a:t>—  Missing evidence</a:t>
            </a:r>
          </a:p>
          <a:p>
            <a:pPr>
              <a:spcAft>
                <a:spcPts val="500"/>
              </a:spcAft>
              <a:defRPr sz="1300">
                <a:solidFill>
                  <a:srgbClr val="1A1A1A"/>
                </a:solidFill>
                <a:latin typeface="Calibri"/>
              </a:defRPr>
            </a:pPr>
            <a:r>
              <a:t>—  Observer bias</a:t>
            </a:r>
          </a:p>
          <a:p>
            <a:pPr>
              <a:spcAft>
                <a:spcPts val="500"/>
              </a:spcAft>
              <a:defRPr sz="1300">
                <a:solidFill>
                  <a:srgbClr val="1A1A1A"/>
                </a:solidFill>
                <a:latin typeface="Calibri"/>
              </a:defRPr>
            </a:pPr>
            <a:r>
              <a:t>—  Inconsistent scoring</a:t>
            </a:r>
          </a:p>
          <a:p>
            <a:pPr>
              <a:spcAft>
                <a:spcPts val="500"/>
              </a:spcAft>
              <a:defRPr sz="1300">
                <a:solidFill>
                  <a:srgbClr val="1A1A1A"/>
                </a:solidFill>
                <a:latin typeface="Calibri"/>
              </a:defRPr>
            </a:pPr>
            <a:r>
              <a:t>—  Ignoring positive practices</a:t>
            </a:r>
          </a:p>
          <a:p>
            <a:pPr>
              <a:spcAft>
                <a:spcPts val="500"/>
              </a:spcAft>
              <a:defRPr sz="1300">
                <a:solidFill>
                  <a:srgbClr val="1A1A1A"/>
                </a:solidFill>
                <a:latin typeface="Calibri"/>
              </a:defRPr>
            </a:pPr>
            <a:r>
              <a:t>—  Focusing only on technical issues</a:t>
            </a:r>
          </a:p>
          <a:p>
            <a:pPr>
              <a:spcAft>
                <a:spcPts val="500"/>
              </a:spcAft>
              <a:defRPr sz="1300">
                <a:solidFill>
                  <a:srgbClr val="1A1A1A"/>
                </a:solidFill>
                <a:latin typeface="Calibri"/>
              </a:defRPr>
            </a:pPr>
            <a:r>
              <a:t>—  Delaying documentation</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Mitigation Strategies</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Standardize evaluation forms</a:t>
            </a:r>
          </a:p>
          <a:p>
            <a:pPr>
              <a:spcAft>
                <a:spcPts val="500"/>
              </a:spcAft>
              <a:defRPr sz="1300">
                <a:solidFill>
                  <a:srgbClr val="1A1A1A"/>
                </a:solidFill>
                <a:latin typeface="Calibri"/>
              </a:defRPr>
            </a:pPr>
            <a:r>
              <a:t>—  Train observers</a:t>
            </a:r>
          </a:p>
          <a:p>
            <a:pPr>
              <a:spcAft>
                <a:spcPts val="500"/>
              </a:spcAft>
              <a:defRPr sz="1300">
                <a:solidFill>
                  <a:srgbClr val="1A1A1A"/>
                </a:solidFill>
                <a:latin typeface="Calibri"/>
              </a:defRPr>
            </a:pPr>
            <a:r>
              <a:t>—  Use multiple evaluators</a:t>
            </a:r>
          </a:p>
          <a:p>
            <a:pPr>
              <a:spcAft>
                <a:spcPts val="500"/>
              </a:spcAft>
              <a:defRPr sz="1300">
                <a:solidFill>
                  <a:srgbClr val="1A1A1A"/>
                </a:solidFill>
                <a:latin typeface="Calibri"/>
              </a:defRPr>
            </a:pPr>
            <a:r>
              <a:t>—  Validate findings</a:t>
            </a:r>
          </a:p>
          <a:p>
            <a:pPr>
              <a:spcAft>
                <a:spcPts val="500"/>
              </a:spcAft>
              <a:defRPr sz="1300">
                <a:solidFill>
                  <a:srgbClr val="1A1A1A"/>
                </a:solidFill>
                <a:latin typeface="Calibri"/>
              </a:defRPr>
            </a:pPr>
            <a:r>
              <a:t>—  Document promptly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Module Review: Exercise Observation and Evaluation</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Key Takeaways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Evaluation measures organizational capability—not individual performance</a:t>
            </a:r>
          </a:p>
          <a:p>
            <a:pPr>
              <a:spcAft>
                <a:spcPts val="500"/>
              </a:spcAft>
              <a:defRPr sz="1300">
                <a:solidFill>
                  <a:srgbClr val="1A1A1A"/>
                </a:solidFill>
                <a:latin typeface="Calibri"/>
              </a:defRPr>
            </a:pPr>
            <a:r>
              <a:t>—  Observers must remain objective and avoid influencing the exercise</a:t>
            </a:r>
          </a:p>
          <a:p>
            <a:pPr>
              <a:spcAft>
                <a:spcPts val="500"/>
              </a:spcAft>
              <a:defRPr sz="1300">
                <a:solidFill>
                  <a:srgbClr val="1A1A1A"/>
                </a:solidFill>
                <a:latin typeface="Calibri"/>
              </a:defRPr>
            </a:pPr>
            <a:r>
              <a:t>—  Metrics and KPIs provide measurable evidence of performance</a:t>
            </a:r>
          </a:p>
          <a:p>
            <a:pPr>
              <a:spcAft>
                <a:spcPts val="500"/>
              </a:spcAft>
              <a:defRPr sz="1300">
                <a:solidFill>
                  <a:srgbClr val="1A1A1A"/>
                </a:solidFill>
                <a:latin typeface="Calibri"/>
              </a:defRPr>
            </a:pPr>
            <a:r>
              <a:t>—  Decision quality, communication, and collaboration are critical evaluation areas</a:t>
            </a:r>
          </a:p>
          <a:p>
            <a:pPr>
              <a:spcAft>
                <a:spcPts val="500"/>
              </a:spcAft>
              <a:defRPr sz="1300">
                <a:solidFill>
                  <a:srgbClr val="1A1A1A"/>
                </a:solidFill>
                <a:latin typeface="Calibri"/>
              </a:defRPr>
            </a:pPr>
            <a:r>
              <a:t>—  Evidence collection supports credible findings</a:t>
            </a:r>
          </a:p>
          <a:p>
            <a:pPr>
              <a:spcAft>
                <a:spcPts val="500"/>
              </a:spcAft>
              <a:defRPr sz="1300">
                <a:solidFill>
                  <a:srgbClr val="1A1A1A"/>
                </a:solidFill>
                <a:latin typeface="Calibri"/>
              </a:defRPr>
            </a:pPr>
            <a:r>
              <a:t>—  Capability maturity assessments guide long-term improvement</a:t>
            </a:r>
          </a:p>
          <a:p>
            <a:pPr>
              <a:spcAft>
                <a:spcPts val="500"/>
              </a:spcAft>
              <a:defRPr sz="1300">
                <a:solidFill>
                  <a:srgbClr val="1A1A1A"/>
                </a:solidFill>
                <a:latin typeface="Calibri"/>
              </a:defRPr>
            </a:pPr>
            <a:r>
              <a:t>—  The Hot Wash captures immediate lessons learned</a:t>
            </a:r>
          </a:p>
          <a:p>
            <a:pPr>
              <a:spcAft>
                <a:spcPts val="500"/>
              </a:spcAft>
              <a:defRPr sz="1300">
                <a:solidFill>
                  <a:srgbClr val="1A1A1A"/>
                </a:solidFill>
                <a:latin typeface="Calibri"/>
              </a:defRPr>
            </a:pPr>
            <a:r>
              <a:t>—  Consistent evaluation methods improve repeatability</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Discussion Questions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Which KPIs best measure your organization's incident response capability?</a:t>
            </a:r>
          </a:p>
          <a:p>
            <a:pPr>
              <a:spcAft>
                <a:spcPts val="500"/>
              </a:spcAft>
              <a:defRPr sz="1300">
                <a:solidFill>
                  <a:srgbClr val="1A1A1A"/>
                </a:solidFill>
                <a:latin typeface="Calibri"/>
              </a:defRPr>
            </a:pPr>
            <a:r>
              <a:t>—  How can observer bias be minimized?</a:t>
            </a:r>
          </a:p>
          <a:p>
            <a:pPr>
              <a:spcAft>
                <a:spcPts val="500"/>
              </a:spcAft>
              <a:defRPr sz="1300">
                <a:solidFill>
                  <a:srgbClr val="1A1A1A"/>
                </a:solidFill>
                <a:latin typeface="Calibri"/>
              </a:defRPr>
            </a:pPr>
            <a:r>
              <a:t>—  What evidence is most valuable during evaluation?</a:t>
            </a:r>
          </a:p>
          <a:p>
            <a:pPr>
              <a:spcAft>
                <a:spcPts val="500"/>
              </a:spcAft>
              <a:defRPr sz="1300">
                <a:solidFill>
                  <a:srgbClr val="1A1A1A"/>
                </a:solidFill>
                <a:latin typeface="Calibri"/>
              </a:defRPr>
            </a:pPr>
            <a:r>
              <a:t>—  How should positive practices be incorporated into the After Action Report?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Introduction to the Hot Wash</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What Is a Hot Wash?</a:t>
            </a:r>
          </a:p>
        </p:txBody>
      </p:sp>
      <p:sp>
        <p:nvSpPr>
          <p:cNvPr id="6" name="TextBox 5"/>
          <p:cNvSpPr txBox="1"/>
          <p:nvPr/>
        </p:nvSpPr>
        <p:spPr>
          <a:xfrm>
            <a:off x="548640" y="2194560"/>
            <a:ext cx="10972800" cy="365760"/>
          </a:xfrm>
          <a:prstGeom prst="rect">
            <a:avLst/>
          </a:prstGeom>
          <a:noFill/>
        </p:spPr>
        <p:txBody>
          <a:bodyPr wrap="square">
            <a:spAutoFit/>
          </a:bodyPr>
          <a:lstStyle/>
          <a:p>
            <a:pPr algn="l">
              <a:defRPr sz="1400" b="0">
                <a:solidFill>
                  <a:srgbClr val="1A1A1A"/>
                </a:solidFill>
                <a:latin typeface="Calibri"/>
              </a:defRPr>
            </a:pPr>
            <a:r>
              <a:t>An informal, structured debrief conducted immediately after the tabletop exercise. It provides participants, facilitators, observers, and the White Cell with an opportunity to discuss what happened, what went well, what challenges were encountered, what improvements are needed, and immediate lessons learned.</a:t>
            </a:r>
          </a:p>
        </p:txBody>
      </p:sp>
      <p:sp>
        <p:nvSpPr>
          <p:cNvPr id="7" name="TextBox 6"/>
          <p:cNvSpPr txBox="1"/>
          <p:nvPr/>
        </p:nvSpPr>
        <p:spPr>
          <a:xfrm>
            <a:off x="548640" y="2697480"/>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3154680"/>
            <a:ext cx="10972800" cy="2743200"/>
          </a:xfrm>
          <a:prstGeom prst="rect">
            <a:avLst/>
          </a:prstGeom>
          <a:noFill/>
        </p:spPr>
        <p:txBody>
          <a:bodyPr wrap="square">
            <a:spAutoFit/>
          </a:bodyPr>
          <a:lstStyle/>
          <a:p>
            <a:pPr>
              <a:spcAft>
                <a:spcPts val="500"/>
              </a:spcAft>
              <a:defRPr sz="1300">
                <a:solidFill>
                  <a:srgbClr val="1A1A1A"/>
                </a:solidFill>
                <a:latin typeface="Calibri"/>
              </a:defRPr>
            </a:pPr>
            <a:r>
              <a:t>—  Captures fresh observations</a:t>
            </a:r>
          </a:p>
          <a:p>
            <a:pPr>
              <a:spcAft>
                <a:spcPts val="500"/>
              </a:spcAft>
              <a:defRPr sz="1300">
                <a:solidFill>
                  <a:srgbClr val="1A1A1A"/>
                </a:solidFill>
                <a:latin typeface="Calibri"/>
              </a:defRPr>
            </a:pPr>
            <a:r>
              <a:t>—  Encourages open discussion</a:t>
            </a:r>
          </a:p>
          <a:p>
            <a:pPr>
              <a:spcAft>
                <a:spcPts val="500"/>
              </a:spcAft>
              <a:defRPr sz="1300">
                <a:solidFill>
                  <a:srgbClr val="1A1A1A"/>
                </a:solidFill>
                <a:latin typeface="Calibri"/>
              </a:defRPr>
            </a:pPr>
            <a:r>
              <a:t>—  Validates evaluator notes</a:t>
            </a:r>
          </a:p>
          <a:p>
            <a:pPr>
              <a:spcAft>
                <a:spcPts val="500"/>
              </a:spcAft>
              <a:defRPr sz="1300">
                <a:solidFill>
                  <a:srgbClr val="1A1A1A"/>
                </a:solidFill>
                <a:latin typeface="Calibri"/>
              </a:defRPr>
            </a:pPr>
            <a:r>
              <a:t>—  Identifies quick wins</a:t>
            </a:r>
          </a:p>
          <a:p>
            <a:pPr>
              <a:spcAft>
                <a:spcPts val="500"/>
              </a:spcAft>
              <a:defRPr sz="1300">
                <a:solidFill>
                  <a:srgbClr val="1A1A1A"/>
                </a:solidFill>
                <a:latin typeface="Calibri"/>
              </a:defRPr>
            </a:pPr>
            <a:r>
              <a:t>—  Improves future exercises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Conducting an Effective Hot Wash</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Recommended Agenda</a:t>
            </a:r>
          </a:p>
        </p:txBody>
      </p:sp>
      <p:graphicFrame>
        <p:nvGraphicFramePr>
          <p:cNvPr id="6" name="Table 5"/>
          <p:cNvGraphicFramePr>
            <a:graphicFrameLocks noGrp="1"/>
          </p:cNvGraphicFramePr>
          <p:nvPr/>
        </p:nvGraphicFramePr>
        <p:xfrm>
          <a:off x="548640" y="2194560"/>
          <a:ext cx="10972800" cy="32004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Time</a:t>
                      </a:r>
                    </a:p>
                  </a:txBody>
                  <a:tcPr/>
                </a:tc>
                <a:tc>
                  <a:txBody>
                    <a:bodyPr/>
                    <a:lstStyle/>
                    <a:p>
                      <a:pPr>
                        <a:defRPr sz="1100" b="1">
                          <a:solidFill>
                            <a:srgbClr val="666666"/>
                          </a:solidFill>
                        </a:defRPr>
                      </a:pPr>
                      <a:r>
                        <a:t>Activity</a:t>
                      </a:r>
                    </a:p>
                  </a:txBody>
                  <a:tcPr/>
                </a:tc>
              </a:tr>
              <a:tr h="457200">
                <a:tc>
                  <a:txBody>
                    <a:bodyPr/>
                    <a:lstStyle/>
                    <a:p>
                      <a:pPr>
                        <a:defRPr sz="1200">
                          <a:solidFill>
                            <a:srgbClr val="1A1A1A"/>
                          </a:solidFill>
                        </a:defRPr>
                      </a:pPr>
                      <a:r>
                        <a:t>5 min</a:t>
                      </a:r>
                    </a:p>
                  </a:txBody>
                  <a:tcPr/>
                </a:tc>
                <a:tc>
                  <a:txBody>
                    <a:bodyPr/>
                    <a:lstStyle/>
                    <a:p>
                      <a:pPr>
                        <a:defRPr sz="1200">
                          <a:solidFill>
                            <a:srgbClr val="1A1A1A"/>
                          </a:solidFill>
                        </a:defRPr>
                      </a:pPr>
                      <a:r>
                        <a:t>Opening remarks</a:t>
                      </a:r>
                    </a:p>
                  </a:txBody>
                  <a:tcPr/>
                </a:tc>
              </a:tr>
              <a:tr h="457200">
                <a:tc>
                  <a:txBody>
                    <a:bodyPr/>
                    <a:lstStyle/>
                    <a:p>
                      <a:pPr>
                        <a:defRPr sz="1200">
                          <a:solidFill>
                            <a:srgbClr val="1A1A1A"/>
                          </a:solidFill>
                        </a:defRPr>
                      </a:pPr>
                      <a:r>
                        <a:t>10 min</a:t>
                      </a:r>
                    </a:p>
                  </a:txBody>
                  <a:tcPr/>
                </a:tc>
                <a:tc>
                  <a:txBody>
                    <a:bodyPr/>
                    <a:lstStyle/>
                    <a:p>
                      <a:pPr>
                        <a:defRPr sz="1200">
                          <a:solidFill>
                            <a:srgbClr val="1A1A1A"/>
                          </a:solidFill>
                        </a:defRPr>
                      </a:pPr>
                      <a:r>
                        <a:t>Participant reflections</a:t>
                      </a:r>
                    </a:p>
                  </a:txBody>
                  <a:tcPr/>
                </a:tc>
              </a:tr>
              <a:tr h="457200">
                <a:tc>
                  <a:txBody>
                    <a:bodyPr/>
                    <a:lstStyle/>
                    <a:p>
                      <a:pPr>
                        <a:defRPr sz="1200">
                          <a:solidFill>
                            <a:srgbClr val="1A1A1A"/>
                          </a:solidFill>
                        </a:defRPr>
                      </a:pPr>
                      <a:r>
                        <a:t>15 min</a:t>
                      </a:r>
                    </a:p>
                  </a:txBody>
                  <a:tcPr/>
                </a:tc>
                <a:tc>
                  <a:txBody>
                    <a:bodyPr/>
                    <a:lstStyle/>
                    <a:p>
                      <a:pPr>
                        <a:defRPr sz="1200">
                          <a:solidFill>
                            <a:srgbClr val="1A1A1A"/>
                          </a:solidFill>
                        </a:defRPr>
                      </a:pPr>
                      <a:r>
                        <a:t>Observer feedback</a:t>
                      </a:r>
                    </a:p>
                  </a:txBody>
                  <a:tcPr/>
                </a:tc>
              </a:tr>
              <a:tr h="457200">
                <a:tc>
                  <a:txBody>
                    <a:bodyPr/>
                    <a:lstStyle/>
                    <a:p>
                      <a:pPr>
                        <a:defRPr sz="1200">
                          <a:solidFill>
                            <a:srgbClr val="1A1A1A"/>
                          </a:solidFill>
                        </a:defRPr>
                      </a:pPr>
                      <a:r>
                        <a:t>15 min</a:t>
                      </a:r>
                    </a:p>
                  </a:txBody>
                  <a:tcPr/>
                </a:tc>
                <a:tc>
                  <a:txBody>
                    <a:bodyPr/>
                    <a:lstStyle/>
                    <a:p>
                      <a:pPr>
                        <a:defRPr sz="1200">
                          <a:solidFill>
                            <a:srgbClr val="1A1A1A"/>
                          </a:solidFill>
                        </a:defRPr>
                      </a:pPr>
                      <a:r>
                        <a:t>Lessons learned</a:t>
                      </a:r>
                    </a:p>
                  </a:txBody>
                  <a:tcPr/>
                </a:tc>
              </a:tr>
              <a:tr h="457200">
                <a:tc>
                  <a:txBody>
                    <a:bodyPr/>
                    <a:lstStyle/>
                    <a:p>
                      <a:pPr>
                        <a:defRPr sz="1200">
                          <a:solidFill>
                            <a:srgbClr val="1A1A1A"/>
                          </a:solidFill>
                        </a:defRPr>
                      </a:pPr>
                      <a:r>
                        <a:t>10 min</a:t>
                      </a:r>
                    </a:p>
                  </a:txBody>
                  <a:tcPr/>
                </a:tc>
                <a:tc>
                  <a:txBody>
                    <a:bodyPr/>
                    <a:lstStyle/>
                    <a:p>
                      <a:pPr>
                        <a:defRPr sz="1200">
                          <a:solidFill>
                            <a:srgbClr val="1A1A1A"/>
                          </a:solidFill>
                        </a:defRPr>
                      </a:pPr>
                      <a:r>
                        <a:t>Improvement priorities</a:t>
                      </a:r>
                    </a:p>
                  </a:txBody>
                  <a:tcPr/>
                </a:tc>
              </a:tr>
              <a:tr h="457200">
                <a:tc>
                  <a:txBody>
                    <a:bodyPr/>
                    <a:lstStyle/>
                    <a:p>
                      <a:pPr>
                        <a:defRPr sz="1200">
                          <a:solidFill>
                            <a:srgbClr val="1A1A1A"/>
                          </a:solidFill>
                        </a:defRPr>
                      </a:pPr>
                      <a:r>
                        <a:t>5 min</a:t>
                      </a:r>
                    </a:p>
                  </a:txBody>
                  <a:tcPr/>
                </a:tc>
                <a:tc>
                  <a:txBody>
                    <a:bodyPr/>
                    <a:lstStyle/>
                    <a:p>
                      <a:pPr>
                        <a:defRPr sz="1200">
                          <a:solidFill>
                            <a:srgbClr val="1A1A1A"/>
                          </a:solidFill>
                        </a:defRPr>
                      </a:pPr>
                      <a:r>
                        <a:t>Closing remarks</a:t>
                      </a:r>
                    </a:p>
                  </a:txBody>
                  <a:tcPr/>
                </a:tc>
              </a:tr>
            </a:tbl>
          </a:graphicData>
        </a:graphic>
      </p:graphicFrame>
      <p:sp>
        <p:nvSpPr>
          <p:cNvPr id="7" name="TextBox 6"/>
          <p:cNvSpPr txBox="1"/>
          <p:nvPr/>
        </p:nvSpPr>
        <p:spPr>
          <a:xfrm>
            <a:off x="548640" y="5715000"/>
            <a:ext cx="10972800" cy="320040"/>
          </a:xfrm>
          <a:prstGeom prst="rect">
            <a:avLst/>
          </a:prstGeom>
          <a:noFill/>
        </p:spPr>
        <p:txBody>
          <a:bodyPr wrap="square">
            <a:spAutoFit/>
          </a:bodyPr>
          <a:lstStyle/>
          <a:p>
            <a:pPr algn="l">
              <a:defRPr sz="1300" b="1">
                <a:solidFill>
                  <a:srgbClr val="666666"/>
                </a:solidFill>
                <a:latin typeface="Calibri"/>
              </a:defRPr>
            </a:pPr>
            <a:r>
              <a:t>Ground Rules</a:t>
            </a:r>
          </a:p>
        </p:txBody>
      </p:sp>
      <p:sp>
        <p:nvSpPr>
          <p:cNvPr id="8" name="TextBox 7"/>
          <p:cNvSpPr txBox="1"/>
          <p:nvPr/>
        </p:nvSpPr>
        <p:spPr>
          <a:xfrm>
            <a:off x="548640" y="6172200"/>
            <a:ext cx="10972800" cy="2743200"/>
          </a:xfrm>
          <a:prstGeom prst="rect">
            <a:avLst/>
          </a:prstGeom>
          <a:noFill/>
        </p:spPr>
        <p:txBody>
          <a:bodyPr wrap="square">
            <a:spAutoFit/>
          </a:bodyPr>
          <a:lstStyle/>
          <a:p>
            <a:pPr>
              <a:spcAft>
                <a:spcPts val="500"/>
              </a:spcAft>
              <a:defRPr sz="1300">
                <a:solidFill>
                  <a:srgbClr val="1A1A1A"/>
                </a:solidFill>
                <a:latin typeface="Calibri"/>
              </a:defRPr>
            </a:pPr>
            <a:r>
              <a:t>—  Focus on processes</a:t>
            </a:r>
          </a:p>
          <a:p>
            <a:pPr>
              <a:spcAft>
                <a:spcPts val="500"/>
              </a:spcAft>
              <a:defRPr sz="1300">
                <a:solidFill>
                  <a:srgbClr val="1A1A1A"/>
                </a:solidFill>
                <a:latin typeface="Calibri"/>
              </a:defRPr>
            </a:pPr>
            <a:r>
              <a:t>—  Respect all viewpoints</a:t>
            </a:r>
          </a:p>
          <a:p>
            <a:pPr>
              <a:spcAft>
                <a:spcPts val="500"/>
              </a:spcAft>
              <a:defRPr sz="1300">
                <a:solidFill>
                  <a:srgbClr val="1A1A1A"/>
                </a:solidFill>
                <a:latin typeface="Calibri"/>
              </a:defRPr>
            </a:pPr>
            <a:r>
              <a:t>—  Encourage honesty</a:t>
            </a:r>
          </a:p>
          <a:p>
            <a:pPr>
              <a:spcAft>
                <a:spcPts val="500"/>
              </a:spcAft>
              <a:defRPr sz="1300">
                <a:solidFill>
                  <a:srgbClr val="1A1A1A"/>
                </a:solidFill>
                <a:latin typeface="Calibri"/>
              </a:defRPr>
            </a:pPr>
            <a:r>
              <a:t>—  Avoid assigning blame</a:t>
            </a:r>
          </a:p>
          <a:p>
            <a:pPr>
              <a:spcAft>
                <a:spcPts val="500"/>
              </a:spcAft>
              <a:defRPr sz="1300">
                <a:solidFill>
                  <a:srgbClr val="1A1A1A"/>
                </a:solidFill>
                <a:latin typeface="Calibri"/>
              </a:defRPr>
            </a:pPr>
            <a:r>
              <a:t>—  Support observations with examples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Facilitating Constructive Feedback</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Feedback Questions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What worked well?</a:t>
            </a:r>
          </a:p>
          <a:p>
            <a:pPr>
              <a:spcAft>
                <a:spcPts val="500"/>
              </a:spcAft>
              <a:defRPr sz="1300">
                <a:solidFill>
                  <a:srgbClr val="1A1A1A"/>
                </a:solidFill>
                <a:latin typeface="Calibri"/>
              </a:defRPr>
            </a:pPr>
            <a:r>
              <a:t>—  What surprised you?</a:t>
            </a:r>
          </a:p>
          <a:p>
            <a:pPr>
              <a:spcAft>
                <a:spcPts val="500"/>
              </a:spcAft>
              <a:defRPr sz="1300">
                <a:solidFill>
                  <a:srgbClr val="1A1A1A"/>
                </a:solidFill>
                <a:latin typeface="Calibri"/>
              </a:defRPr>
            </a:pPr>
            <a:r>
              <a:t>—  What slowed the response?</a:t>
            </a:r>
          </a:p>
          <a:p>
            <a:pPr>
              <a:spcAft>
                <a:spcPts val="500"/>
              </a:spcAft>
              <a:defRPr sz="1300">
                <a:solidFill>
                  <a:srgbClr val="1A1A1A"/>
                </a:solidFill>
                <a:latin typeface="Calibri"/>
              </a:defRPr>
            </a:pPr>
            <a:r>
              <a:t>—  Which procedures were effective?</a:t>
            </a:r>
          </a:p>
          <a:p>
            <a:pPr>
              <a:spcAft>
                <a:spcPts val="500"/>
              </a:spcAft>
              <a:defRPr sz="1300">
                <a:solidFill>
                  <a:srgbClr val="1A1A1A"/>
                </a:solidFill>
                <a:latin typeface="Calibri"/>
              </a:defRPr>
            </a:pPr>
            <a:r>
              <a:t>—  Which decisions were difficult?</a:t>
            </a:r>
          </a:p>
          <a:p>
            <a:pPr>
              <a:spcAft>
                <a:spcPts val="500"/>
              </a:spcAft>
              <a:defRPr sz="1300">
                <a:solidFill>
                  <a:srgbClr val="1A1A1A"/>
                </a:solidFill>
                <a:latin typeface="Calibri"/>
              </a:defRPr>
            </a:pPr>
            <a:r>
              <a:t>—  What should change before the next exercise?</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Effective Feedback Characteristics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Specific</a:t>
            </a:r>
          </a:p>
          <a:p>
            <a:pPr>
              <a:spcAft>
                <a:spcPts val="500"/>
              </a:spcAft>
              <a:defRPr sz="1300">
                <a:solidFill>
                  <a:srgbClr val="1A1A1A"/>
                </a:solidFill>
                <a:latin typeface="Calibri"/>
              </a:defRPr>
            </a:pPr>
            <a:r>
              <a:t>—  Evidence-based</a:t>
            </a:r>
          </a:p>
          <a:p>
            <a:pPr>
              <a:spcAft>
                <a:spcPts val="500"/>
              </a:spcAft>
              <a:defRPr sz="1300">
                <a:solidFill>
                  <a:srgbClr val="1A1A1A"/>
                </a:solidFill>
                <a:latin typeface="Calibri"/>
              </a:defRPr>
            </a:pPr>
            <a:r>
              <a:t>—  Actionable</a:t>
            </a:r>
          </a:p>
          <a:p>
            <a:pPr>
              <a:spcAft>
                <a:spcPts val="500"/>
              </a:spcAft>
              <a:defRPr sz="1300">
                <a:solidFill>
                  <a:srgbClr val="1A1A1A"/>
                </a:solidFill>
                <a:latin typeface="Calibri"/>
              </a:defRPr>
            </a:pPr>
            <a:r>
              <a:t>—  Respectful</a:t>
            </a:r>
          </a:p>
          <a:p>
            <a:pPr>
              <a:spcAft>
                <a:spcPts val="500"/>
              </a:spcAft>
              <a:defRPr sz="1300">
                <a:solidFill>
                  <a:srgbClr val="1A1A1A"/>
                </a:solidFill>
                <a:latin typeface="Calibri"/>
              </a:defRPr>
            </a:pPr>
            <a:r>
              <a:t>—  Balanced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179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Capturing Lessons Learned</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Lesson Learned Template</a:t>
            </a:r>
          </a:p>
        </p:txBody>
      </p:sp>
      <p:graphicFrame>
        <p:nvGraphicFramePr>
          <p:cNvPr id="6" name="Table 5"/>
          <p:cNvGraphicFramePr>
            <a:graphicFrameLocks noGrp="1"/>
          </p:cNvGraphicFramePr>
          <p:nvPr/>
        </p:nvGraphicFramePr>
        <p:xfrm>
          <a:off x="548640" y="2194560"/>
          <a:ext cx="10972800" cy="1371600"/>
        </p:xfrm>
        <a:graphic>
          <a:graphicData uri="http://schemas.openxmlformats.org/drawingml/2006/table">
            <a:tbl>
              <a:tblPr firstRow="1" bandRow="1">
                <a:tableStyleId>{5C22544A-7EE6-4342-B048-85BDC9FD1C3A}</a:tableStyleId>
              </a:tblPr>
              <a:tblGrid>
                <a:gridCol w="3657600"/>
                <a:gridCol w="3657600"/>
                <a:gridCol w="3657600"/>
              </a:tblGrid>
              <a:tr h="457200">
                <a:tc>
                  <a:txBody>
                    <a:bodyPr/>
                    <a:lstStyle/>
                    <a:p>
                      <a:pPr>
                        <a:defRPr sz="1100" b="1">
                          <a:solidFill>
                            <a:srgbClr val="666666"/>
                          </a:solidFill>
                        </a:defRPr>
                      </a:pPr>
                      <a:r>
                        <a:t>Observation</a:t>
                      </a:r>
                    </a:p>
                  </a:txBody>
                  <a:tcPr/>
                </a:tc>
                <a:tc>
                  <a:txBody>
                    <a:bodyPr/>
                    <a:lstStyle/>
                    <a:p>
                      <a:pPr>
                        <a:defRPr sz="1100" b="1">
                          <a:solidFill>
                            <a:srgbClr val="666666"/>
                          </a:solidFill>
                        </a:defRPr>
                      </a:pPr>
                      <a:r>
                        <a:t>Impact</a:t>
                      </a:r>
                    </a:p>
                  </a:txBody>
                  <a:tcPr/>
                </a:tc>
                <a:tc>
                  <a:txBody>
                    <a:bodyPr/>
                    <a:lstStyle/>
                    <a:p>
                      <a:pPr>
                        <a:defRPr sz="1100" b="1">
                          <a:solidFill>
                            <a:srgbClr val="666666"/>
                          </a:solidFill>
                        </a:defRPr>
                      </a:pPr>
                      <a:r>
                        <a:t>Recommendation</a:t>
                      </a:r>
                    </a:p>
                  </a:txBody>
                  <a:tcPr/>
                </a:tc>
              </a:tr>
              <a:tr h="457200">
                <a:tc>
                  <a:txBody>
                    <a:bodyPr/>
                    <a:lstStyle/>
                    <a:p>
                      <a:pPr>
                        <a:defRPr sz="1200">
                          <a:solidFill>
                            <a:srgbClr val="1A1A1A"/>
                          </a:solidFill>
                        </a:defRPr>
                      </a:pPr>
                      <a:r>
                        <a:t>Notification process unclear</a:t>
                      </a:r>
                    </a:p>
                  </a:txBody>
                  <a:tcPr/>
                </a:tc>
                <a:tc>
                  <a:txBody>
                    <a:bodyPr/>
                    <a:lstStyle/>
                    <a:p>
                      <a:pPr>
                        <a:defRPr sz="1200">
                          <a:solidFill>
                            <a:srgbClr val="1A1A1A"/>
                          </a:solidFill>
                        </a:defRPr>
                      </a:pPr>
                      <a:r>
                        <a:t>Delayed escalation</a:t>
                      </a:r>
                    </a:p>
                  </a:txBody>
                  <a:tcPr/>
                </a:tc>
                <a:tc>
                  <a:txBody>
                    <a:bodyPr/>
                    <a:lstStyle/>
                    <a:p>
                      <a:pPr>
                        <a:defRPr sz="1200">
                          <a:solidFill>
                            <a:srgbClr val="1A1A1A"/>
                          </a:solidFill>
                        </a:defRPr>
                      </a:pPr>
                      <a:r>
                        <a:t>Update notification procedures</a:t>
                      </a:r>
                    </a:p>
                  </a:txBody>
                  <a:tcPr/>
                </a:tc>
              </a:tr>
              <a:tr h="457200">
                <a:tc>
                  <a:txBody>
                    <a:bodyPr/>
                    <a:lstStyle/>
                    <a:p>
                      <a:pPr>
                        <a:defRPr sz="1200">
                          <a:solidFill>
                            <a:srgbClr val="1A1A1A"/>
                          </a:solidFill>
                        </a:defRPr>
                      </a:pPr>
                      <a:r>
                        <a:t>Strong executive engagement</a:t>
                      </a:r>
                    </a:p>
                  </a:txBody>
                  <a:tcPr/>
                </a:tc>
                <a:tc>
                  <a:txBody>
                    <a:bodyPr/>
                    <a:lstStyle/>
                    <a:p>
                      <a:pPr>
                        <a:defRPr sz="1200">
                          <a:solidFill>
                            <a:srgbClr val="1A1A1A"/>
                          </a:solidFill>
                        </a:defRPr>
                      </a:pPr>
                      <a:r>
                        <a:t>Faster decision-making</a:t>
                      </a:r>
                    </a:p>
                  </a:txBody>
                  <a:tcPr/>
                </a:tc>
                <a:tc>
                  <a:txBody>
                    <a:bodyPr/>
                    <a:lstStyle/>
                    <a:p>
                      <a:pPr>
                        <a:defRPr sz="1200">
                          <a:solidFill>
                            <a:srgbClr val="1A1A1A"/>
                          </a:solidFill>
                        </a:defRPr>
                      </a:pPr>
                      <a:r>
                        <a:t>Continue executive participation</a:t>
                      </a:r>
                    </a:p>
                  </a:txBody>
                  <a:tcPr/>
                </a:tc>
              </a:tr>
            </a:tbl>
          </a:graphicData>
        </a:graphic>
      </p:graphicFrame>
      <p:sp>
        <p:nvSpPr>
          <p:cNvPr id="7" name="TextBox 6"/>
          <p:cNvSpPr txBox="1"/>
          <p:nvPr/>
        </p:nvSpPr>
        <p:spPr>
          <a:xfrm>
            <a:off x="548640" y="3886200"/>
            <a:ext cx="10972800" cy="320040"/>
          </a:xfrm>
          <a:prstGeom prst="rect">
            <a:avLst/>
          </a:prstGeom>
          <a:noFill/>
        </p:spPr>
        <p:txBody>
          <a:bodyPr wrap="square">
            <a:spAutoFit/>
          </a:bodyPr>
          <a:lstStyle/>
          <a:p>
            <a:pPr algn="l">
              <a:defRPr sz="1300" b="1">
                <a:solidFill>
                  <a:srgbClr val="666666"/>
                </a:solidFill>
                <a:latin typeface="Calibri"/>
              </a:defRPr>
            </a:pPr>
            <a:r>
              <a:t>Categories</a:t>
            </a:r>
          </a:p>
        </p:txBody>
      </p:sp>
      <p:sp>
        <p:nvSpPr>
          <p:cNvPr id="8" name="TextBox 7"/>
          <p:cNvSpPr txBox="1"/>
          <p:nvPr/>
        </p:nvSpPr>
        <p:spPr>
          <a:xfrm>
            <a:off x="548640" y="4343400"/>
            <a:ext cx="10972800" cy="2743200"/>
          </a:xfrm>
          <a:prstGeom prst="rect">
            <a:avLst/>
          </a:prstGeom>
          <a:noFill/>
        </p:spPr>
        <p:txBody>
          <a:bodyPr wrap="square">
            <a:spAutoFit/>
          </a:bodyPr>
          <a:lstStyle/>
          <a:p>
            <a:pPr>
              <a:spcAft>
                <a:spcPts val="500"/>
              </a:spcAft>
              <a:defRPr sz="1300">
                <a:solidFill>
                  <a:srgbClr val="1A1A1A"/>
                </a:solidFill>
                <a:latin typeface="Calibri"/>
              </a:defRPr>
            </a:pPr>
            <a:r>
              <a:t>—  Governance</a:t>
            </a:r>
          </a:p>
          <a:p>
            <a:pPr>
              <a:spcAft>
                <a:spcPts val="500"/>
              </a:spcAft>
              <a:defRPr sz="1300">
                <a:solidFill>
                  <a:srgbClr val="1A1A1A"/>
                </a:solidFill>
                <a:latin typeface="Calibri"/>
              </a:defRPr>
            </a:pPr>
            <a:r>
              <a:t>—  Communications</a:t>
            </a:r>
          </a:p>
          <a:p>
            <a:pPr>
              <a:spcAft>
                <a:spcPts val="500"/>
              </a:spcAft>
              <a:defRPr sz="1300">
                <a:solidFill>
                  <a:srgbClr val="1A1A1A"/>
                </a:solidFill>
                <a:latin typeface="Calibri"/>
              </a:defRPr>
            </a:pPr>
            <a:r>
              <a:t>—  Technology</a:t>
            </a:r>
          </a:p>
          <a:p>
            <a:pPr>
              <a:spcAft>
                <a:spcPts val="500"/>
              </a:spcAft>
              <a:defRPr sz="1300">
                <a:solidFill>
                  <a:srgbClr val="1A1A1A"/>
                </a:solidFill>
                <a:latin typeface="Calibri"/>
              </a:defRPr>
            </a:pPr>
            <a:r>
              <a:t>—  Incident Response</a:t>
            </a:r>
          </a:p>
          <a:p>
            <a:pPr>
              <a:spcAft>
                <a:spcPts val="500"/>
              </a:spcAft>
              <a:defRPr sz="1300">
                <a:solidFill>
                  <a:srgbClr val="1A1A1A"/>
                </a:solidFill>
                <a:latin typeface="Calibri"/>
              </a:defRPr>
            </a:pPr>
            <a:r>
              <a:t>—  Business Continuity</a:t>
            </a:r>
          </a:p>
          <a:p>
            <a:pPr>
              <a:spcAft>
                <a:spcPts val="500"/>
              </a:spcAft>
              <a:defRPr sz="1300">
                <a:solidFill>
                  <a:srgbClr val="1A1A1A"/>
                </a:solidFill>
                <a:latin typeface="Calibri"/>
              </a:defRPr>
            </a:pPr>
            <a:r>
              <a:t>—  Training</a:t>
            </a:r>
          </a:p>
          <a:p>
            <a:pPr>
              <a:spcAft>
                <a:spcPts val="500"/>
              </a:spcAft>
              <a:defRPr sz="1300">
                <a:solidFill>
                  <a:srgbClr val="1A1A1A"/>
                </a:solidFill>
                <a:latin typeface="Calibri"/>
              </a:defRPr>
            </a:pPr>
            <a:r>
              <a:t>—  Vendor Management</a:t>
            </a:r>
          </a:p>
          <a:p>
            <a:pPr>
              <a:spcAft>
                <a:spcPts val="500"/>
              </a:spcAft>
              <a:defRPr sz="1300">
                <a:solidFill>
                  <a:srgbClr val="1A1A1A"/>
                </a:solidFill>
                <a:latin typeface="Calibri"/>
              </a:defRPr>
            </a:pPr>
            <a:r>
              <a:t>—  Documentation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Root Cause Analysis (RCA)</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Why Perform RCA?</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Prevent recurring problems</a:t>
            </a:r>
          </a:p>
          <a:p>
            <a:pPr>
              <a:spcAft>
                <a:spcPts val="500"/>
              </a:spcAft>
              <a:defRPr sz="1300">
                <a:solidFill>
                  <a:srgbClr val="1A1A1A"/>
                </a:solidFill>
                <a:latin typeface="Calibri"/>
              </a:defRPr>
            </a:pPr>
            <a:r>
              <a:t>—  Improve organizational processes</a:t>
            </a:r>
          </a:p>
          <a:p>
            <a:pPr>
              <a:spcAft>
                <a:spcPts val="500"/>
              </a:spcAft>
              <a:defRPr sz="1300">
                <a:solidFill>
                  <a:srgbClr val="1A1A1A"/>
                </a:solidFill>
                <a:latin typeface="Calibri"/>
              </a:defRPr>
            </a:pPr>
            <a:r>
              <a:t>—  Prioritize corrective actions</a:t>
            </a:r>
          </a:p>
          <a:p>
            <a:pPr>
              <a:spcAft>
                <a:spcPts val="500"/>
              </a:spcAft>
              <a:defRPr sz="1300">
                <a:solidFill>
                  <a:srgbClr val="1A1A1A"/>
                </a:solidFill>
                <a:latin typeface="Calibri"/>
              </a:defRPr>
            </a:pPr>
            <a:r>
              <a:t>—  Strengthen resilience</a:t>
            </a:r>
          </a:p>
        </p:txBody>
      </p:sp>
      <p:sp>
        <p:nvSpPr>
          <p:cNvPr id="7" name="TextBox 6"/>
          <p:cNvSpPr txBox="1"/>
          <p:nvPr/>
        </p:nvSpPr>
        <p:spPr>
          <a:xfrm>
            <a:off x="548640" y="3611880"/>
            <a:ext cx="10972800" cy="320040"/>
          </a:xfrm>
          <a:prstGeom prst="rect">
            <a:avLst/>
          </a:prstGeom>
          <a:noFill/>
        </p:spPr>
        <p:txBody>
          <a:bodyPr wrap="square">
            <a:spAutoFit/>
          </a:bodyPr>
          <a:lstStyle/>
          <a:p>
            <a:pPr algn="l">
              <a:defRPr sz="1300" b="1">
                <a:solidFill>
                  <a:srgbClr val="666666"/>
                </a:solidFill>
                <a:latin typeface="Calibri"/>
              </a:defRPr>
            </a:pPr>
            <a:r>
              <a:t>Common RCA Methods</a:t>
            </a:r>
          </a:p>
        </p:txBody>
      </p:sp>
      <p:sp>
        <p:nvSpPr>
          <p:cNvPr id="8" name="TextBox 7"/>
          <p:cNvSpPr txBox="1"/>
          <p:nvPr/>
        </p:nvSpPr>
        <p:spPr>
          <a:xfrm>
            <a:off x="548640" y="4069080"/>
            <a:ext cx="10972800" cy="2743200"/>
          </a:xfrm>
          <a:prstGeom prst="rect">
            <a:avLst/>
          </a:prstGeom>
          <a:noFill/>
        </p:spPr>
        <p:txBody>
          <a:bodyPr wrap="square">
            <a:spAutoFit/>
          </a:bodyPr>
          <a:lstStyle/>
          <a:p>
            <a:pPr>
              <a:spcAft>
                <a:spcPts val="500"/>
              </a:spcAft>
              <a:defRPr sz="1300">
                <a:solidFill>
                  <a:srgbClr val="1A1A1A"/>
                </a:solidFill>
                <a:latin typeface="Calibri"/>
              </a:defRPr>
            </a:pPr>
            <a:r>
              <a:t>—  Five Whys</a:t>
            </a:r>
          </a:p>
          <a:p>
            <a:pPr>
              <a:spcAft>
                <a:spcPts val="500"/>
              </a:spcAft>
              <a:defRPr sz="1300">
                <a:solidFill>
                  <a:srgbClr val="1A1A1A"/>
                </a:solidFill>
                <a:latin typeface="Calibri"/>
              </a:defRPr>
            </a:pPr>
            <a:r>
              <a:t>—  Fishbone (Ishikawa) Diagram</a:t>
            </a:r>
          </a:p>
          <a:p>
            <a:pPr>
              <a:spcAft>
                <a:spcPts val="500"/>
              </a:spcAft>
              <a:defRPr sz="1300">
                <a:solidFill>
                  <a:srgbClr val="1A1A1A"/>
                </a:solidFill>
                <a:latin typeface="Calibri"/>
              </a:defRPr>
            </a:pPr>
            <a:r>
              <a:t>—  Fault Tree Analysis</a:t>
            </a:r>
          </a:p>
          <a:p>
            <a:pPr>
              <a:spcAft>
                <a:spcPts val="500"/>
              </a:spcAft>
              <a:defRPr sz="1300">
                <a:solidFill>
                  <a:srgbClr val="1A1A1A"/>
                </a:solidFill>
                <a:latin typeface="Calibri"/>
              </a:defRPr>
            </a:pPr>
            <a:r>
              <a:t>—  Cause-and-Effect Analysis</a:t>
            </a:r>
          </a:p>
          <a:p>
            <a:pPr>
              <a:spcAft>
                <a:spcPts val="500"/>
              </a:spcAft>
              <a:defRPr sz="1300">
                <a:solidFill>
                  <a:srgbClr val="1A1A1A"/>
                </a:solidFill>
                <a:latin typeface="Calibri"/>
              </a:defRPr>
            </a:pPr>
            <a:r>
              <a:t>—  Pareto Analysis</a:t>
            </a:r>
          </a:p>
        </p:txBody>
      </p:sp>
      <p:sp>
        <p:nvSpPr>
          <p:cNvPr id="9" name="TextBox 8"/>
          <p:cNvSpPr txBox="1"/>
          <p:nvPr/>
        </p:nvSpPr>
        <p:spPr>
          <a:xfrm>
            <a:off x="548640" y="5806440"/>
            <a:ext cx="10972800" cy="320040"/>
          </a:xfrm>
          <a:prstGeom prst="rect">
            <a:avLst/>
          </a:prstGeom>
          <a:noFill/>
        </p:spPr>
        <p:txBody>
          <a:bodyPr wrap="square">
            <a:spAutoFit/>
          </a:bodyPr>
          <a:lstStyle/>
          <a:p>
            <a:pPr algn="l">
              <a:defRPr sz="1300" b="1">
                <a:solidFill>
                  <a:srgbClr val="666666"/>
                </a:solidFill>
                <a:latin typeface="Calibri"/>
              </a:defRPr>
            </a:pPr>
            <a:r>
              <a:t>Example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The Five Whys Technique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a:t>
            </a:r>
          </a:p>
        </p:txBody>
      </p:sp>
      <p:sp>
        <p:nvSpPr>
          <p:cNvPr id="6" name="TextBox 5"/>
          <p:cNvSpPr txBox="1"/>
          <p:nvPr/>
        </p:nvSpPr>
        <p:spPr>
          <a:xfrm>
            <a:off x="548640" y="2194560"/>
            <a:ext cx="10972800" cy="365760"/>
          </a:xfrm>
          <a:prstGeom prst="rect">
            <a:avLst/>
          </a:prstGeom>
          <a:noFill/>
        </p:spPr>
        <p:txBody>
          <a:bodyPr wrap="square">
            <a:spAutoFit/>
          </a:bodyPr>
          <a:lstStyle/>
          <a:p>
            <a:pPr algn="l">
              <a:defRPr sz="1400" b="0">
                <a:solidFill>
                  <a:srgbClr val="1A1A1A"/>
                </a:solidFill>
                <a:latin typeface="Calibri"/>
              </a:defRPr>
            </a:pPr>
            <a:r>
              <a:t>Problem: Incident response team activated late.</a:t>
            </a:r>
          </a:p>
        </p:txBody>
      </p:sp>
      <p:sp>
        <p:nvSpPr>
          <p:cNvPr id="7" name="TextBox 6"/>
          <p:cNvSpPr txBox="1"/>
          <p:nvPr/>
        </p:nvSpPr>
        <p:spPr>
          <a:xfrm>
            <a:off x="548640" y="2697480"/>
            <a:ext cx="10972800" cy="365760"/>
          </a:xfrm>
          <a:prstGeom prst="rect">
            <a:avLst/>
          </a:prstGeom>
          <a:noFill/>
        </p:spPr>
        <p:txBody>
          <a:bodyPr wrap="square">
            <a:spAutoFit/>
          </a:bodyPr>
          <a:lstStyle/>
          <a:p>
            <a:pPr algn="l">
              <a:defRPr sz="1400" b="0">
                <a:solidFill>
                  <a:srgbClr val="1A1A1A"/>
                </a:solidFill>
                <a:latin typeface="Calibri"/>
              </a:defRPr>
            </a:pPr>
            <a:r>
              <a:t>Why? SOC analyst delayed notification.</a:t>
            </a:r>
          </a:p>
        </p:txBody>
      </p:sp>
      <p:sp>
        <p:nvSpPr>
          <p:cNvPr id="8" name="TextBox 7"/>
          <p:cNvSpPr txBox="1"/>
          <p:nvPr/>
        </p:nvSpPr>
        <p:spPr>
          <a:xfrm>
            <a:off x="548640" y="3200400"/>
            <a:ext cx="10972800" cy="365760"/>
          </a:xfrm>
          <a:prstGeom prst="rect">
            <a:avLst/>
          </a:prstGeom>
          <a:noFill/>
        </p:spPr>
        <p:txBody>
          <a:bodyPr wrap="square">
            <a:spAutoFit/>
          </a:bodyPr>
          <a:lstStyle/>
          <a:p>
            <a:pPr algn="l">
              <a:defRPr sz="1400" b="0">
                <a:solidFill>
                  <a:srgbClr val="1A1A1A"/>
                </a:solidFill>
                <a:latin typeface="Calibri"/>
              </a:defRPr>
            </a:pPr>
            <a:r>
              <a:t>Why? Escalation criteria unclear.</a:t>
            </a:r>
          </a:p>
        </p:txBody>
      </p:sp>
      <p:sp>
        <p:nvSpPr>
          <p:cNvPr id="9" name="TextBox 8"/>
          <p:cNvSpPr txBox="1"/>
          <p:nvPr/>
        </p:nvSpPr>
        <p:spPr>
          <a:xfrm>
            <a:off x="548640" y="3703320"/>
            <a:ext cx="10972800" cy="365760"/>
          </a:xfrm>
          <a:prstGeom prst="rect">
            <a:avLst/>
          </a:prstGeom>
          <a:noFill/>
        </p:spPr>
        <p:txBody>
          <a:bodyPr wrap="square">
            <a:spAutoFit/>
          </a:bodyPr>
          <a:lstStyle/>
          <a:p>
            <a:pPr algn="l">
              <a:defRPr sz="1400" b="0">
                <a:solidFill>
                  <a:srgbClr val="1A1A1A"/>
                </a:solidFill>
                <a:latin typeface="Calibri"/>
              </a:defRPr>
            </a:pPr>
            <a:r>
              <a:t>Why? Incident response playbook outdated.</a:t>
            </a:r>
          </a:p>
        </p:txBody>
      </p:sp>
      <p:sp>
        <p:nvSpPr>
          <p:cNvPr id="10" name="TextBox 9"/>
          <p:cNvSpPr txBox="1"/>
          <p:nvPr/>
        </p:nvSpPr>
        <p:spPr>
          <a:xfrm>
            <a:off x="548640" y="4206240"/>
            <a:ext cx="10972800" cy="365760"/>
          </a:xfrm>
          <a:prstGeom prst="rect">
            <a:avLst/>
          </a:prstGeom>
          <a:noFill/>
        </p:spPr>
        <p:txBody>
          <a:bodyPr wrap="square">
            <a:spAutoFit/>
          </a:bodyPr>
          <a:lstStyle/>
          <a:p>
            <a:pPr algn="l">
              <a:defRPr sz="1400" b="0">
                <a:solidFill>
                  <a:srgbClr val="1A1A1A"/>
                </a:solidFill>
                <a:latin typeface="Calibri"/>
              </a:defRPr>
            </a:pPr>
            <a:r>
              <a:t>Why? No scheduled review process.</a:t>
            </a:r>
          </a:p>
        </p:txBody>
      </p:sp>
      <p:sp>
        <p:nvSpPr>
          <p:cNvPr id="11" name="TextBox 10"/>
          <p:cNvSpPr txBox="1"/>
          <p:nvPr/>
        </p:nvSpPr>
        <p:spPr>
          <a:xfrm>
            <a:off x="548640" y="4709160"/>
            <a:ext cx="10972800" cy="365760"/>
          </a:xfrm>
          <a:prstGeom prst="rect">
            <a:avLst/>
          </a:prstGeom>
          <a:noFill/>
        </p:spPr>
        <p:txBody>
          <a:bodyPr wrap="square">
            <a:spAutoFit/>
          </a:bodyPr>
          <a:lstStyle/>
          <a:p>
            <a:pPr algn="l">
              <a:defRPr sz="1400" b="0">
                <a:solidFill>
                  <a:srgbClr val="1A1A1A"/>
                </a:solidFill>
                <a:latin typeface="Calibri"/>
              </a:defRPr>
            </a:pPr>
            <a:r>
              <a:t>Why? Governance process missing.</a:t>
            </a:r>
          </a:p>
        </p:txBody>
      </p:sp>
      <p:sp>
        <p:nvSpPr>
          <p:cNvPr id="12" name="TextBox 11"/>
          <p:cNvSpPr txBox="1"/>
          <p:nvPr/>
        </p:nvSpPr>
        <p:spPr>
          <a:xfrm>
            <a:off x="548640" y="5212080"/>
            <a:ext cx="10972800" cy="320040"/>
          </a:xfrm>
          <a:prstGeom prst="rect">
            <a:avLst/>
          </a:prstGeom>
          <a:noFill/>
        </p:spPr>
        <p:txBody>
          <a:bodyPr wrap="square">
            <a:spAutoFit/>
          </a:bodyPr>
          <a:lstStyle/>
          <a:p>
            <a:pPr algn="l">
              <a:defRPr sz="1300" b="1">
                <a:solidFill>
                  <a:srgbClr val="666666"/>
                </a:solidFill>
                <a:latin typeface="Calibri"/>
              </a:defRPr>
            </a:pPr>
            <a:r>
              <a:t>Outcome</a:t>
            </a:r>
          </a:p>
        </p:txBody>
      </p:sp>
      <p:sp>
        <p:nvSpPr>
          <p:cNvPr id="13" name="TextBox 12"/>
          <p:cNvSpPr txBox="1"/>
          <p:nvPr/>
        </p:nvSpPr>
        <p:spPr>
          <a:xfrm>
            <a:off x="548640" y="5669280"/>
            <a:ext cx="10972800" cy="365760"/>
          </a:xfrm>
          <a:prstGeom prst="rect">
            <a:avLst/>
          </a:prstGeom>
          <a:noFill/>
        </p:spPr>
        <p:txBody>
          <a:bodyPr wrap="square">
            <a:spAutoFit/>
          </a:bodyPr>
          <a:lstStyle/>
          <a:p>
            <a:pPr algn="l">
              <a:defRPr sz="1400" b="0">
                <a:solidFill>
                  <a:srgbClr val="1A1A1A"/>
                </a:solidFill>
                <a:latin typeface="Calibri"/>
              </a:defRPr>
            </a:pPr>
            <a:r>
              <a:t>Update governance procedures and establish annual playbook reviews.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Fishbone (Ishikawa) Analysis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Categories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People</a:t>
            </a:r>
          </a:p>
          <a:p>
            <a:pPr>
              <a:spcAft>
                <a:spcPts val="500"/>
              </a:spcAft>
              <a:defRPr sz="1300">
                <a:solidFill>
                  <a:srgbClr val="1A1A1A"/>
                </a:solidFill>
                <a:latin typeface="Calibri"/>
              </a:defRPr>
            </a:pPr>
            <a:r>
              <a:t>—  Process</a:t>
            </a:r>
          </a:p>
          <a:p>
            <a:pPr>
              <a:spcAft>
                <a:spcPts val="500"/>
              </a:spcAft>
              <a:defRPr sz="1300">
                <a:solidFill>
                  <a:srgbClr val="1A1A1A"/>
                </a:solidFill>
                <a:latin typeface="Calibri"/>
              </a:defRPr>
            </a:pPr>
            <a:r>
              <a:t>—  Technology</a:t>
            </a:r>
          </a:p>
          <a:p>
            <a:pPr>
              <a:spcAft>
                <a:spcPts val="500"/>
              </a:spcAft>
              <a:defRPr sz="1300">
                <a:solidFill>
                  <a:srgbClr val="1A1A1A"/>
                </a:solidFill>
                <a:latin typeface="Calibri"/>
              </a:defRPr>
            </a:pPr>
            <a:r>
              <a:t>—  Policies</a:t>
            </a:r>
          </a:p>
          <a:p>
            <a:pPr>
              <a:spcAft>
                <a:spcPts val="500"/>
              </a:spcAft>
              <a:defRPr sz="1300">
                <a:solidFill>
                  <a:srgbClr val="1A1A1A"/>
                </a:solidFill>
                <a:latin typeface="Calibri"/>
              </a:defRPr>
            </a:pPr>
            <a:r>
              <a:t>—  Training</a:t>
            </a:r>
          </a:p>
          <a:p>
            <a:pPr>
              <a:spcAft>
                <a:spcPts val="500"/>
              </a:spcAft>
              <a:defRPr sz="1300">
                <a:solidFill>
                  <a:srgbClr val="1A1A1A"/>
                </a:solidFill>
                <a:latin typeface="Calibri"/>
              </a:defRPr>
            </a:pPr>
            <a:r>
              <a:t>—  Communications</a:t>
            </a:r>
          </a:p>
          <a:p>
            <a:pPr>
              <a:spcAft>
                <a:spcPts val="500"/>
              </a:spcAft>
              <a:defRPr sz="1300">
                <a:solidFill>
                  <a:srgbClr val="1A1A1A"/>
                </a:solidFill>
                <a:latin typeface="Calibri"/>
              </a:defRPr>
            </a:pPr>
            <a:r>
              <a:t>—  Third Parties</a:t>
            </a:r>
          </a:p>
          <a:p>
            <a:pPr>
              <a:spcAft>
                <a:spcPts val="500"/>
              </a:spcAft>
              <a:defRPr sz="1300">
                <a:solidFill>
                  <a:srgbClr val="1A1A1A"/>
                </a:solidFill>
                <a:latin typeface="Calibri"/>
              </a:defRPr>
            </a:pPr>
            <a:r>
              <a:t>—  Environment</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Structured analysis</a:t>
            </a:r>
          </a:p>
          <a:p>
            <a:pPr>
              <a:spcAft>
                <a:spcPts val="500"/>
              </a:spcAft>
              <a:defRPr sz="1300">
                <a:solidFill>
                  <a:srgbClr val="1A1A1A"/>
                </a:solidFill>
                <a:latin typeface="Calibri"/>
              </a:defRPr>
            </a:pPr>
            <a:r>
              <a:t>—  Collaborative discussion</a:t>
            </a:r>
          </a:p>
          <a:p>
            <a:pPr>
              <a:spcAft>
                <a:spcPts val="500"/>
              </a:spcAft>
              <a:defRPr sz="1300">
                <a:solidFill>
                  <a:srgbClr val="1A1A1A"/>
                </a:solidFill>
                <a:latin typeface="Calibri"/>
              </a:defRPr>
            </a:pPr>
            <a:r>
              <a:t>—  Comprehensive coverage</a:t>
            </a:r>
          </a:p>
          <a:p>
            <a:pPr>
              <a:spcAft>
                <a:spcPts val="500"/>
              </a:spcAft>
              <a:defRPr sz="1300">
                <a:solidFill>
                  <a:srgbClr val="1A1A1A"/>
                </a:solidFill>
                <a:latin typeface="Calibri"/>
              </a:defRPr>
            </a:pPr>
            <a:r>
              <a:t>—  Visual representation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Writing the After Action Report (AAR)</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Typical AAR Sections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1. Executive Summary</a:t>
            </a:r>
          </a:p>
          <a:p>
            <a:pPr>
              <a:spcAft>
                <a:spcPts val="500"/>
              </a:spcAft>
              <a:defRPr sz="1300">
                <a:solidFill>
                  <a:srgbClr val="1A1A1A"/>
                </a:solidFill>
                <a:latin typeface="Calibri"/>
              </a:defRPr>
            </a:pPr>
            <a:r>
              <a:t>—  2. Exercise Overview</a:t>
            </a:r>
          </a:p>
          <a:p>
            <a:pPr>
              <a:spcAft>
                <a:spcPts val="500"/>
              </a:spcAft>
              <a:defRPr sz="1300">
                <a:solidFill>
                  <a:srgbClr val="1A1A1A"/>
                </a:solidFill>
                <a:latin typeface="Calibri"/>
              </a:defRPr>
            </a:pPr>
            <a:r>
              <a:t>—  3. Objectives</a:t>
            </a:r>
          </a:p>
          <a:p>
            <a:pPr>
              <a:spcAft>
                <a:spcPts val="500"/>
              </a:spcAft>
              <a:defRPr sz="1300">
                <a:solidFill>
                  <a:srgbClr val="1A1A1A"/>
                </a:solidFill>
                <a:latin typeface="Calibri"/>
              </a:defRPr>
            </a:pPr>
            <a:r>
              <a:t>—  4. Scenario Summary</a:t>
            </a:r>
          </a:p>
          <a:p>
            <a:pPr>
              <a:spcAft>
                <a:spcPts val="500"/>
              </a:spcAft>
              <a:defRPr sz="1300">
                <a:solidFill>
                  <a:srgbClr val="1A1A1A"/>
                </a:solidFill>
                <a:latin typeface="Calibri"/>
              </a:defRPr>
            </a:pPr>
            <a:r>
              <a:t>—  5. Observations</a:t>
            </a:r>
          </a:p>
          <a:p>
            <a:pPr>
              <a:spcAft>
                <a:spcPts val="500"/>
              </a:spcAft>
              <a:defRPr sz="1300">
                <a:solidFill>
                  <a:srgbClr val="1A1A1A"/>
                </a:solidFill>
                <a:latin typeface="Calibri"/>
              </a:defRPr>
            </a:pPr>
            <a:r>
              <a:t>—  6. Strengths</a:t>
            </a:r>
          </a:p>
          <a:p>
            <a:pPr>
              <a:spcAft>
                <a:spcPts val="500"/>
              </a:spcAft>
              <a:defRPr sz="1300">
                <a:solidFill>
                  <a:srgbClr val="1A1A1A"/>
                </a:solidFill>
                <a:latin typeface="Calibri"/>
              </a:defRPr>
            </a:pPr>
            <a:r>
              <a:t>—  7. Areas for Improvement</a:t>
            </a:r>
          </a:p>
          <a:p>
            <a:pPr>
              <a:spcAft>
                <a:spcPts val="500"/>
              </a:spcAft>
              <a:defRPr sz="1300">
                <a:solidFill>
                  <a:srgbClr val="1A1A1A"/>
                </a:solidFill>
                <a:latin typeface="Calibri"/>
              </a:defRPr>
            </a:pPr>
            <a:r>
              <a:t>—  8. Recommendations</a:t>
            </a:r>
          </a:p>
          <a:p>
            <a:pPr>
              <a:spcAft>
                <a:spcPts val="500"/>
              </a:spcAft>
              <a:defRPr sz="1300">
                <a:solidFill>
                  <a:srgbClr val="1A1A1A"/>
                </a:solidFill>
                <a:latin typeface="Calibri"/>
              </a:defRPr>
            </a:pPr>
            <a:r>
              <a:t>—  9. Corrective Action Plan</a:t>
            </a:r>
          </a:p>
          <a:p>
            <a:pPr>
              <a:spcAft>
                <a:spcPts val="500"/>
              </a:spcAft>
              <a:defRPr sz="1300">
                <a:solidFill>
                  <a:srgbClr val="1A1A1A"/>
                </a:solidFill>
                <a:latin typeface="Calibri"/>
              </a:defRPr>
            </a:pPr>
            <a:r>
              <a:t>—  10. Appendices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Audience</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Executive leadership</a:t>
            </a:r>
          </a:p>
          <a:p>
            <a:pPr>
              <a:spcAft>
                <a:spcPts val="500"/>
              </a:spcAft>
              <a:defRPr sz="1300">
                <a:solidFill>
                  <a:srgbClr val="1A1A1A"/>
                </a:solidFill>
                <a:latin typeface="Calibri"/>
              </a:defRPr>
            </a:pPr>
            <a:r>
              <a:t>—  Security management</a:t>
            </a:r>
          </a:p>
          <a:p>
            <a:pPr>
              <a:spcAft>
                <a:spcPts val="500"/>
              </a:spcAft>
              <a:defRPr sz="1300">
                <a:solidFill>
                  <a:srgbClr val="1A1A1A"/>
                </a:solidFill>
                <a:latin typeface="Calibri"/>
              </a:defRPr>
            </a:pPr>
            <a:r>
              <a:t>—  Risk committee</a:t>
            </a:r>
          </a:p>
          <a:p>
            <a:pPr>
              <a:spcAft>
                <a:spcPts val="500"/>
              </a:spcAft>
              <a:defRPr sz="1300">
                <a:solidFill>
                  <a:srgbClr val="1A1A1A"/>
                </a:solidFill>
                <a:latin typeface="Calibri"/>
              </a:defRPr>
            </a:pPr>
            <a:r>
              <a:t>—  Regulators (where applicable)</a:t>
            </a:r>
          </a:p>
          <a:p>
            <a:pPr>
              <a:spcAft>
                <a:spcPts val="500"/>
              </a:spcAft>
              <a:defRPr sz="1300">
                <a:solidFill>
                  <a:srgbClr val="1A1A1A"/>
                </a:solidFill>
                <a:latin typeface="Calibri"/>
              </a:defRPr>
            </a:pPr>
            <a:r>
              <a:t>—  Internal audit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Executive Summary</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Executive Summary Should Include</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objectives</a:t>
            </a:r>
          </a:p>
          <a:p>
            <a:pPr>
              <a:spcAft>
                <a:spcPts val="500"/>
              </a:spcAft>
              <a:defRPr sz="1300">
                <a:solidFill>
                  <a:srgbClr val="1A1A1A"/>
                </a:solidFill>
                <a:latin typeface="Calibri"/>
              </a:defRPr>
            </a:pPr>
            <a:r>
              <a:t>—  Overall assessment</a:t>
            </a:r>
          </a:p>
          <a:p>
            <a:pPr>
              <a:spcAft>
                <a:spcPts val="500"/>
              </a:spcAft>
              <a:defRPr sz="1300">
                <a:solidFill>
                  <a:srgbClr val="1A1A1A"/>
                </a:solidFill>
                <a:latin typeface="Calibri"/>
              </a:defRPr>
            </a:pPr>
            <a:r>
              <a:t>—  Major strengths</a:t>
            </a:r>
          </a:p>
          <a:p>
            <a:pPr>
              <a:spcAft>
                <a:spcPts val="500"/>
              </a:spcAft>
              <a:defRPr sz="1300">
                <a:solidFill>
                  <a:srgbClr val="1A1A1A"/>
                </a:solidFill>
                <a:latin typeface="Calibri"/>
              </a:defRPr>
            </a:pPr>
            <a:r>
              <a:t>—  Significant gaps</a:t>
            </a:r>
          </a:p>
          <a:p>
            <a:pPr>
              <a:spcAft>
                <a:spcPts val="500"/>
              </a:spcAft>
              <a:defRPr sz="1300">
                <a:solidFill>
                  <a:srgbClr val="1A1A1A"/>
                </a:solidFill>
                <a:latin typeface="Calibri"/>
              </a:defRPr>
            </a:pPr>
            <a:r>
              <a:t>—  Key recommendations</a:t>
            </a:r>
          </a:p>
          <a:p>
            <a:pPr>
              <a:spcAft>
                <a:spcPts val="500"/>
              </a:spcAft>
              <a:defRPr sz="1300">
                <a:solidFill>
                  <a:srgbClr val="1A1A1A"/>
                </a:solidFill>
                <a:latin typeface="Calibri"/>
              </a:defRPr>
            </a:pPr>
            <a:r>
              <a:t>—  Next steps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Writing Tips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Keep concise</a:t>
            </a:r>
          </a:p>
          <a:p>
            <a:pPr>
              <a:spcAft>
                <a:spcPts val="500"/>
              </a:spcAft>
              <a:defRPr sz="1300">
                <a:solidFill>
                  <a:srgbClr val="1A1A1A"/>
                </a:solidFill>
                <a:latin typeface="Calibri"/>
              </a:defRPr>
            </a:pPr>
            <a:r>
              <a:t>—  Focus on business impacts</a:t>
            </a:r>
          </a:p>
          <a:p>
            <a:pPr>
              <a:spcAft>
                <a:spcPts val="500"/>
              </a:spcAft>
              <a:defRPr sz="1300">
                <a:solidFill>
                  <a:srgbClr val="1A1A1A"/>
                </a:solidFill>
                <a:latin typeface="Calibri"/>
              </a:defRPr>
            </a:pPr>
            <a:r>
              <a:t>—  Avoid excessive technical detail</a:t>
            </a:r>
          </a:p>
          <a:p>
            <a:pPr>
              <a:spcAft>
                <a:spcPts val="500"/>
              </a:spcAft>
              <a:defRPr sz="1300">
                <a:solidFill>
                  <a:srgbClr val="1A1A1A"/>
                </a:solidFill>
                <a:latin typeface="Calibri"/>
              </a:defRPr>
            </a:pPr>
            <a:r>
              <a:t>—  Prioritize strategic recommendations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Documenting Findings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Finding Template</a:t>
            </a:r>
          </a:p>
        </p:txBody>
      </p:sp>
      <p:graphicFrame>
        <p:nvGraphicFramePr>
          <p:cNvPr id="6" name="Table 5"/>
          <p:cNvGraphicFramePr>
            <a:graphicFrameLocks noGrp="1"/>
          </p:cNvGraphicFramePr>
          <p:nvPr/>
        </p:nvGraphicFramePr>
        <p:xfrm>
          <a:off x="548640" y="2194560"/>
          <a:ext cx="10972800" cy="1828800"/>
        </p:xfrm>
        <a:graphic>
          <a:graphicData uri="http://schemas.openxmlformats.org/drawingml/2006/table">
            <a:tbl>
              <a:tblPr firstRow="1" bandRow="1">
                <a:tableStyleId>{5C22544A-7EE6-4342-B048-85BDC9FD1C3A}</a:tableStyleId>
              </a:tblPr>
              <a:tblGrid>
                <a:gridCol w="3657600"/>
                <a:gridCol w="3657600"/>
                <a:gridCol w="3657600"/>
              </a:tblGrid>
              <a:tr h="457200">
                <a:tc>
                  <a:txBody>
                    <a:bodyPr/>
                    <a:lstStyle/>
                    <a:p>
                      <a:pPr>
                        <a:defRPr sz="1100" b="1">
                          <a:solidFill>
                            <a:srgbClr val="666666"/>
                          </a:solidFill>
                        </a:defRPr>
                      </a:pPr>
                      <a:r>
                        <a:t>Finding</a:t>
                      </a:r>
                    </a:p>
                  </a:txBody>
                  <a:tcPr/>
                </a:tc>
                <a:tc>
                  <a:txBody>
                    <a:bodyPr/>
                    <a:lstStyle/>
                    <a:p>
                      <a:pPr>
                        <a:defRPr sz="1100" b="1">
                          <a:solidFill>
                            <a:srgbClr val="666666"/>
                          </a:solidFill>
                        </a:defRPr>
                      </a:pPr>
                      <a:r>
                        <a:t>Evidence</a:t>
                      </a:r>
                    </a:p>
                  </a:txBody>
                  <a:tcPr/>
                </a:tc>
                <a:tc>
                  <a:txBody>
                    <a:bodyPr/>
                    <a:lstStyle/>
                    <a:p>
                      <a:pPr>
                        <a:defRPr sz="1100" b="1">
                          <a:solidFill>
                            <a:srgbClr val="666666"/>
                          </a:solidFill>
                        </a:defRPr>
                      </a:pPr>
                      <a:r>
                        <a:t>Impact</a:t>
                      </a:r>
                    </a:p>
                  </a:txBody>
                  <a:tcPr/>
                </a:tc>
              </a:tr>
              <a:tr h="457200">
                <a:tc>
                  <a:txBody>
                    <a:bodyPr/>
                    <a:lstStyle/>
                    <a:p>
                      <a:pPr>
                        <a:defRPr sz="1200">
                          <a:solidFill>
                            <a:srgbClr val="1A1A1A"/>
                          </a:solidFill>
                        </a:defRPr>
                      </a:pPr>
                      <a:r>
                        <a:t>Notification delays</a:t>
                      </a:r>
                    </a:p>
                  </a:txBody>
                  <a:tcPr/>
                </a:tc>
                <a:tc>
                  <a:txBody>
                    <a:bodyPr/>
                    <a:lstStyle/>
                    <a:p>
                      <a:pPr>
                        <a:defRPr sz="1200">
                          <a:solidFill>
                            <a:srgbClr val="1A1A1A"/>
                          </a:solidFill>
                        </a:defRPr>
                      </a:pPr>
                      <a:r>
                        <a:t>Observer notes</a:t>
                      </a:r>
                    </a:p>
                  </a:txBody>
                  <a:tcPr/>
                </a:tc>
                <a:tc>
                  <a:txBody>
                    <a:bodyPr/>
                    <a:lstStyle/>
                    <a:p>
                      <a:pPr>
                        <a:defRPr sz="1200">
                          <a:solidFill>
                            <a:srgbClr val="1A1A1A"/>
                          </a:solidFill>
                        </a:defRPr>
                      </a:pPr>
                      <a:r>
                        <a:t>Slower response</a:t>
                      </a:r>
                    </a:p>
                  </a:txBody>
                  <a:tcPr/>
                </a:tc>
              </a:tr>
              <a:tr h="457200">
                <a:tc>
                  <a:txBody>
                    <a:bodyPr/>
                    <a:lstStyle/>
                    <a:p>
                      <a:pPr>
                        <a:defRPr sz="1200">
                          <a:solidFill>
                            <a:srgbClr val="1A1A1A"/>
                          </a:solidFill>
                        </a:defRPr>
                      </a:pPr>
                      <a:r>
                        <a:t>Strong executive engagement</a:t>
                      </a:r>
                    </a:p>
                  </a:txBody>
                  <a:tcPr/>
                </a:tc>
                <a:tc>
                  <a:txBody>
                    <a:bodyPr/>
                    <a:lstStyle/>
                    <a:p>
                      <a:pPr>
                        <a:defRPr sz="1200">
                          <a:solidFill>
                            <a:srgbClr val="1A1A1A"/>
                          </a:solidFill>
                        </a:defRPr>
                      </a:pPr>
                      <a:r>
                        <a:t>Decision log</a:t>
                      </a:r>
                    </a:p>
                  </a:txBody>
                  <a:tcPr/>
                </a:tc>
                <a:tc>
                  <a:txBody>
                    <a:bodyPr/>
                    <a:lstStyle/>
                    <a:p>
                      <a:pPr>
                        <a:defRPr sz="1200">
                          <a:solidFill>
                            <a:srgbClr val="1A1A1A"/>
                          </a:solidFill>
                        </a:defRPr>
                      </a:pPr>
                      <a:r>
                        <a:t>Faster approvals</a:t>
                      </a:r>
                    </a:p>
                  </a:txBody>
                  <a:tcPr/>
                </a:tc>
              </a:tr>
              <a:tr h="457200">
                <a:tc>
                  <a:txBody>
                    <a:bodyPr/>
                    <a:lstStyle/>
                    <a:p>
                      <a:pPr>
                        <a:defRPr sz="1200">
                          <a:solidFill>
                            <a:srgbClr val="1A1A1A"/>
                          </a:solidFill>
                        </a:defRPr>
                      </a:pPr>
                      <a:r>
                        <a:t>Missing vendor contacts</a:t>
                      </a:r>
                    </a:p>
                  </a:txBody>
                  <a:tcPr/>
                </a:tc>
                <a:tc>
                  <a:txBody>
                    <a:bodyPr/>
                    <a:lstStyle/>
                    <a:p>
                      <a:pPr>
                        <a:defRPr sz="1200">
                          <a:solidFill>
                            <a:srgbClr val="1A1A1A"/>
                          </a:solidFill>
                        </a:defRPr>
                      </a:pPr>
                      <a:r>
                        <a:t>Hot Wash</a:t>
                      </a:r>
                    </a:p>
                  </a:txBody>
                  <a:tcPr/>
                </a:tc>
                <a:tc>
                  <a:txBody>
                    <a:bodyPr/>
                    <a:lstStyle/>
                    <a:p>
                      <a:pPr>
                        <a:defRPr sz="1200">
                          <a:solidFill>
                            <a:srgbClr val="1A1A1A"/>
                          </a:solidFill>
                        </a:defRPr>
                      </a:pPr>
                      <a:r>
                        <a:t>Delayed coordination</a:t>
                      </a:r>
                    </a:p>
                  </a:txBody>
                  <a:tcPr/>
                </a:tc>
              </a:tr>
            </a:tbl>
          </a:graphicData>
        </a:graphic>
      </p:graphicFrame>
      <p:sp>
        <p:nvSpPr>
          <p:cNvPr id="7" name="TextBox 6"/>
          <p:cNvSpPr txBox="1"/>
          <p:nvPr/>
        </p:nvSpPr>
        <p:spPr>
          <a:xfrm>
            <a:off x="548640" y="4343400"/>
            <a:ext cx="10972800" cy="320040"/>
          </a:xfrm>
          <a:prstGeom prst="rect">
            <a:avLst/>
          </a:prstGeom>
          <a:noFill/>
        </p:spPr>
        <p:txBody>
          <a:bodyPr wrap="square">
            <a:spAutoFit/>
          </a:bodyPr>
          <a:lstStyle/>
          <a:p>
            <a:pPr algn="l">
              <a:defRPr sz="1300" b="1">
                <a:solidFill>
                  <a:srgbClr val="666666"/>
                </a:solidFill>
                <a:latin typeface="Calibri"/>
              </a:defRPr>
            </a:pPr>
            <a:r>
              <a:t>Characteristics of Good Findings</a:t>
            </a:r>
          </a:p>
        </p:txBody>
      </p:sp>
      <p:sp>
        <p:nvSpPr>
          <p:cNvPr id="8" name="TextBox 7"/>
          <p:cNvSpPr txBox="1"/>
          <p:nvPr/>
        </p:nvSpPr>
        <p:spPr>
          <a:xfrm>
            <a:off x="548640" y="4800600"/>
            <a:ext cx="10972800" cy="2743200"/>
          </a:xfrm>
          <a:prstGeom prst="rect">
            <a:avLst/>
          </a:prstGeom>
          <a:noFill/>
        </p:spPr>
        <p:txBody>
          <a:bodyPr wrap="square">
            <a:spAutoFit/>
          </a:bodyPr>
          <a:lstStyle/>
          <a:p>
            <a:pPr>
              <a:spcAft>
                <a:spcPts val="500"/>
              </a:spcAft>
              <a:defRPr sz="1300">
                <a:solidFill>
                  <a:srgbClr val="1A1A1A"/>
                </a:solidFill>
                <a:latin typeface="Calibri"/>
              </a:defRPr>
            </a:pPr>
            <a:r>
              <a:t>—  Objective</a:t>
            </a:r>
          </a:p>
          <a:p>
            <a:pPr>
              <a:spcAft>
                <a:spcPts val="500"/>
              </a:spcAft>
              <a:defRPr sz="1300">
                <a:solidFill>
                  <a:srgbClr val="1A1A1A"/>
                </a:solidFill>
                <a:latin typeface="Calibri"/>
              </a:defRPr>
            </a:pPr>
            <a:r>
              <a:t>—  Evidence-based</a:t>
            </a:r>
          </a:p>
          <a:p>
            <a:pPr>
              <a:spcAft>
                <a:spcPts val="500"/>
              </a:spcAft>
              <a:defRPr sz="1300">
                <a:solidFill>
                  <a:srgbClr val="1A1A1A"/>
                </a:solidFill>
                <a:latin typeface="Calibri"/>
              </a:defRPr>
            </a:pPr>
            <a:r>
              <a:t>—  Actionable</a:t>
            </a:r>
          </a:p>
          <a:p>
            <a:pPr>
              <a:spcAft>
                <a:spcPts val="500"/>
              </a:spcAft>
              <a:defRPr sz="1300">
                <a:solidFill>
                  <a:srgbClr val="1A1A1A"/>
                </a:solidFill>
                <a:latin typeface="Calibri"/>
              </a:defRPr>
            </a:pPr>
            <a:r>
              <a:t>—  Relevant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Developing Corrective Action Plans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Corrective Action Components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Action description</a:t>
            </a:r>
          </a:p>
          <a:p>
            <a:pPr>
              <a:spcAft>
                <a:spcPts val="500"/>
              </a:spcAft>
              <a:defRPr sz="1300">
                <a:solidFill>
                  <a:srgbClr val="1A1A1A"/>
                </a:solidFill>
                <a:latin typeface="Calibri"/>
              </a:defRPr>
            </a:pPr>
            <a:r>
              <a:t>—  Responsible owner</a:t>
            </a:r>
          </a:p>
          <a:p>
            <a:pPr>
              <a:spcAft>
                <a:spcPts val="500"/>
              </a:spcAft>
              <a:defRPr sz="1300">
                <a:solidFill>
                  <a:srgbClr val="1A1A1A"/>
                </a:solidFill>
                <a:latin typeface="Calibri"/>
              </a:defRPr>
            </a:pPr>
            <a:r>
              <a:t>—  Priority</a:t>
            </a:r>
          </a:p>
          <a:p>
            <a:pPr>
              <a:spcAft>
                <a:spcPts val="500"/>
              </a:spcAft>
              <a:defRPr sz="1300">
                <a:solidFill>
                  <a:srgbClr val="1A1A1A"/>
                </a:solidFill>
                <a:latin typeface="Calibri"/>
              </a:defRPr>
            </a:pPr>
            <a:r>
              <a:t>—  Due date</a:t>
            </a:r>
          </a:p>
          <a:p>
            <a:pPr>
              <a:spcAft>
                <a:spcPts val="500"/>
              </a:spcAft>
              <a:defRPr sz="1300">
                <a:solidFill>
                  <a:srgbClr val="1A1A1A"/>
                </a:solidFill>
                <a:latin typeface="Calibri"/>
              </a:defRPr>
            </a:pPr>
            <a:r>
              <a:t>—  Required resources</a:t>
            </a:r>
          </a:p>
          <a:p>
            <a:pPr>
              <a:spcAft>
                <a:spcPts val="500"/>
              </a:spcAft>
              <a:defRPr sz="1300">
                <a:solidFill>
                  <a:srgbClr val="1A1A1A"/>
                </a:solidFill>
                <a:latin typeface="Calibri"/>
              </a:defRPr>
            </a:pPr>
            <a:r>
              <a:t>—  Success criteria</a:t>
            </a:r>
          </a:p>
          <a:p>
            <a:pPr>
              <a:spcAft>
                <a:spcPts val="500"/>
              </a:spcAft>
              <a:defRPr sz="1300">
                <a:solidFill>
                  <a:srgbClr val="1A1A1A"/>
                </a:solidFill>
                <a:latin typeface="Calibri"/>
              </a:defRPr>
            </a:pPr>
            <a:r>
              <a:t>—  Status</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Sample Action Plan</a:t>
            </a:r>
          </a:p>
        </p:txBody>
      </p:sp>
      <p:graphicFrame>
        <p:nvGraphicFramePr>
          <p:cNvPr id="8" name="Table 7"/>
          <p:cNvGraphicFramePr>
            <a:graphicFrameLocks noGrp="1"/>
          </p:cNvGraphicFramePr>
          <p:nvPr/>
        </p:nvGraphicFramePr>
        <p:xfrm>
          <a:off x="548640" y="5029199"/>
          <a:ext cx="10972800" cy="13716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pPr>
                        <a:defRPr sz="1100" b="1">
                          <a:solidFill>
                            <a:srgbClr val="666666"/>
                          </a:solidFill>
                        </a:defRPr>
                      </a:pPr>
                      <a:r>
                        <a:t>Action</a:t>
                      </a:r>
                    </a:p>
                  </a:txBody>
                  <a:tcPr/>
                </a:tc>
                <a:tc>
                  <a:txBody>
                    <a:bodyPr/>
                    <a:lstStyle/>
                    <a:p>
                      <a:pPr>
                        <a:defRPr sz="1100" b="1">
                          <a:solidFill>
                            <a:srgbClr val="666666"/>
                          </a:solidFill>
                        </a:defRPr>
                      </a:pPr>
                      <a:r>
                        <a:t>Owner</a:t>
                      </a:r>
                    </a:p>
                  </a:txBody>
                  <a:tcPr/>
                </a:tc>
                <a:tc>
                  <a:txBody>
                    <a:bodyPr/>
                    <a:lstStyle/>
                    <a:p>
                      <a:pPr>
                        <a:defRPr sz="1100" b="1">
                          <a:solidFill>
                            <a:srgbClr val="666666"/>
                          </a:solidFill>
                        </a:defRPr>
                      </a:pPr>
                      <a:r>
                        <a:t>Due Date</a:t>
                      </a:r>
                    </a:p>
                  </a:txBody>
                  <a:tcPr/>
                </a:tc>
                <a:tc>
                  <a:txBody>
                    <a:bodyPr/>
                    <a:lstStyle/>
                    <a:p>
                      <a:pPr>
                        <a:defRPr sz="1100" b="1">
                          <a:solidFill>
                            <a:srgbClr val="666666"/>
                          </a:solidFill>
                        </a:defRPr>
                      </a:pPr>
                      <a:r>
                        <a:t>Status</a:t>
                      </a:r>
                    </a:p>
                  </a:txBody>
                  <a:tcPr/>
                </a:tc>
              </a:tr>
              <a:tr h="457200">
                <a:tc>
                  <a:txBody>
                    <a:bodyPr/>
                    <a:lstStyle/>
                    <a:p>
                      <a:pPr>
                        <a:defRPr sz="1200">
                          <a:solidFill>
                            <a:srgbClr val="1A1A1A"/>
                          </a:solidFill>
                        </a:defRPr>
                      </a:pPr>
                      <a:r>
                        <a:t>Update IR playbook</a:t>
                      </a:r>
                    </a:p>
                  </a:txBody>
                  <a:tcPr/>
                </a:tc>
                <a:tc>
                  <a:txBody>
                    <a:bodyPr/>
                    <a:lstStyle/>
                    <a:p>
                      <a:pPr>
                        <a:defRPr sz="1200">
                          <a:solidFill>
                            <a:srgbClr val="1A1A1A"/>
                          </a:solidFill>
                        </a:defRPr>
                      </a:pPr>
                      <a:r>
                        <a:t>IR Manager</a:t>
                      </a:r>
                    </a:p>
                  </a:txBody>
                  <a:tcPr/>
                </a:tc>
                <a:tc>
                  <a:txBody>
                    <a:bodyPr/>
                    <a:lstStyle/>
                    <a:p>
                      <a:pPr>
                        <a:defRPr sz="1200">
                          <a:solidFill>
                            <a:srgbClr val="1A1A1A"/>
                          </a:solidFill>
                        </a:defRPr>
                      </a:pPr>
                      <a:r>
                        <a:t>30 days</a:t>
                      </a:r>
                    </a:p>
                  </a:txBody>
                  <a:tcPr/>
                </a:tc>
                <a:tc>
                  <a:txBody>
                    <a:bodyPr/>
                    <a:lstStyle/>
                    <a:p>
                      <a:pPr>
                        <a:defRPr sz="1200">
                          <a:solidFill>
                            <a:srgbClr val="1A1A1A"/>
                          </a:solidFill>
                        </a:defRPr>
                      </a:pPr>
                      <a:r>
                        <a:t>Open</a:t>
                      </a:r>
                    </a:p>
                  </a:txBody>
                  <a:tcPr/>
                </a:tc>
              </a:tr>
              <a:tr h="457200">
                <a:tc>
                  <a:txBody>
                    <a:bodyPr/>
                    <a:lstStyle/>
                    <a:p>
                      <a:pPr>
                        <a:defRPr sz="1200">
                          <a:solidFill>
                            <a:srgbClr val="1A1A1A"/>
                          </a:solidFill>
                        </a:defRPr>
                      </a:pPr>
                      <a:r>
                        <a:t>Review vendor contacts</a:t>
                      </a:r>
                    </a:p>
                  </a:txBody>
                  <a:tcPr/>
                </a:tc>
                <a:tc>
                  <a:txBody>
                    <a:bodyPr/>
                    <a:lstStyle/>
                    <a:p>
                      <a:pPr>
                        <a:defRPr sz="1200">
                          <a:solidFill>
                            <a:srgbClr val="1A1A1A"/>
                          </a:solidFill>
                        </a:defRPr>
                      </a:pPr>
                      <a:r>
                        <a:t>Procurement</a:t>
                      </a:r>
                    </a:p>
                  </a:txBody>
                  <a:tcPr/>
                </a:tc>
                <a:tc>
                  <a:txBody>
                    <a:bodyPr/>
                    <a:lstStyle/>
                    <a:p>
                      <a:pPr>
                        <a:defRPr sz="1200">
                          <a:solidFill>
                            <a:srgbClr val="1A1A1A"/>
                          </a:solidFill>
                        </a:defRPr>
                      </a:pPr>
                      <a:r>
                        <a:t>14 days</a:t>
                      </a:r>
                    </a:p>
                  </a:txBody>
                  <a:tcPr/>
                </a:tc>
                <a:tc>
                  <a:txBody>
                    <a:bodyPr/>
                    <a:lstStyle/>
                    <a:p>
                      <a:pPr>
                        <a:defRPr sz="1200">
                          <a:solidFill>
                            <a:srgbClr val="1A1A1A"/>
                          </a:solidFill>
                        </a:defRPr>
                      </a:pPr>
                      <a:r>
                        <a:t>Open</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Prioritizing Improvement Actions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Prioritization Matrix</a:t>
            </a:r>
          </a:p>
        </p:txBody>
      </p:sp>
      <p:graphicFrame>
        <p:nvGraphicFramePr>
          <p:cNvPr id="6" name="Table 5"/>
          <p:cNvGraphicFramePr>
            <a:graphicFrameLocks noGrp="1"/>
          </p:cNvGraphicFramePr>
          <p:nvPr/>
        </p:nvGraphicFramePr>
        <p:xfrm>
          <a:off x="548640" y="2194560"/>
          <a:ext cx="10972800" cy="22860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Priority</a:t>
                      </a:r>
                    </a:p>
                  </a:txBody>
                  <a:tcPr/>
                </a:tc>
                <a:tc>
                  <a:txBody>
                    <a:bodyPr/>
                    <a:lstStyle/>
                    <a:p>
                      <a:pPr>
                        <a:defRPr sz="1100" b="1">
                          <a:solidFill>
                            <a:srgbClr val="666666"/>
                          </a:solidFill>
                        </a:defRPr>
                      </a:pPr>
                      <a:r>
                        <a:t>Criteria</a:t>
                      </a:r>
                    </a:p>
                  </a:txBody>
                  <a:tcPr/>
                </a:tc>
              </a:tr>
              <a:tr h="457200">
                <a:tc>
                  <a:txBody>
                    <a:bodyPr/>
                    <a:lstStyle/>
                    <a:p>
                      <a:pPr>
                        <a:defRPr sz="1200">
                          <a:solidFill>
                            <a:srgbClr val="1A1A1A"/>
                          </a:solidFill>
                        </a:defRPr>
                      </a:pPr>
                      <a:r>
                        <a:t>Critical</a:t>
                      </a:r>
                    </a:p>
                  </a:txBody>
                  <a:tcPr/>
                </a:tc>
                <a:tc>
                  <a:txBody>
                    <a:bodyPr/>
                    <a:lstStyle/>
                    <a:p>
                      <a:pPr>
                        <a:defRPr sz="1200">
                          <a:solidFill>
                            <a:srgbClr val="1A1A1A"/>
                          </a:solidFill>
                        </a:defRPr>
                      </a:pPr>
                      <a:r>
                        <a:t>Immediate business risk</a:t>
                      </a:r>
                    </a:p>
                  </a:txBody>
                  <a:tcPr/>
                </a:tc>
              </a:tr>
              <a:tr h="457200">
                <a:tc>
                  <a:txBody>
                    <a:bodyPr/>
                    <a:lstStyle/>
                    <a:p>
                      <a:pPr>
                        <a:defRPr sz="1200">
                          <a:solidFill>
                            <a:srgbClr val="1A1A1A"/>
                          </a:solidFill>
                        </a:defRPr>
                      </a:pPr>
                      <a:r>
                        <a:t>High</a:t>
                      </a:r>
                    </a:p>
                  </a:txBody>
                  <a:tcPr/>
                </a:tc>
                <a:tc>
                  <a:txBody>
                    <a:bodyPr/>
                    <a:lstStyle/>
                    <a:p>
                      <a:pPr>
                        <a:defRPr sz="1200">
                          <a:solidFill>
                            <a:srgbClr val="1A1A1A"/>
                          </a:solidFill>
                        </a:defRPr>
                      </a:pPr>
                      <a:r>
                        <a:t>Significant capability gap</a:t>
                      </a:r>
                    </a:p>
                  </a:txBody>
                  <a:tcPr/>
                </a:tc>
              </a:tr>
              <a:tr h="457200">
                <a:tc>
                  <a:txBody>
                    <a:bodyPr/>
                    <a:lstStyle/>
                    <a:p>
                      <a:pPr>
                        <a:defRPr sz="1200">
                          <a:solidFill>
                            <a:srgbClr val="1A1A1A"/>
                          </a:solidFill>
                        </a:defRPr>
                      </a:pPr>
                      <a:r>
                        <a:t>Medium</a:t>
                      </a:r>
                    </a:p>
                  </a:txBody>
                  <a:tcPr/>
                </a:tc>
                <a:tc>
                  <a:txBody>
                    <a:bodyPr/>
                    <a:lstStyle/>
                    <a:p>
                      <a:pPr>
                        <a:defRPr sz="1200">
                          <a:solidFill>
                            <a:srgbClr val="1A1A1A"/>
                          </a:solidFill>
                        </a:defRPr>
                      </a:pPr>
                      <a:r>
                        <a:t>Process enhancement</a:t>
                      </a:r>
                    </a:p>
                  </a:txBody>
                  <a:tcPr/>
                </a:tc>
              </a:tr>
              <a:tr h="457200">
                <a:tc>
                  <a:txBody>
                    <a:bodyPr/>
                    <a:lstStyle/>
                    <a:p>
                      <a:pPr>
                        <a:defRPr sz="1200">
                          <a:solidFill>
                            <a:srgbClr val="1A1A1A"/>
                          </a:solidFill>
                        </a:defRPr>
                      </a:pPr>
                      <a:r>
                        <a:t>Low</a:t>
                      </a:r>
                    </a:p>
                  </a:txBody>
                  <a:tcPr/>
                </a:tc>
                <a:tc>
                  <a:txBody>
                    <a:bodyPr/>
                    <a:lstStyle/>
                    <a:p>
                      <a:pPr>
                        <a:defRPr sz="1200">
                          <a:solidFill>
                            <a:srgbClr val="1A1A1A"/>
                          </a:solidFill>
                        </a:defRPr>
                      </a:pPr>
                      <a:r>
                        <a:t>Long-term optimization</a:t>
                      </a:r>
                    </a:p>
                  </a:txBody>
                  <a:tcPr/>
                </a:tc>
              </a:tr>
            </a:tbl>
          </a:graphicData>
        </a:graphic>
      </p:graphicFrame>
      <p:sp>
        <p:nvSpPr>
          <p:cNvPr id="7" name="TextBox 6"/>
          <p:cNvSpPr txBox="1"/>
          <p:nvPr/>
        </p:nvSpPr>
        <p:spPr>
          <a:xfrm>
            <a:off x="548640" y="4800600"/>
            <a:ext cx="10972800" cy="320040"/>
          </a:xfrm>
          <a:prstGeom prst="rect">
            <a:avLst/>
          </a:prstGeom>
          <a:noFill/>
        </p:spPr>
        <p:txBody>
          <a:bodyPr wrap="square">
            <a:spAutoFit/>
          </a:bodyPr>
          <a:lstStyle/>
          <a:p>
            <a:pPr algn="l">
              <a:defRPr sz="1300" b="1">
                <a:solidFill>
                  <a:srgbClr val="666666"/>
                </a:solidFill>
                <a:latin typeface="Calibri"/>
              </a:defRPr>
            </a:pPr>
            <a:r>
              <a:t>Evaluation Factors</a:t>
            </a:r>
          </a:p>
        </p:txBody>
      </p:sp>
      <p:sp>
        <p:nvSpPr>
          <p:cNvPr id="8" name="TextBox 7"/>
          <p:cNvSpPr txBox="1"/>
          <p:nvPr/>
        </p:nvSpPr>
        <p:spPr>
          <a:xfrm>
            <a:off x="548640" y="5257800"/>
            <a:ext cx="10972800" cy="2743200"/>
          </a:xfrm>
          <a:prstGeom prst="rect">
            <a:avLst/>
          </a:prstGeom>
          <a:noFill/>
        </p:spPr>
        <p:txBody>
          <a:bodyPr wrap="square">
            <a:spAutoFit/>
          </a:bodyPr>
          <a:lstStyle/>
          <a:p>
            <a:pPr>
              <a:spcAft>
                <a:spcPts val="500"/>
              </a:spcAft>
              <a:defRPr sz="1300">
                <a:solidFill>
                  <a:srgbClr val="1A1A1A"/>
                </a:solidFill>
                <a:latin typeface="Calibri"/>
              </a:defRPr>
            </a:pPr>
            <a:r>
              <a:t>—  Risk reduction</a:t>
            </a:r>
          </a:p>
          <a:p>
            <a:pPr>
              <a:spcAft>
                <a:spcPts val="500"/>
              </a:spcAft>
              <a:defRPr sz="1300">
                <a:solidFill>
                  <a:srgbClr val="1A1A1A"/>
                </a:solidFill>
                <a:latin typeface="Calibri"/>
              </a:defRPr>
            </a:pPr>
            <a:r>
              <a:t>—  Regulatory impact</a:t>
            </a:r>
          </a:p>
          <a:p>
            <a:pPr>
              <a:spcAft>
                <a:spcPts val="500"/>
              </a:spcAft>
              <a:defRPr sz="1300">
                <a:solidFill>
                  <a:srgbClr val="1A1A1A"/>
                </a:solidFill>
                <a:latin typeface="Calibri"/>
              </a:defRPr>
            </a:pPr>
            <a:r>
              <a:t>—  Cost</a:t>
            </a:r>
          </a:p>
          <a:p>
            <a:pPr>
              <a:spcAft>
                <a:spcPts val="500"/>
              </a:spcAft>
              <a:defRPr sz="1300">
                <a:solidFill>
                  <a:srgbClr val="1A1A1A"/>
                </a:solidFill>
                <a:latin typeface="Calibri"/>
              </a:defRPr>
            </a:pPr>
            <a:r>
              <a:t>—  Complexity</a:t>
            </a:r>
          </a:p>
          <a:p>
            <a:pPr>
              <a:spcAft>
                <a:spcPts val="500"/>
              </a:spcAft>
              <a:defRPr sz="1300">
                <a:solidFill>
                  <a:srgbClr val="1A1A1A"/>
                </a:solidFill>
                <a:latin typeface="Calibri"/>
              </a:defRPr>
            </a:pPr>
            <a:r>
              <a:t>—  Resource availability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Tracking Corrective Actions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Tracking Dashboard</a:t>
            </a:r>
          </a:p>
        </p:txBody>
      </p:sp>
      <p:graphicFrame>
        <p:nvGraphicFramePr>
          <p:cNvPr id="6" name="Table 5"/>
          <p:cNvGraphicFramePr>
            <a:graphicFrameLocks noGrp="1"/>
          </p:cNvGraphicFramePr>
          <p:nvPr/>
        </p:nvGraphicFramePr>
        <p:xfrm>
          <a:off x="548640" y="2194560"/>
          <a:ext cx="10972800" cy="18288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pPr>
                        <a:defRPr sz="1100" b="1">
                          <a:solidFill>
                            <a:srgbClr val="666666"/>
                          </a:solidFill>
                        </a:defRPr>
                      </a:pPr>
                      <a:r>
                        <a:t>Action</a:t>
                      </a:r>
                    </a:p>
                  </a:txBody>
                  <a:tcPr/>
                </a:tc>
                <a:tc>
                  <a:txBody>
                    <a:bodyPr/>
                    <a:lstStyle/>
                    <a:p>
                      <a:pPr>
                        <a:defRPr sz="1100" b="1">
                          <a:solidFill>
                            <a:srgbClr val="666666"/>
                          </a:solidFill>
                        </a:defRPr>
                      </a:pPr>
                      <a:r>
                        <a:t>Owner</a:t>
                      </a:r>
                    </a:p>
                  </a:txBody>
                  <a:tcPr/>
                </a:tc>
                <a:tc>
                  <a:txBody>
                    <a:bodyPr/>
                    <a:lstStyle/>
                    <a:p>
                      <a:pPr>
                        <a:defRPr sz="1100" b="1">
                          <a:solidFill>
                            <a:srgbClr val="666666"/>
                          </a:solidFill>
                        </a:defRPr>
                      </a:pPr>
                      <a:r>
                        <a:t>Status</a:t>
                      </a:r>
                    </a:p>
                  </a:txBody>
                  <a:tcPr/>
                </a:tc>
                <a:tc>
                  <a:txBody>
                    <a:bodyPr/>
                    <a:lstStyle/>
                    <a:p>
                      <a:pPr>
                        <a:defRPr sz="1100" b="1">
                          <a:solidFill>
                            <a:srgbClr val="666666"/>
                          </a:solidFill>
                        </a:defRPr>
                      </a:pPr>
                      <a:r>
                        <a:t>Due Date</a:t>
                      </a:r>
                    </a:p>
                  </a:txBody>
                  <a:tcPr/>
                </a:tc>
              </a:tr>
              <a:tr h="457200">
                <a:tc>
                  <a:txBody>
                    <a:bodyPr/>
                    <a:lstStyle/>
                    <a:p>
                      <a:pPr>
                        <a:defRPr sz="1200">
                          <a:solidFill>
                            <a:srgbClr val="1A1A1A"/>
                          </a:solidFill>
                        </a:defRPr>
                      </a:pPr>
                      <a:r>
                        <a:t>Update playbook</a:t>
                      </a:r>
                    </a:p>
                  </a:txBody>
                  <a:tcPr/>
                </a:tc>
                <a:tc>
                  <a:txBody>
                    <a:bodyPr/>
                    <a:lstStyle/>
                    <a:p>
                      <a:pPr>
                        <a:defRPr sz="1200">
                          <a:solidFill>
                            <a:srgbClr val="1A1A1A"/>
                          </a:solidFill>
                        </a:defRPr>
                      </a:pPr>
                      <a:r>
                        <a:t>IR Manager</a:t>
                      </a:r>
                    </a:p>
                  </a:txBody>
                  <a:tcPr/>
                </a:tc>
                <a:tc>
                  <a:txBody>
                    <a:bodyPr/>
                    <a:lstStyle/>
                    <a:p>
                      <a:pPr>
                        <a:defRPr sz="1200">
                          <a:solidFill>
                            <a:srgbClr val="1A1A1A"/>
                          </a:solidFill>
                        </a:defRPr>
                      </a:pPr>
                      <a:r>
                        <a:t>In Progress</a:t>
                      </a:r>
                    </a:p>
                  </a:txBody>
                  <a:tcPr/>
                </a:tc>
                <a:tc>
                  <a:txBody>
                    <a:bodyPr/>
                    <a:lstStyle/>
                    <a:p>
                      <a:pPr>
                        <a:defRPr sz="1200">
                          <a:solidFill>
                            <a:srgbClr val="1A1A1A"/>
                          </a:solidFill>
                        </a:defRPr>
                      </a:pPr>
                      <a:r>
                        <a:t>30 Jun</a:t>
                      </a:r>
                    </a:p>
                  </a:txBody>
                  <a:tcPr/>
                </a:tc>
              </a:tr>
              <a:tr h="457200">
                <a:tc>
                  <a:txBody>
                    <a:bodyPr/>
                    <a:lstStyle/>
                    <a:p>
                      <a:pPr>
                        <a:defRPr sz="1200">
                          <a:solidFill>
                            <a:srgbClr val="1A1A1A"/>
                          </a:solidFill>
                        </a:defRPr>
                      </a:pPr>
                      <a:r>
                        <a:t>Conduct training</a:t>
                      </a:r>
                    </a:p>
                  </a:txBody>
                  <a:tcPr/>
                </a:tc>
                <a:tc>
                  <a:txBody>
                    <a:bodyPr/>
                    <a:lstStyle/>
                    <a:p>
                      <a:pPr>
                        <a:defRPr sz="1200">
                          <a:solidFill>
                            <a:srgbClr val="1A1A1A"/>
                          </a:solidFill>
                        </a:defRPr>
                      </a:pPr>
                      <a:r>
                        <a:t>HR</a:t>
                      </a:r>
                    </a:p>
                  </a:txBody>
                  <a:tcPr/>
                </a:tc>
                <a:tc>
                  <a:txBody>
                    <a:bodyPr/>
                    <a:lstStyle/>
                    <a:p>
                      <a:pPr>
                        <a:defRPr sz="1200">
                          <a:solidFill>
                            <a:srgbClr val="1A1A1A"/>
                          </a:solidFill>
                        </a:defRPr>
                      </a:pPr>
                      <a:r>
                        <a:t>Planned</a:t>
                      </a:r>
                    </a:p>
                  </a:txBody>
                  <a:tcPr/>
                </a:tc>
                <a:tc>
                  <a:txBody>
                    <a:bodyPr/>
                    <a:lstStyle/>
                    <a:p>
                      <a:pPr>
                        <a:defRPr sz="1200">
                          <a:solidFill>
                            <a:srgbClr val="1A1A1A"/>
                          </a:solidFill>
                        </a:defRPr>
                      </a:pPr>
                      <a:r>
                        <a:t>15 Jul</a:t>
                      </a:r>
                    </a:p>
                  </a:txBody>
                  <a:tcPr/>
                </a:tc>
              </a:tr>
              <a:tr h="457200">
                <a:tc>
                  <a:txBody>
                    <a:bodyPr/>
                    <a:lstStyle/>
                    <a:p>
                      <a:pPr>
                        <a:defRPr sz="1200">
                          <a:solidFill>
                            <a:srgbClr val="1A1A1A"/>
                          </a:solidFill>
                        </a:defRPr>
                      </a:pPr>
                      <a:r>
                        <a:t>Vendor review</a:t>
                      </a:r>
                    </a:p>
                  </a:txBody>
                  <a:tcPr/>
                </a:tc>
                <a:tc>
                  <a:txBody>
                    <a:bodyPr/>
                    <a:lstStyle/>
                    <a:p>
                      <a:pPr>
                        <a:defRPr sz="1200">
                          <a:solidFill>
                            <a:srgbClr val="1A1A1A"/>
                          </a:solidFill>
                        </a:defRPr>
                      </a:pPr>
                      <a:r>
                        <a:t>Procurement</a:t>
                      </a:r>
                    </a:p>
                  </a:txBody>
                  <a:tcPr/>
                </a:tc>
                <a:tc>
                  <a:txBody>
                    <a:bodyPr/>
                    <a:lstStyle/>
                    <a:p>
                      <a:pPr>
                        <a:defRPr sz="1200">
                          <a:solidFill>
                            <a:srgbClr val="1A1A1A"/>
                          </a:solidFill>
                        </a:defRPr>
                      </a:pPr>
                      <a:r>
                        <a:t>Complete</a:t>
                      </a:r>
                    </a:p>
                  </a:txBody>
                  <a:tcPr/>
                </a:tc>
                <a:tc>
                  <a:txBody>
                    <a:bodyPr/>
                    <a:lstStyle/>
                    <a:p>
                      <a:pPr>
                        <a:defRPr sz="1200">
                          <a:solidFill>
                            <a:srgbClr val="1A1A1A"/>
                          </a:solidFill>
                        </a:defRPr>
                      </a:pPr>
                      <a:r>
                        <a:t>20 Jun</a:t>
                      </a:r>
                    </a:p>
                  </a:txBody>
                  <a:tcPr/>
                </a:tc>
              </a:tr>
            </a:tbl>
          </a:graphicData>
        </a:graphic>
      </p:graphicFrame>
      <p:sp>
        <p:nvSpPr>
          <p:cNvPr id="7" name="TextBox 6"/>
          <p:cNvSpPr txBox="1"/>
          <p:nvPr/>
        </p:nvSpPr>
        <p:spPr>
          <a:xfrm>
            <a:off x="548640" y="4343400"/>
            <a:ext cx="10972800" cy="320040"/>
          </a:xfrm>
          <a:prstGeom prst="rect">
            <a:avLst/>
          </a:prstGeom>
          <a:noFill/>
        </p:spPr>
        <p:txBody>
          <a:bodyPr wrap="square">
            <a:spAutoFit/>
          </a:bodyPr>
          <a:lstStyle/>
          <a:p>
            <a:pPr algn="l">
              <a:defRPr sz="1300" b="1">
                <a:solidFill>
                  <a:srgbClr val="666666"/>
                </a:solidFill>
                <a:latin typeface="Calibri"/>
              </a:defRPr>
            </a:pPr>
            <a:r>
              <a:t>Governance</a:t>
            </a:r>
          </a:p>
        </p:txBody>
      </p:sp>
      <p:sp>
        <p:nvSpPr>
          <p:cNvPr id="8" name="TextBox 7"/>
          <p:cNvSpPr txBox="1"/>
          <p:nvPr/>
        </p:nvSpPr>
        <p:spPr>
          <a:xfrm>
            <a:off x="548640" y="4800600"/>
            <a:ext cx="10972800" cy="2743200"/>
          </a:xfrm>
          <a:prstGeom prst="rect">
            <a:avLst/>
          </a:prstGeom>
          <a:noFill/>
        </p:spPr>
        <p:txBody>
          <a:bodyPr wrap="square">
            <a:spAutoFit/>
          </a:bodyPr>
          <a:lstStyle/>
          <a:p>
            <a:pPr>
              <a:spcAft>
                <a:spcPts val="500"/>
              </a:spcAft>
              <a:defRPr sz="1300">
                <a:solidFill>
                  <a:srgbClr val="1A1A1A"/>
                </a:solidFill>
                <a:latin typeface="Calibri"/>
              </a:defRPr>
            </a:pPr>
            <a:r>
              <a:t>—  Monthly reviews</a:t>
            </a:r>
          </a:p>
          <a:p>
            <a:pPr>
              <a:spcAft>
                <a:spcPts val="500"/>
              </a:spcAft>
              <a:defRPr sz="1300">
                <a:solidFill>
                  <a:srgbClr val="1A1A1A"/>
                </a:solidFill>
                <a:latin typeface="Calibri"/>
              </a:defRPr>
            </a:pPr>
            <a:r>
              <a:t>—  Executive reporting</a:t>
            </a:r>
          </a:p>
          <a:p>
            <a:pPr>
              <a:spcAft>
                <a:spcPts val="500"/>
              </a:spcAft>
              <a:defRPr sz="1300">
                <a:solidFill>
                  <a:srgbClr val="1A1A1A"/>
                </a:solidFill>
                <a:latin typeface="Calibri"/>
              </a:defRPr>
            </a:pPr>
            <a:r>
              <a:t>—  Risk committee oversight</a:t>
            </a:r>
          </a:p>
          <a:p>
            <a:pPr>
              <a:spcAft>
                <a:spcPts val="500"/>
              </a:spcAft>
              <a:defRPr sz="1300">
                <a:solidFill>
                  <a:srgbClr val="1A1A1A"/>
                </a:solidFill>
                <a:latin typeface="Calibri"/>
              </a:defRPr>
            </a:pPr>
            <a:r>
              <a:t>—  Internal audit verification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189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Continuous Improvement Program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Continuous Improvement Cycle</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 Evaluation → Hot Wash → AAR → Corrective Actions → Validation → Next Exercise</a:t>
            </a:r>
          </a:p>
        </p:txBody>
      </p:sp>
      <p:sp>
        <p:nvSpPr>
          <p:cNvPr id="7" name="TextBox 6"/>
          <p:cNvSpPr txBox="1"/>
          <p:nvPr/>
        </p:nvSpPr>
        <p:spPr>
          <a:xfrm>
            <a:off x="548640" y="2651760"/>
            <a:ext cx="10972800" cy="320040"/>
          </a:xfrm>
          <a:prstGeom prst="rect">
            <a:avLst/>
          </a:prstGeom>
          <a:noFill/>
        </p:spPr>
        <p:txBody>
          <a:bodyPr wrap="square">
            <a:spAutoFit/>
          </a:bodyPr>
          <a:lstStyle/>
          <a:p>
            <a:pPr algn="l">
              <a:defRPr sz="1300" b="1">
                <a:solidFill>
                  <a:srgbClr val="666666"/>
                </a:solidFill>
                <a:latin typeface="Calibri"/>
              </a:defRPr>
            </a:pPr>
            <a:r>
              <a:t>Improvement Activities</a:t>
            </a:r>
          </a:p>
        </p:txBody>
      </p:sp>
      <p:sp>
        <p:nvSpPr>
          <p:cNvPr id="8" name="TextBox 7"/>
          <p:cNvSpPr txBox="1"/>
          <p:nvPr/>
        </p:nvSpPr>
        <p:spPr>
          <a:xfrm>
            <a:off x="548640" y="3108960"/>
            <a:ext cx="10972800" cy="2743200"/>
          </a:xfrm>
          <a:prstGeom prst="rect">
            <a:avLst/>
          </a:prstGeom>
          <a:noFill/>
        </p:spPr>
        <p:txBody>
          <a:bodyPr wrap="square">
            <a:spAutoFit/>
          </a:bodyPr>
          <a:lstStyle/>
          <a:p>
            <a:pPr>
              <a:spcAft>
                <a:spcPts val="500"/>
              </a:spcAft>
              <a:defRPr sz="1300">
                <a:solidFill>
                  <a:srgbClr val="1A1A1A"/>
                </a:solidFill>
                <a:latin typeface="Calibri"/>
              </a:defRPr>
            </a:pPr>
            <a:r>
              <a:t>—  Update playbooks</a:t>
            </a:r>
          </a:p>
          <a:p>
            <a:pPr>
              <a:spcAft>
                <a:spcPts val="500"/>
              </a:spcAft>
              <a:defRPr sz="1300">
                <a:solidFill>
                  <a:srgbClr val="1A1A1A"/>
                </a:solidFill>
                <a:latin typeface="Calibri"/>
              </a:defRPr>
            </a:pPr>
            <a:r>
              <a:t>—  Revise policies</a:t>
            </a:r>
          </a:p>
          <a:p>
            <a:pPr>
              <a:spcAft>
                <a:spcPts val="500"/>
              </a:spcAft>
              <a:defRPr sz="1300">
                <a:solidFill>
                  <a:srgbClr val="1A1A1A"/>
                </a:solidFill>
                <a:latin typeface="Calibri"/>
              </a:defRPr>
            </a:pPr>
            <a:r>
              <a:t>—  Improve training</a:t>
            </a:r>
          </a:p>
          <a:p>
            <a:pPr>
              <a:spcAft>
                <a:spcPts val="500"/>
              </a:spcAft>
              <a:defRPr sz="1300">
                <a:solidFill>
                  <a:srgbClr val="1A1A1A"/>
                </a:solidFill>
                <a:latin typeface="Calibri"/>
              </a:defRPr>
            </a:pPr>
            <a:r>
              <a:t>—  Enhance monitoring</a:t>
            </a:r>
          </a:p>
          <a:p>
            <a:pPr>
              <a:spcAft>
                <a:spcPts val="500"/>
              </a:spcAft>
              <a:defRPr sz="1300">
                <a:solidFill>
                  <a:srgbClr val="1A1A1A"/>
                </a:solidFill>
                <a:latin typeface="Calibri"/>
              </a:defRPr>
            </a:pPr>
            <a:r>
              <a:t>—  Conduct follow-up exercises</a:t>
            </a:r>
          </a:p>
          <a:p>
            <a:pPr>
              <a:spcAft>
                <a:spcPts val="500"/>
              </a:spcAft>
              <a:defRPr sz="1300">
                <a:solidFill>
                  <a:srgbClr val="1A1A1A"/>
                </a:solidFill>
                <a:latin typeface="Calibri"/>
              </a:defRPr>
            </a:pPr>
            <a:r>
              <a:t>—  Measure progress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Module Review: Hot Wash and After Action Reports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Key Takeaways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The Hot Wash captures immediate lessons and participant feedback</a:t>
            </a:r>
          </a:p>
          <a:p>
            <a:pPr>
              <a:spcAft>
                <a:spcPts val="500"/>
              </a:spcAft>
              <a:defRPr sz="1300">
                <a:solidFill>
                  <a:srgbClr val="1A1A1A"/>
                </a:solidFill>
                <a:latin typeface="Calibri"/>
              </a:defRPr>
            </a:pPr>
            <a:r>
              <a:t>—  Constructive feedback should be evidence-based and process-focused</a:t>
            </a:r>
          </a:p>
          <a:p>
            <a:pPr>
              <a:spcAft>
                <a:spcPts val="500"/>
              </a:spcAft>
              <a:defRPr sz="1300">
                <a:solidFill>
                  <a:srgbClr val="1A1A1A"/>
                </a:solidFill>
                <a:latin typeface="Calibri"/>
              </a:defRPr>
            </a:pPr>
            <a:r>
              <a:t>—  Root Cause Analysis identifies underlying organizational issues</a:t>
            </a:r>
          </a:p>
          <a:p>
            <a:pPr>
              <a:spcAft>
                <a:spcPts val="500"/>
              </a:spcAft>
              <a:defRPr sz="1300">
                <a:solidFill>
                  <a:srgbClr val="1A1A1A"/>
                </a:solidFill>
                <a:latin typeface="Calibri"/>
              </a:defRPr>
            </a:pPr>
            <a:r>
              <a:t>—  The Five Whys and Fishbone methods support structured analysis</a:t>
            </a:r>
          </a:p>
          <a:p>
            <a:pPr>
              <a:spcAft>
                <a:spcPts val="500"/>
              </a:spcAft>
              <a:defRPr sz="1300">
                <a:solidFill>
                  <a:srgbClr val="1A1A1A"/>
                </a:solidFill>
                <a:latin typeface="Calibri"/>
              </a:defRPr>
            </a:pPr>
            <a:r>
              <a:t>—  The After Action Report documents findings and recommendations</a:t>
            </a:r>
          </a:p>
          <a:p>
            <a:pPr>
              <a:spcAft>
                <a:spcPts val="500"/>
              </a:spcAft>
              <a:defRPr sz="1300">
                <a:solidFill>
                  <a:srgbClr val="1A1A1A"/>
                </a:solidFill>
                <a:latin typeface="Calibri"/>
              </a:defRPr>
            </a:pPr>
            <a:r>
              <a:t>—  Corrective actions require ownership, timelines, and accountability</a:t>
            </a:r>
          </a:p>
          <a:p>
            <a:pPr>
              <a:spcAft>
                <a:spcPts val="500"/>
              </a:spcAft>
              <a:defRPr sz="1300">
                <a:solidFill>
                  <a:srgbClr val="1A1A1A"/>
                </a:solidFill>
                <a:latin typeface="Calibri"/>
              </a:defRPr>
            </a:pPr>
            <a:r>
              <a:t>—  Progress should be monitored through governance and reporting</a:t>
            </a:r>
          </a:p>
          <a:p>
            <a:pPr>
              <a:spcAft>
                <a:spcPts val="500"/>
              </a:spcAft>
              <a:defRPr sz="1300">
                <a:solidFill>
                  <a:srgbClr val="1A1A1A"/>
                </a:solidFill>
                <a:latin typeface="Calibri"/>
              </a:defRPr>
            </a:pPr>
            <a:r>
              <a:t>—  Continuous improvement ensures lessons are translated into action</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Discussion Questions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How soon should a Hot Wash be conducted after an exercise?</a:t>
            </a:r>
          </a:p>
          <a:p>
            <a:pPr>
              <a:spcAft>
                <a:spcPts val="500"/>
              </a:spcAft>
              <a:defRPr sz="1300">
                <a:solidFill>
                  <a:srgbClr val="1A1A1A"/>
                </a:solidFill>
                <a:latin typeface="Calibri"/>
              </a:defRPr>
            </a:pPr>
            <a:r>
              <a:t>—  What makes a recommendation actionable?</a:t>
            </a:r>
          </a:p>
          <a:p>
            <a:pPr>
              <a:spcAft>
                <a:spcPts val="500"/>
              </a:spcAft>
              <a:defRPr sz="1300">
                <a:solidFill>
                  <a:srgbClr val="1A1A1A"/>
                </a:solidFill>
                <a:latin typeface="Calibri"/>
              </a:defRPr>
            </a:pPr>
            <a:r>
              <a:t>—  Which Root Cause Analysis technique would best suit your organization?</a:t>
            </a:r>
          </a:p>
          <a:p>
            <a:pPr>
              <a:spcAft>
                <a:spcPts val="500"/>
              </a:spcAft>
              <a:defRPr sz="1300">
                <a:solidFill>
                  <a:srgbClr val="1A1A1A"/>
                </a:solidFill>
                <a:latin typeface="Calibri"/>
              </a:defRPr>
            </a:pPr>
            <a:r>
              <a:t>—  How can leadership ensure corrective actions are completed?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From Individual Exercises to a Sustainable Program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Exercise vs. Program</a:t>
            </a:r>
          </a:p>
        </p:txBody>
      </p:sp>
      <p:graphicFrame>
        <p:nvGraphicFramePr>
          <p:cNvPr id="6" name="Table 5"/>
          <p:cNvGraphicFramePr>
            <a:graphicFrameLocks noGrp="1"/>
          </p:cNvGraphicFramePr>
          <p:nvPr/>
        </p:nvGraphicFramePr>
        <p:xfrm>
          <a:off x="548640" y="2194560"/>
          <a:ext cx="10972800" cy="27432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Individual Exercise</a:t>
                      </a:r>
                    </a:p>
                  </a:txBody>
                  <a:tcPr/>
                </a:tc>
                <a:tc>
                  <a:txBody>
                    <a:bodyPr/>
                    <a:lstStyle/>
                    <a:p>
                      <a:pPr>
                        <a:defRPr sz="1100" b="1">
                          <a:solidFill>
                            <a:srgbClr val="666666"/>
                          </a:solidFill>
                        </a:defRPr>
                      </a:pPr>
                      <a:r>
                        <a:t>Mature TTX Program</a:t>
                      </a:r>
                    </a:p>
                  </a:txBody>
                  <a:tcPr/>
                </a:tc>
              </a:tr>
              <a:tr h="457200">
                <a:tc>
                  <a:txBody>
                    <a:bodyPr/>
                    <a:lstStyle/>
                    <a:p>
                      <a:pPr>
                        <a:defRPr sz="1200">
                          <a:solidFill>
                            <a:srgbClr val="1A1A1A"/>
                          </a:solidFill>
                        </a:defRPr>
                      </a:pPr>
                      <a:r>
                        <a:t>One-time event</a:t>
                      </a:r>
                    </a:p>
                  </a:txBody>
                  <a:tcPr/>
                </a:tc>
                <a:tc>
                  <a:txBody>
                    <a:bodyPr/>
                    <a:lstStyle/>
                    <a:p>
                      <a:pPr>
                        <a:defRPr sz="1200">
                          <a:solidFill>
                            <a:srgbClr val="1A1A1A"/>
                          </a:solidFill>
                        </a:defRPr>
                      </a:pPr>
                      <a:r>
                        <a:t>Continuous capability development</a:t>
                      </a:r>
                    </a:p>
                  </a:txBody>
                  <a:tcPr/>
                </a:tc>
              </a:tr>
              <a:tr h="457200">
                <a:tc>
                  <a:txBody>
                    <a:bodyPr/>
                    <a:lstStyle/>
                    <a:p>
                      <a:pPr>
                        <a:defRPr sz="1200">
                          <a:solidFill>
                            <a:srgbClr val="1A1A1A"/>
                          </a:solidFill>
                        </a:defRPr>
                      </a:pPr>
                      <a:r>
                        <a:t>Tactical focus</a:t>
                      </a:r>
                    </a:p>
                  </a:txBody>
                  <a:tcPr/>
                </a:tc>
                <a:tc>
                  <a:txBody>
                    <a:bodyPr/>
                    <a:lstStyle/>
                    <a:p>
                      <a:pPr>
                        <a:defRPr sz="1200">
                          <a:solidFill>
                            <a:srgbClr val="1A1A1A"/>
                          </a:solidFill>
                        </a:defRPr>
                      </a:pPr>
                      <a:r>
                        <a:t>Strategic and operational alignment</a:t>
                      </a:r>
                    </a:p>
                  </a:txBody>
                  <a:tcPr/>
                </a:tc>
              </a:tr>
              <a:tr h="457200">
                <a:tc>
                  <a:txBody>
                    <a:bodyPr/>
                    <a:lstStyle/>
                    <a:p>
                      <a:pPr>
                        <a:defRPr sz="1200">
                          <a:solidFill>
                            <a:srgbClr val="1A1A1A"/>
                          </a:solidFill>
                        </a:defRPr>
                      </a:pPr>
                      <a:r>
                        <a:t>Limited stakeholders</a:t>
                      </a:r>
                    </a:p>
                  </a:txBody>
                  <a:tcPr/>
                </a:tc>
                <a:tc>
                  <a:txBody>
                    <a:bodyPr/>
                    <a:lstStyle/>
                    <a:p>
                      <a:pPr>
                        <a:defRPr sz="1200">
                          <a:solidFill>
                            <a:srgbClr val="1A1A1A"/>
                          </a:solidFill>
                        </a:defRPr>
                      </a:pPr>
                      <a:r>
                        <a:t>Enterprise-wide participation</a:t>
                      </a:r>
                    </a:p>
                  </a:txBody>
                  <a:tcPr/>
                </a:tc>
              </a:tr>
              <a:tr h="457200">
                <a:tc>
                  <a:txBody>
                    <a:bodyPr/>
                    <a:lstStyle/>
                    <a:p>
                      <a:pPr>
                        <a:defRPr sz="1200">
                          <a:solidFill>
                            <a:srgbClr val="1A1A1A"/>
                          </a:solidFill>
                        </a:defRPr>
                      </a:pPr>
                      <a:r>
                        <a:t>Isolated lessons</a:t>
                      </a:r>
                    </a:p>
                  </a:txBody>
                  <a:tcPr/>
                </a:tc>
                <a:tc>
                  <a:txBody>
                    <a:bodyPr/>
                    <a:lstStyle/>
                    <a:p>
                      <a:pPr>
                        <a:defRPr sz="1200">
                          <a:solidFill>
                            <a:srgbClr val="1A1A1A"/>
                          </a:solidFill>
                        </a:defRPr>
                      </a:pPr>
                      <a:r>
                        <a:t>Continuous improvement cycle</a:t>
                      </a:r>
                    </a:p>
                  </a:txBody>
                  <a:tcPr/>
                </a:tc>
              </a:tr>
              <a:tr h="457200">
                <a:tc>
                  <a:txBody>
                    <a:bodyPr/>
                    <a:lstStyle/>
                    <a:p>
                      <a:pPr>
                        <a:defRPr sz="1200">
                          <a:solidFill>
                            <a:srgbClr val="1A1A1A"/>
                          </a:solidFill>
                        </a:defRPr>
                      </a:pPr>
                      <a:r>
                        <a:t>Informal reporting</a:t>
                      </a:r>
                    </a:p>
                  </a:txBody>
                  <a:tcPr/>
                </a:tc>
                <a:tc>
                  <a:txBody>
                    <a:bodyPr/>
                    <a:lstStyle/>
                    <a:p>
                      <a:pPr>
                        <a:defRPr sz="1200">
                          <a:solidFill>
                            <a:srgbClr val="1A1A1A"/>
                          </a:solidFill>
                        </a:defRPr>
                      </a:pPr>
                      <a:r>
                        <a:t>Governance and executive oversight</a:t>
                      </a:r>
                    </a:p>
                  </a:txBody>
                  <a:tcPr/>
                </a:tc>
              </a:tr>
            </a:tbl>
          </a:graphicData>
        </a:graphic>
      </p:graphicFrame>
      <p:sp>
        <p:nvSpPr>
          <p:cNvPr id="7" name="TextBox 6"/>
          <p:cNvSpPr txBox="1"/>
          <p:nvPr/>
        </p:nvSpPr>
        <p:spPr>
          <a:xfrm>
            <a:off x="548640" y="5257800"/>
            <a:ext cx="10972800" cy="320040"/>
          </a:xfrm>
          <a:prstGeom prst="rect">
            <a:avLst/>
          </a:prstGeom>
          <a:noFill/>
        </p:spPr>
        <p:txBody>
          <a:bodyPr wrap="square">
            <a:spAutoFit/>
          </a:bodyPr>
          <a:lstStyle/>
          <a:p>
            <a:pPr algn="l">
              <a:defRPr sz="1300" b="1">
                <a:solidFill>
                  <a:srgbClr val="666666"/>
                </a:solidFill>
                <a:latin typeface="Calibri"/>
              </a:defRPr>
            </a:pPr>
            <a:r>
              <a:t>Characteristics of a Mature Program</a:t>
            </a:r>
          </a:p>
        </p:txBody>
      </p:sp>
      <p:sp>
        <p:nvSpPr>
          <p:cNvPr id="8" name="TextBox 7"/>
          <p:cNvSpPr txBox="1"/>
          <p:nvPr/>
        </p:nvSpPr>
        <p:spPr>
          <a:xfrm>
            <a:off x="548640" y="571500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Executive sponsorship</a:t>
            </a:r>
          </a:p>
          <a:p>
            <a:pPr>
              <a:spcAft>
                <a:spcPts val="500"/>
              </a:spcAft>
              <a:defRPr sz="1300">
                <a:solidFill>
                  <a:srgbClr val="1A1A1A"/>
                </a:solidFill>
                <a:latin typeface="Calibri"/>
              </a:defRPr>
            </a:pPr>
            <a:r>
              <a:t>—  Defined governance</a:t>
            </a:r>
          </a:p>
          <a:p>
            <a:pPr>
              <a:spcAft>
                <a:spcPts val="500"/>
              </a:spcAft>
              <a:defRPr sz="1300">
                <a:solidFill>
                  <a:srgbClr val="1A1A1A"/>
                </a:solidFill>
                <a:latin typeface="Calibri"/>
              </a:defRPr>
            </a:pPr>
            <a:r>
              <a:t>—  Annual exercise calendar</a:t>
            </a:r>
          </a:p>
          <a:p>
            <a:pPr>
              <a:spcAft>
                <a:spcPts val="500"/>
              </a:spcAft>
              <a:defRPr sz="1300">
                <a:solidFill>
                  <a:srgbClr val="1A1A1A"/>
                </a:solidFill>
                <a:latin typeface="Calibri"/>
              </a:defRPr>
            </a:pPr>
            <a:r>
              <a:t>—  Standardized methodology</a:t>
            </a:r>
          </a:p>
          <a:p>
            <a:pPr>
              <a:spcAft>
                <a:spcPts val="500"/>
              </a:spcAft>
              <a:defRPr sz="1300">
                <a:solidFill>
                  <a:srgbClr val="1A1A1A"/>
                </a:solidFill>
                <a:latin typeface="Calibri"/>
              </a:defRPr>
            </a:pPr>
            <a:r>
              <a:t>—  Consistent evaluation framework</a:t>
            </a:r>
          </a:p>
          <a:p>
            <a:pPr>
              <a:spcAft>
                <a:spcPts val="500"/>
              </a:spcAft>
              <a:defRPr sz="1300">
                <a:solidFill>
                  <a:srgbClr val="1A1A1A"/>
                </a:solidFill>
                <a:latin typeface="Calibri"/>
              </a:defRPr>
            </a:pPr>
            <a:r>
              <a:t>—  Continuous improvement</a:t>
            </a:r>
          </a:p>
          <a:p>
            <a:pPr>
              <a:spcAft>
                <a:spcPts val="500"/>
              </a:spcAft>
              <a:defRPr sz="1300">
                <a:solidFill>
                  <a:srgbClr val="1A1A1A"/>
                </a:solidFill>
                <a:latin typeface="Calibri"/>
              </a:defRPr>
            </a:pPr>
            <a:r>
              <a:t>—  Enterprise-wide participation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Establishing Governance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Governance Components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Executive Sponsor</a:t>
            </a:r>
          </a:p>
          <a:p>
            <a:pPr>
              <a:spcAft>
                <a:spcPts val="500"/>
              </a:spcAft>
              <a:defRPr sz="1300">
                <a:solidFill>
                  <a:srgbClr val="1A1A1A"/>
                </a:solidFill>
                <a:latin typeface="Calibri"/>
              </a:defRPr>
            </a:pPr>
            <a:r>
              <a:t>—  Cybersecurity Steering Committee</a:t>
            </a:r>
          </a:p>
          <a:p>
            <a:pPr>
              <a:spcAft>
                <a:spcPts val="500"/>
              </a:spcAft>
              <a:defRPr sz="1300">
                <a:solidFill>
                  <a:srgbClr val="1A1A1A"/>
                </a:solidFill>
                <a:latin typeface="Calibri"/>
              </a:defRPr>
            </a:pPr>
            <a:r>
              <a:t>—  Exercise Director</a:t>
            </a:r>
          </a:p>
          <a:p>
            <a:pPr>
              <a:spcAft>
                <a:spcPts val="500"/>
              </a:spcAft>
              <a:defRPr sz="1300">
                <a:solidFill>
                  <a:srgbClr val="1A1A1A"/>
                </a:solidFill>
                <a:latin typeface="Calibri"/>
              </a:defRPr>
            </a:pPr>
            <a:r>
              <a:t>—  Incident Response Lead</a:t>
            </a:r>
          </a:p>
          <a:p>
            <a:pPr>
              <a:spcAft>
                <a:spcPts val="500"/>
              </a:spcAft>
              <a:defRPr sz="1300">
                <a:solidFill>
                  <a:srgbClr val="1A1A1A"/>
                </a:solidFill>
                <a:latin typeface="Calibri"/>
              </a:defRPr>
            </a:pPr>
            <a:r>
              <a:t>—  Risk Management</a:t>
            </a:r>
          </a:p>
          <a:p>
            <a:pPr>
              <a:spcAft>
                <a:spcPts val="500"/>
              </a:spcAft>
              <a:defRPr sz="1300">
                <a:solidFill>
                  <a:srgbClr val="1A1A1A"/>
                </a:solidFill>
                <a:latin typeface="Calibri"/>
              </a:defRPr>
            </a:pPr>
            <a:r>
              <a:t>—  Business Unit Representatives</a:t>
            </a:r>
          </a:p>
          <a:p>
            <a:pPr>
              <a:spcAft>
                <a:spcPts val="500"/>
              </a:spcAft>
              <a:defRPr sz="1300">
                <a:solidFill>
                  <a:srgbClr val="1A1A1A"/>
                </a:solidFill>
                <a:latin typeface="Calibri"/>
              </a:defRPr>
            </a:pPr>
            <a:r>
              <a:t>—  Compliance and Legal</a:t>
            </a:r>
          </a:p>
          <a:p>
            <a:pPr>
              <a:spcAft>
                <a:spcPts val="500"/>
              </a:spcAft>
              <a:defRPr sz="1300">
                <a:solidFill>
                  <a:srgbClr val="1A1A1A"/>
                </a:solidFill>
                <a:latin typeface="Calibri"/>
              </a:defRPr>
            </a:pPr>
            <a:r>
              <a:t>—  Internal Audit</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Governance Responsibilities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Approve annual exercise plans</a:t>
            </a:r>
          </a:p>
          <a:p>
            <a:pPr>
              <a:spcAft>
                <a:spcPts val="500"/>
              </a:spcAft>
              <a:defRPr sz="1300">
                <a:solidFill>
                  <a:srgbClr val="1A1A1A"/>
                </a:solidFill>
                <a:latin typeface="Calibri"/>
              </a:defRPr>
            </a:pPr>
            <a:r>
              <a:t>—  Review outcomes</a:t>
            </a:r>
          </a:p>
          <a:p>
            <a:pPr>
              <a:spcAft>
                <a:spcPts val="500"/>
              </a:spcAft>
              <a:defRPr sz="1300">
                <a:solidFill>
                  <a:srgbClr val="1A1A1A"/>
                </a:solidFill>
                <a:latin typeface="Calibri"/>
              </a:defRPr>
            </a:pPr>
            <a:r>
              <a:t>—  Allocate resources</a:t>
            </a:r>
          </a:p>
          <a:p>
            <a:pPr>
              <a:spcAft>
                <a:spcPts val="500"/>
              </a:spcAft>
              <a:defRPr sz="1300">
                <a:solidFill>
                  <a:srgbClr val="1A1A1A"/>
                </a:solidFill>
                <a:latin typeface="Calibri"/>
              </a:defRPr>
            </a:pPr>
            <a:r>
              <a:t>—  Monitor remediation</a:t>
            </a:r>
          </a:p>
          <a:p>
            <a:pPr>
              <a:spcAft>
                <a:spcPts val="500"/>
              </a:spcAft>
              <a:defRPr sz="1300">
                <a:solidFill>
                  <a:srgbClr val="1A1A1A"/>
                </a:solidFill>
                <a:latin typeface="Calibri"/>
              </a:defRPr>
            </a:pPr>
            <a:r>
              <a:t>—  Track program maturity</a:t>
            </a:r>
          </a:p>
          <a:p>
            <a:pPr>
              <a:spcAft>
                <a:spcPts val="500"/>
              </a:spcAft>
              <a:defRPr sz="1300">
                <a:solidFill>
                  <a:srgbClr val="1A1A1A"/>
                </a:solidFill>
                <a:latin typeface="Calibri"/>
              </a:defRPr>
            </a:pPr>
            <a:r>
              <a:t>—  Report to executive leadership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Executive Sponsorship</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Executive Sponsor Responsibilities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Champion the program</a:t>
            </a:r>
          </a:p>
          <a:p>
            <a:pPr>
              <a:spcAft>
                <a:spcPts val="500"/>
              </a:spcAft>
              <a:defRPr sz="1300">
                <a:solidFill>
                  <a:srgbClr val="1A1A1A"/>
                </a:solidFill>
                <a:latin typeface="Calibri"/>
              </a:defRPr>
            </a:pPr>
            <a:r>
              <a:t>—  Secure funding</a:t>
            </a:r>
          </a:p>
          <a:p>
            <a:pPr>
              <a:spcAft>
                <a:spcPts val="500"/>
              </a:spcAft>
              <a:defRPr sz="1300">
                <a:solidFill>
                  <a:srgbClr val="1A1A1A"/>
                </a:solidFill>
                <a:latin typeface="Calibri"/>
              </a:defRPr>
            </a:pPr>
            <a:r>
              <a:t>—  Remove organizational barriers</a:t>
            </a:r>
          </a:p>
          <a:p>
            <a:pPr>
              <a:spcAft>
                <a:spcPts val="500"/>
              </a:spcAft>
              <a:defRPr sz="1300">
                <a:solidFill>
                  <a:srgbClr val="1A1A1A"/>
                </a:solidFill>
                <a:latin typeface="Calibri"/>
              </a:defRPr>
            </a:pPr>
            <a:r>
              <a:t>—  Encourage participation</a:t>
            </a:r>
          </a:p>
          <a:p>
            <a:pPr>
              <a:spcAft>
                <a:spcPts val="500"/>
              </a:spcAft>
              <a:defRPr sz="1300">
                <a:solidFill>
                  <a:srgbClr val="1A1A1A"/>
                </a:solidFill>
                <a:latin typeface="Calibri"/>
              </a:defRPr>
            </a:pPr>
            <a:r>
              <a:t>—  Review strategic findings</a:t>
            </a:r>
          </a:p>
          <a:p>
            <a:pPr>
              <a:spcAft>
                <a:spcPts val="500"/>
              </a:spcAft>
              <a:defRPr sz="1300">
                <a:solidFill>
                  <a:srgbClr val="1A1A1A"/>
                </a:solidFill>
                <a:latin typeface="Calibri"/>
              </a:defRPr>
            </a:pPr>
            <a:r>
              <a:t>—  Promote accountability</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Stronger organizational support</a:t>
            </a:r>
          </a:p>
          <a:p>
            <a:pPr>
              <a:spcAft>
                <a:spcPts val="500"/>
              </a:spcAft>
              <a:defRPr sz="1300">
                <a:solidFill>
                  <a:srgbClr val="1A1A1A"/>
                </a:solidFill>
                <a:latin typeface="Calibri"/>
              </a:defRPr>
            </a:pPr>
            <a:r>
              <a:t>—  Improved participation</a:t>
            </a:r>
          </a:p>
          <a:p>
            <a:pPr>
              <a:spcAft>
                <a:spcPts val="500"/>
              </a:spcAft>
              <a:defRPr sz="1300">
                <a:solidFill>
                  <a:srgbClr val="1A1A1A"/>
                </a:solidFill>
                <a:latin typeface="Calibri"/>
              </a:defRPr>
            </a:pPr>
            <a:r>
              <a:t>—  Faster remediation</a:t>
            </a:r>
          </a:p>
          <a:p>
            <a:pPr>
              <a:spcAft>
                <a:spcPts val="500"/>
              </a:spcAft>
              <a:defRPr sz="1300">
                <a:solidFill>
                  <a:srgbClr val="1A1A1A"/>
                </a:solidFill>
                <a:latin typeface="Calibri"/>
              </a:defRPr>
            </a:pPr>
            <a:r>
              <a:t>—  Better alignment with business strategy</a:t>
            </a:r>
          </a:p>
        </p:txBody>
      </p:sp>
      <p:sp>
        <p:nvSpPr>
          <p:cNvPr id="9" name="TextBox 8"/>
          <p:cNvSpPr txBox="1"/>
          <p:nvPr/>
        </p:nvSpPr>
        <p:spPr>
          <a:xfrm>
            <a:off x="548640" y="6126479"/>
            <a:ext cx="10972800" cy="320040"/>
          </a:xfrm>
          <a:prstGeom prst="rect">
            <a:avLst/>
          </a:prstGeom>
          <a:noFill/>
        </p:spPr>
        <p:txBody>
          <a:bodyPr wrap="square">
            <a:spAutoFit/>
          </a:bodyPr>
          <a:lstStyle/>
          <a:p>
            <a:pPr algn="l">
              <a:defRPr sz="1300" b="1">
                <a:solidFill>
                  <a:srgbClr val="666666"/>
                </a:solidFill>
                <a:latin typeface="Calibri"/>
              </a:defRPr>
            </a:pPr>
            <a:r>
              <a:t>Executive Metrics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Developing a Multi-Year Exercise Roadmap</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Three-Year Roadmap</a:t>
            </a:r>
          </a:p>
        </p:txBody>
      </p:sp>
      <p:graphicFrame>
        <p:nvGraphicFramePr>
          <p:cNvPr id="6" name="Table 5"/>
          <p:cNvGraphicFramePr>
            <a:graphicFrameLocks noGrp="1"/>
          </p:cNvGraphicFramePr>
          <p:nvPr/>
        </p:nvGraphicFramePr>
        <p:xfrm>
          <a:off x="548640" y="2194560"/>
          <a:ext cx="10972800" cy="18288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Year</a:t>
                      </a:r>
                    </a:p>
                  </a:txBody>
                  <a:tcPr/>
                </a:tc>
                <a:tc>
                  <a:txBody>
                    <a:bodyPr/>
                    <a:lstStyle/>
                    <a:p>
                      <a:pPr>
                        <a:defRPr sz="1100" b="1">
                          <a:solidFill>
                            <a:srgbClr val="666666"/>
                          </a:solidFill>
                        </a:defRPr>
                      </a:pPr>
                      <a:r>
                        <a:t>Focus</a:t>
                      </a:r>
                    </a:p>
                  </a:txBody>
                  <a:tcPr/>
                </a:tc>
              </a:tr>
              <a:tr h="457200">
                <a:tc>
                  <a:txBody>
                    <a:bodyPr/>
                    <a:lstStyle/>
                    <a:p>
                      <a:pPr>
                        <a:defRPr sz="1200">
                          <a:solidFill>
                            <a:srgbClr val="1A1A1A"/>
                          </a:solidFill>
                        </a:defRPr>
                      </a:pPr>
                      <a:r>
                        <a:t>Year 1</a:t>
                      </a:r>
                    </a:p>
                  </a:txBody>
                  <a:tcPr/>
                </a:tc>
                <a:tc>
                  <a:txBody>
                    <a:bodyPr/>
                    <a:lstStyle/>
                    <a:p>
                      <a:pPr>
                        <a:defRPr sz="1200">
                          <a:solidFill>
                            <a:srgbClr val="1A1A1A"/>
                          </a:solidFill>
                        </a:defRPr>
                      </a:pPr>
                      <a:r>
                        <a:t>Incident Response Fundamentals</a:t>
                      </a:r>
                    </a:p>
                  </a:txBody>
                  <a:tcPr/>
                </a:tc>
              </a:tr>
              <a:tr h="457200">
                <a:tc>
                  <a:txBody>
                    <a:bodyPr/>
                    <a:lstStyle/>
                    <a:p>
                      <a:pPr>
                        <a:defRPr sz="1200">
                          <a:solidFill>
                            <a:srgbClr val="1A1A1A"/>
                          </a:solidFill>
                        </a:defRPr>
                      </a:pPr>
                      <a:r>
                        <a:t>Year 2</a:t>
                      </a:r>
                    </a:p>
                  </a:txBody>
                  <a:tcPr/>
                </a:tc>
                <a:tc>
                  <a:txBody>
                    <a:bodyPr/>
                    <a:lstStyle/>
                    <a:p>
                      <a:pPr>
                        <a:defRPr sz="1200">
                          <a:solidFill>
                            <a:srgbClr val="1A1A1A"/>
                          </a:solidFill>
                        </a:defRPr>
                      </a:pPr>
                      <a:r>
                        <a:t>Cross-Functional Coordination</a:t>
                      </a:r>
                    </a:p>
                  </a:txBody>
                  <a:tcPr/>
                </a:tc>
              </a:tr>
              <a:tr h="457200">
                <a:tc>
                  <a:txBody>
                    <a:bodyPr/>
                    <a:lstStyle/>
                    <a:p>
                      <a:pPr>
                        <a:defRPr sz="1200">
                          <a:solidFill>
                            <a:srgbClr val="1A1A1A"/>
                          </a:solidFill>
                        </a:defRPr>
                      </a:pPr>
                      <a:r>
                        <a:t>Year 3</a:t>
                      </a:r>
                    </a:p>
                  </a:txBody>
                  <a:tcPr/>
                </a:tc>
                <a:tc>
                  <a:txBody>
                    <a:bodyPr/>
                    <a:lstStyle/>
                    <a:p>
                      <a:pPr>
                        <a:defRPr sz="1200">
                          <a:solidFill>
                            <a:srgbClr val="1A1A1A"/>
                          </a:solidFill>
                        </a:defRPr>
                      </a:pPr>
                      <a:r>
                        <a:t>Enterprise Crisis Management</a:t>
                      </a:r>
                    </a:p>
                  </a:txBody>
                  <a:tcPr/>
                </a:tc>
              </a:tr>
            </a:tbl>
          </a:graphicData>
        </a:graphic>
      </p:graphicFrame>
      <p:sp>
        <p:nvSpPr>
          <p:cNvPr id="7" name="TextBox 6"/>
          <p:cNvSpPr txBox="1"/>
          <p:nvPr/>
        </p:nvSpPr>
        <p:spPr>
          <a:xfrm>
            <a:off x="548640" y="4343400"/>
            <a:ext cx="10972800" cy="320040"/>
          </a:xfrm>
          <a:prstGeom prst="rect">
            <a:avLst/>
          </a:prstGeom>
          <a:noFill/>
        </p:spPr>
        <p:txBody>
          <a:bodyPr wrap="square">
            <a:spAutoFit/>
          </a:bodyPr>
          <a:lstStyle/>
          <a:p>
            <a:pPr algn="l">
              <a:defRPr sz="1300" b="1">
                <a:solidFill>
                  <a:srgbClr val="666666"/>
                </a:solidFill>
                <a:latin typeface="Calibri"/>
              </a:defRPr>
            </a:pPr>
            <a:r>
              <a:t>Progressive Complexity</a:t>
            </a:r>
          </a:p>
        </p:txBody>
      </p:sp>
      <p:sp>
        <p:nvSpPr>
          <p:cNvPr id="8" name="TextBox 7"/>
          <p:cNvSpPr txBox="1"/>
          <p:nvPr/>
        </p:nvSpPr>
        <p:spPr>
          <a:xfrm>
            <a:off x="548640" y="4800600"/>
            <a:ext cx="10972800" cy="2743200"/>
          </a:xfrm>
          <a:prstGeom prst="rect">
            <a:avLst/>
          </a:prstGeom>
          <a:noFill/>
        </p:spPr>
        <p:txBody>
          <a:bodyPr wrap="square">
            <a:spAutoFit/>
          </a:bodyPr>
          <a:lstStyle/>
          <a:p>
            <a:pPr>
              <a:spcAft>
                <a:spcPts val="500"/>
              </a:spcAft>
              <a:defRPr sz="1300">
                <a:solidFill>
                  <a:srgbClr val="1A1A1A"/>
                </a:solidFill>
                <a:latin typeface="Calibri"/>
              </a:defRPr>
            </a:pPr>
            <a:r>
              <a:t>—  Single-team exercises</a:t>
            </a:r>
          </a:p>
          <a:p>
            <a:pPr>
              <a:spcAft>
                <a:spcPts val="500"/>
              </a:spcAft>
              <a:defRPr sz="1300">
                <a:solidFill>
                  <a:srgbClr val="1A1A1A"/>
                </a:solidFill>
                <a:latin typeface="Calibri"/>
              </a:defRPr>
            </a:pPr>
            <a:r>
              <a:t>—  Multi-team exercises</a:t>
            </a:r>
          </a:p>
          <a:p>
            <a:pPr>
              <a:spcAft>
                <a:spcPts val="500"/>
              </a:spcAft>
              <a:defRPr sz="1300">
                <a:solidFill>
                  <a:srgbClr val="1A1A1A"/>
                </a:solidFill>
                <a:latin typeface="Calibri"/>
              </a:defRPr>
            </a:pPr>
            <a:r>
              <a:t>—  Enterprise-wide exercises</a:t>
            </a:r>
          </a:p>
          <a:p>
            <a:pPr>
              <a:spcAft>
                <a:spcPts val="500"/>
              </a:spcAft>
              <a:defRPr sz="1300">
                <a:solidFill>
                  <a:srgbClr val="1A1A1A"/>
                </a:solidFill>
                <a:latin typeface="Calibri"/>
              </a:defRPr>
            </a:pPr>
            <a:r>
              <a:t>—  Multi-organization exercises</a:t>
            </a:r>
          </a:p>
          <a:p>
            <a:pPr>
              <a:spcAft>
                <a:spcPts val="500"/>
              </a:spcAft>
              <a:defRPr sz="1300">
                <a:solidFill>
                  <a:srgbClr val="1A1A1A"/>
                </a:solidFill>
                <a:latin typeface="Calibri"/>
              </a:defRPr>
            </a:pPr>
            <a:r>
              <a:t>—  Sector-wide exercises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Capability Maturity Model</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Maturity Levels</a:t>
            </a:r>
          </a:p>
        </p:txBody>
      </p:sp>
      <p:graphicFrame>
        <p:nvGraphicFramePr>
          <p:cNvPr id="6" name="Table 5"/>
          <p:cNvGraphicFramePr>
            <a:graphicFrameLocks noGrp="1"/>
          </p:cNvGraphicFramePr>
          <p:nvPr/>
        </p:nvGraphicFramePr>
        <p:xfrm>
          <a:off x="548640" y="2194560"/>
          <a:ext cx="10972800" cy="27432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Level</a:t>
                      </a:r>
                    </a:p>
                  </a:txBody>
                  <a:tcPr/>
                </a:tc>
                <a:tc>
                  <a:txBody>
                    <a:bodyPr/>
                    <a:lstStyle/>
                    <a:p>
                      <a:pPr>
                        <a:defRPr sz="1100" b="1">
                          <a:solidFill>
                            <a:srgbClr val="666666"/>
                          </a:solidFill>
                        </a:defRPr>
                      </a:pPr>
                      <a:r>
                        <a:t>Description</a:t>
                      </a:r>
                    </a:p>
                  </a:txBody>
                  <a:tcPr/>
                </a:tc>
              </a:tr>
              <a:tr h="457200">
                <a:tc>
                  <a:txBody>
                    <a:bodyPr/>
                    <a:lstStyle/>
                    <a:p>
                      <a:pPr>
                        <a:defRPr sz="1200">
                          <a:solidFill>
                            <a:srgbClr val="1A1A1A"/>
                          </a:solidFill>
                        </a:defRPr>
                      </a:pPr>
                      <a:r>
                        <a:t>1</a:t>
                      </a:r>
                    </a:p>
                  </a:txBody>
                  <a:tcPr/>
                </a:tc>
                <a:tc>
                  <a:txBody>
                    <a:bodyPr/>
                    <a:lstStyle/>
                    <a:p>
                      <a:pPr>
                        <a:defRPr sz="1200">
                          <a:solidFill>
                            <a:srgbClr val="1A1A1A"/>
                          </a:solidFill>
                        </a:defRPr>
                      </a:pPr>
                      <a:r>
                        <a:t>Initial</a:t>
                      </a:r>
                    </a:p>
                  </a:txBody>
                  <a:tcPr/>
                </a:tc>
              </a:tr>
              <a:tr h="457200">
                <a:tc>
                  <a:txBody>
                    <a:bodyPr/>
                    <a:lstStyle/>
                    <a:p>
                      <a:pPr>
                        <a:defRPr sz="1200">
                          <a:solidFill>
                            <a:srgbClr val="1A1A1A"/>
                          </a:solidFill>
                        </a:defRPr>
                      </a:pPr>
                      <a:r>
                        <a:t>2</a:t>
                      </a:r>
                    </a:p>
                  </a:txBody>
                  <a:tcPr/>
                </a:tc>
                <a:tc>
                  <a:txBody>
                    <a:bodyPr/>
                    <a:lstStyle/>
                    <a:p>
                      <a:pPr>
                        <a:defRPr sz="1200">
                          <a:solidFill>
                            <a:srgbClr val="1A1A1A"/>
                          </a:solidFill>
                        </a:defRPr>
                      </a:pPr>
                      <a:r>
                        <a:t>Repeatable</a:t>
                      </a:r>
                    </a:p>
                  </a:txBody>
                  <a:tcPr/>
                </a:tc>
              </a:tr>
              <a:tr h="457200">
                <a:tc>
                  <a:txBody>
                    <a:bodyPr/>
                    <a:lstStyle/>
                    <a:p>
                      <a:pPr>
                        <a:defRPr sz="1200">
                          <a:solidFill>
                            <a:srgbClr val="1A1A1A"/>
                          </a:solidFill>
                        </a:defRPr>
                      </a:pPr>
                      <a:r>
                        <a:t>3</a:t>
                      </a:r>
                    </a:p>
                  </a:txBody>
                  <a:tcPr/>
                </a:tc>
                <a:tc>
                  <a:txBody>
                    <a:bodyPr/>
                    <a:lstStyle/>
                    <a:p>
                      <a:pPr>
                        <a:defRPr sz="1200">
                          <a:solidFill>
                            <a:srgbClr val="1A1A1A"/>
                          </a:solidFill>
                        </a:defRPr>
                      </a:pPr>
                      <a:r>
                        <a:t>Defined</a:t>
                      </a:r>
                    </a:p>
                  </a:txBody>
                  <a:tcPr/>
                </a:tc>
              </a:tr>
              <a:tr h="457200">
                <a:tc>
                  <a:txBody>
                    <a:bodyPr/>
                    <a:lstStyle/>
                    <a:p>
                      <a:pPr>
                        <a:defRPr sz="1200">
                          <a:solidFill>
                            <a:srgbClr val="1A1A1A"/>
                          </a:solidFill>
                        </a:defRPr>
                      </a:pPr>
                      <a:r>
                        <a:t>4</a:t>
                      </a:r>
                    </a:p>
                  </a:txBody>
                  <a:tcPr/>
                </a:tc>
                <a:tc>
                  <a:txBody>
                    <a:bodyPr/>
                    <a:lstStyle/>
                    <a:p>
                      <a:pPr>
                        <a:defRPr sz="1200">
                          <a:solidFill>
                            <a:srgbClr val="1A1A1A"/>
                          </a:solidFill>
                        </a:defRPr>
                      </a:pPr>
                      <a:r>
                        <a:t>Managed</a:t>
                      </a:r>
                    </a:p>
                  </a:txBody>
                  <a:tcPr/>
                </a:tc>
              </a:tr>
              <a:tr h="457200">
                <a:tc>
                  <a:txBody>
                    <a:bodyPr/>
                    <a:lstStyle/>
                    <a:p>
                      <a:pPr>
                        <a:defRPr sz="1200">
                          <a:solidFill>
                            <a:srgbClr val="1A1A1A"/>
                          </a:solidFill>
                        </a:defRPr>
                      </a:pPr>
                      <a:r>
                        <a:t>5</a:t>
                      </a:r>
                    </a:p>
                  </a:txBody>
                  <a:tcPr/>
                </a:tc>
                <a:tc>
                  <a:txBody>
                    <a:bodyPr/>
                    <a:lstStyle/>
                    <a:p>
                      <a:pPr>
                        <a:defRPr sz="1200">
                          <a:solidFill>
                            <a:srgbClr val="1A1A1A"/>
                          </a:solidFill>
                        </a:defRPr>
                      </a:pPr>
                      <a:r>
                        <a:t>Optimized</a:t>
                      </a:r>
                    </a:p>
                  </a:txBody>
                  <a:tcPr/>
                </a:tc>
              </a:tr>
            </a:tbl>
          </a:graphicData>
        </a:graphic>
      </p:graphicFrame>
      <p:sp>
        <p:nvSpPr>
          <p:cNvPr id="7" name="TextBox 6"/>
          <p:cNvSpPr txBox="1"/>
          <p:nvPr/>
        </p:nvSpPr>
        <p:spPr>
          <a:xfrm>
            <a:off x="548640" y="5257800"/>
            <a:ext cx="10972800" cy="320040"/>
          </a:xfrm>
          <a:prstGeom prst="rect">
            <a:avLst/>
          </a:prstGeom>
          <a:noFill/>
        </p:spPr>
        <p:txBody>
          <a:bodyPr wrap="square">
            <a:spAutoFit/>
          </a:bodyPr>
          <a:lstStyle/>
          <a:p>
            <a:pPr algn="l">
              <a:defRPr sz="1300" b="1">
                <a:solidFill>
                  <a:srgbClr val="666666"/>
                </a:solidFill>
                <a:latin typeface="Calibri"/>
              </a:defRPr>
            </a:pPr>
            <a:r>
              <a:t>Assessment Areas</a:t>
            </a:r>
          </a:p>
        </p:txBody>
      </p:sp>
      <p:sp>
        <p:nvSpPr>
          <p:cNvPr id="8" name="TextBox 7"/>
          <p:cNvSpPr txBox="1"/>
          <p:nvPr/>
        </p:nvSpPr>
        <p:spPr>
          <a:xfrm>
            <a:off x="548640" y="5715000"/>
            <a:ext cx="10972800" cy="2743200"/>
          </a:xfrm>
          <a:prstGeom prst="rect">
            <a:avLst/>
          </a:prstGeom>
          <a:noFill/>
        </p:spPr>
        <p:txBody>
          <a:bodyPr wrap="square">
            <a:spAutoFit/>
          </a:bodyPr>
          <a:lstStyle/>
          <a:p>
            <a:pPr>
              <a:spcAft>
                <a:spcPts val="500"/>
              </a:spcAft>
              <a:defRPr sz="1300">
                <a:solidFill>
                  <a:srgbClr val="1A1A1A"/>
                </a:solidFill>
                <a:latin typeface="Calibri"/>
              </a:defRPr>
            </a:pPr>
            <a:r>
              <a:t>—  Governance</a:t>
            </a:r>
          </a:p>
          <a:p>
            <a:pPr>
              <a:spcAft>
                <a:spcPts val="500"/>
              </a:spcAft>
              <a:defRPr sz="1300">
                <a:solidFill>
                  <a:srgbClr val="1A1A1A"/>
                </a:solidFill>
                <a:latin typeface="Calibri"/>
              </a:defRPr>
            </a:pPr>
            <a:r>
              <a:t>—  Planning</a:t>
            </a:r>
          </a:p>
          <a:p>
            <a:pPr>
              <a:spcAft>
                <a:spcPts val="500"/>
              </a:spcAft>
              <a:defRPr sz="1300">
                <a:solidFill>
                  <a:srgbClr val="1A1A1A"/>
                </a:solidFill>
                <a:latin typeface="Calibri"/>
              </a:defRPr>
            </a:pPr>
            <a:r>
              <a:t>—  Facilitation</a:t>
            </a:r>
          </a:p>
          <a:p>
            <a:pPr>
              <a:spcAft>
                <a:spcPts val="500"/>
              </a:spcAft>
              <a:defRPr sz="1300">
                <a:solidFill>
                  <a:srgbClr val="1A1A1A"/>
                </a:solidFill>
                <a:latin typeface="Calibri"/>
              </a:defRPr>
            </a:pPr>
            <a:r>
              <a:t>—  Evaluation</a:t>
            </a:r>
          </a:p>
          <a:p>
            <a:pPr>
              <a:spcAft>
                <a:spcPts val="500"/>
              </a:spcAft>
              <a:defRPr sz="1300">
                <a:solidFill>
                  <a:srgbClr val="1A1A1A"/>
                </a:solidFill>
                <a:latin typeface="Calibri"/>
              </a:defRPr>
            </a:pPr>
            <a:r>
              <a:t>—  Reporting</a:t>
            </a:r>
          </a:p>
          <a:p>
            <a:pPr>
              <a:spcAft>
                <a:spcPts val="500"/>
              </a:spcAft>
              <a:defRPr sz="1300">
                <a:solidFill>
                  <a:srgbClr val="1A1A1A"/>
                </a:solidFill>
                <a:latin typeface="Calibri"/>
              </a:defRPr>
            </a:pPr>
            <a:r>
              <a:t>—  Continuous Improvement</a:t>
            </a:r>
          </a:p>
          <a:p>
            <a:pPr>
              <a:spcAft>
                <a:spcPts val="500"/>
              </a:spcAft>
              <a:defRPr sz="1300">
                <a:solidFill>
                  <a:srgbClr val="1A1A1A"/>
                </a:solidFill>
                <a:latin typeface="Calibri"/>
              </a:defRPr>
            </a:pPr>
            <a:r>
              <a:t>—  Executive Engagement</a:t>
            </a:r>
          </a:p>
          <a:p>
            <a:pPr>
              <a:spcAft>
                <a:spcPts val="500"/>
              </a:spcAft>
              <a:defRPr sz="1300">
                <a:solidFill>
                  <a:srgbClr val="1A1A1A"/>
                </a:solidFill>
                <a:latin typeface="Calibri"/>
              </a:defRPr>
            </a:pPr>
            <a:r>
              <a:t>—  Metrics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Aligning with Enterprise Risk Management (ERM)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Integration Points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Risk Register</a:t>
            </a:r>
          </a:p>
          <a:p>
            <a:pPr>
              <a:spcAft>
                <a:spcPts val="500"/>
              </a:spcAft>
              <a:defRPr sz="1300">
                <a:solidFill>
                  <a:srgbClr val="1A1A1A"/>
                </a:solidFill>
                <a:latin typeface="Calibri"/>
              </a:defRPr>
            </a:pPr>
            <a:r>
              <a:t>—  Business Impact Analysis (BIA)</a:t>
            </a:r>
          </a:p>
          <a:p>
            <a:pPr>
              <a:spcAft>
                <a:spcPts val="500"/>
              </a:spcAft>
              <a:defRPr sz="1300">
                <a:solidFill>
                  <a:srgbClr val="1A1A1A"/>
                </a:solidFill>
                <a:latin typeface="Calibri"/>
              </a:defRPr>
            </a:pPr>
            <a:r>
              <a:t>—  Business Continuity Planning (BCP)</a:t>
            </a:r>
          </a:p>
          <a:p>
            <a:pPr>
              <a:spcAft>
                <a:spcPts val="500"/>
              </a:spcAft>
              <a:defRPr sz="1300">
                <a:solidFill>
                  <a:srgbClr val="1A1A1A"/>
                </a:solidFill>
                <a:latin typeface="Calibri"/>
              </a:defRPr>
            </a:pPr>
            <a:r>
              <a:t>—  Disaster Recovery (DR)</a:t>
            </a:r>
          </a:p>
          <a:p>
            <a:pPr>
              <a:spcAft>
                <a:spcPts val="500"/>
              </a:spcAft>
              <a:defRPr sz="1300">
                <a:solidFill>
                  <a:srgbClr val="1A1A1A"/>
                </a:solidFill>
                <a:latin typeface="Calibri"/>
              </a:defRPr>
            </a:pPr>
            <a:r>
              <a:t>—  Cyber Risk Assessments</a:t>
            </a:r>
          </a:p>
          <a:p>
            <a:pPr>
              <a:spcAft>
                <a:spcPts val="500"/>
              </a:spcAft>
              <a:defRPr sz="1300">
                <a:solidFill>
                  <a:srgbClr val="1A1A1A"/>
                </a:solidFill>
                <a:latin typeface="Calibri"/>
              </a:defRPr>
            </a:pPr>
            <a:r>
              <a:t>—  Executive Risk Reporting</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Better risk prioritization</a:t>
            </a:r>
          </a:p>
          <a:p>
            <a:pPr>
              <a:spcAft>
                <a:spcPts val="500"/>
              </a:spcAft>
              <a:defRPr sz="1300">
                <a:solidFill>
                  <a:srgbClr val="1A1A1A"/>
                </a:solidFill>
                <a:latin typeface="Calibri"/>
              </a:defRPr>
            </a:pPr>
            <a:r>
              <a:t>—  Improved investment decisions</a:t>
            </a:r>
          </a:p>
          <a:p>
            <a:pPr>
              <a:spcAft>
                <a:spcPts val="500"/>
              </a:spcAft>
              <a:defRPr sz="1300">
                <a:solidFill>
                  <a:srgbClr val="1A1A1A"/>
                </a:solidFill>
                <a:latin typeface="Calibri"/>
              </a:defRPr>
            </a:pPr>
            <a:r>
              <a:t>—  Increased executive visibility</a:t>
            </a:r>
          </a:p>
          <a:p>
            <a:pPr>
              <a:spcAft>
                <a:spcPts val="500"/>
              </a:spcAft>
              <a:defRPr sz="1300">
                <a:solidFill>
                  <a:srgbClr val="1A1A1A"/>
                </a:solidFill>
                <a:latin typeface="Calibri"/>
              </a:defRPr>
            </a:pPr>
            <a:r>
              <a:t>—  Stronger governance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Regulatory and Compliance Alignment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Common Frameworks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NIST Cybersecurity Framework (CSF) 2.0</a:t>
            </a:r>
          </a:p>
          <a:p>
            <a:pPr>
              <a:spcAft>
                <a:spcPts val="500"/>
              </a:spcAft>
              <a:defRPr sz="1300">
                <a:solidFill>
                  <a:srgbClr val="1A1A1A"/>
                </a:solidFill>
                <a:latin typeface="Calibri"/>
              </a:defRPr>
            </a:pPr>
            <a:r>
              <a:t>—  NIST SP 800-61 (Incident Response)</a:t>
            </a:r>
          </a:p>
          <a:p>
            <a:pPr>
              <a:spcAft>
                <a:spcPts val="500"/>
              </a:spcAft>
              <a:defRPr sz="1300">
                <a:solidFill>
                  <a:srgbClr val="1A1A1A"/>
                </a:solidFill>
                <a:latin typeface="Calibri"/>
              </a:defRPr>
            </a:pPr>
            <a:r>
              <a:t>—  ISO/IEC 27001</a:t>
            </a:r>
          </a:p>
          <a:p>
            <a:pPr>
              <a:spcAft>
                <a:spcPts val="500"/>
              </a:spcAft>
              <a:defRPr sz="1300">
                <a:solidFill>
                  <a:srgbClr val="1A1A1A"/>
                </a:solidFill>
                <a:latin typeface="Calibri"/>
              </a:defRPr>
            </a:pPr>
            <a:r>
              <a:t>—  ISO/IEC 22301 (Business Continuity)</a:t>
            </a:r>
          </a:p>
          <a:p>
            <a:pPr>
              <a:spcAft>
                <a:spcPts val="500"/>
              </a:spcAft>
              <a:defRPr sz="1300">
                <a:solidFill>
                  <a:srgbClr val="1A1A1A"/>
                </a:solidFill>
                <a:latin typeface="Calibri"/>
              </a:defRPr>
            </a:pPr>
            <a:r>
              <a:t>—  CIS Critical Security Controls</a:t>
            </a:r>
          </a:p>
          <a:p>
            <a:pPr>
              <a:spcAft>
                <a:spcPts val="500"/>
              </a:spcAft>
              <a:defRPr sz="1300">
                <a:solidFill>
                  <a:srgbClr val="1A1A1A"/>
                </a:solidFill>
                <a:latin typeface="Calibri"/>
              </a:defRPr>
            </a:pPr>
            <a:r>
              <a:t>—  PCI DSS</a:t>
            </a:r>
          </a:p>
          <a:p>
            <a:pPr>
              <a:spcAft>
                <a:spcPts val="500"/>
              </a:spcAft>
              <a:defRPr sz="1300">
                <a:solidFill>
                  <a:srgbClr val="1A1A1A"/>
                </a:solidFill>
                <a:latin typeface="Calibri"/>
              </a:defRPr>
            </a:pPr>
            <a:r>
              <a:t>—  HIPAA</a:t>
            </a:r>
          </a:p>
          <a:p>
            <a:pPr>
              <a:spcAft>
                <a:spcPts val="500"/>
              </a:spcAft>
              <a:defRPr sz="1300">
                <a:solidFill>
                  <a:srgbClr val="1A1A1A"/>
                </a:solidFill>
                <a:latin typeface="Calibri"/>
              </a:defRPr>
            </a:pPr>
            <a:r>
              <a:t>—  GDPR</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Demonstrates due diligence</a:t>
            </a:r>
          </a:p>
          <a:p>
            <a:pPr>
              <a:spcAft>
                <a:spcPts val="500"/>
              </a:spcAft>
              <a:defRPr sz="1300">
                <a:solidFill>
                  <a:srgbClr val="1A1A1A"/>
                </a:solidFill>
                <a:latin typeface="Calibri"/>
              </a:defRPr>
            </a:pPr>
            <a:r>
              <a:t>—  Supports compliance audits</a:t>
            </a:r>
          </a:p>
          <a:p>
            <a:pPr>
              <a:spcAft>
                <a:spcPts val="500"/>
              </a:spcAft>
              <a:defRPr sz="1300">
                <a:solidFill>
                  <a:srgbClr val="1A1A1A"/>
                </a:solidFill>
                <a:latin typeface="Calibri"/>
              </a:defRPr>
            </a:pPr>
            <a:r>
              <a:t>—  Improves documentation</a:t>
            </a:r>
          </a:p>
          <a:p>
            <a:pPr>
              <a:spcAft>
                <a:spcPts val="500"/>
              </a:spcAft>
              <a:defRPr sz="1300">
                <a:solidFill>
                  <a:srgbClr val="1A1A1A"/>
                </a:solidFill>
                <a:latin typeface="Calibri"/>
              </a:defRPr>
            </a:pPr>
            <a:r>
              <a:t>—  Strengthens governance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Metrics and Executive Reporting</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Recommended Metrics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Exercises completed</a:t>
            </a:r>
          </a:p>
          <a:p>
            <a:pPr>
              <a:spcAft>
                <a:spcPts val="500"/>
              </a:spcAft>
              <a:defRPr sz="1300">
                <a:solidFill>
                  <a:srgbClr val="1A1A1A"/>
                </a:solidFill>
                <a:latin typeface="Calibri"/>
              </a:defRPr>
            </a:pPr>
            <a:r>
              <a:t>—  Participation rate</a:t>
            </a:r>
          </a:p>
          <a:p>
            <a:pPr>
              <a:spcAft>
                <a:spcPts val="500"/>
              </a:spcAft>
              <a:defRPr sz="1300">
                <a:solidFill>
                  <a:srgbClr val="1A1A1A"/>
                </a:solidFill>
                <a:latin typeface="Calibri"/>
              </a:defRPr>
            </a:pPr>
            <a:r>
              <a:t>—  Objectives achieved</a:t>
            </a:r>
          </a:p>
          <a:p>
            <a:pPr>
              <a:spcAft>
                <a:spcPts val="500"/>
              </a:spcAft>
              <a:defRPr sz="1300">
                <a:solidFill>
                  <a:srgbClr val="1A1A1A"/>
                </a:solidFill>
                <a:latin typeface="Calibri"/>
              </a:defRPr>
            </a:pPr>
            <a:r>
              <a:t>—  Corrective actions closed</a:t>
            </a:r>
          </a:p>
          <a:p>
            <a:pPr>
              <a:spcAft>
                <a:spcPts val="500"/>
              </a:spcAft>
              <a:defRPr sz="1300">
                <a:solidFill>
                  <a:srgbClr val="1A1A1A"/>
                </a:solidFill>
                <a:latin typeface="Calibri"/>
              </a:defRPr>
            </a:pPr>
            <a:r>
              <a:t>—  Average remediation time</a:t>
            </a:r>
          </a:p>
          <a:p>
            <a:pPr>
              <a:spcAft>
                <a:spcPts val="500"/>
              </a:spcAft>
              <a:defRPr sz="1300">
                <a:solidFill>
                  <a:srgbClr val="1A1A1A"/>
                </a:solidFill>
                <a:latin typeface="Calibri"/>
              </a:defRPr>
            </a:pPr>
            <a:r>
              <a:t>—  Capability maturity score</a:t>
            </a:r>
          </a:p>
          <a:p>
            <a:pPr>
              <a:spcAft>
                <a:spcPts val="500"/>
              </a:spcAft>
              <a:defRPr sz="1300">
                <a:solidFill>
                  <a:srgbClr val="1A1A1A"/>
                </a:solidFill>
                <a:latin typeface="Calibri"/>
              </a:defRPr>
            </a:pPr>
            <a:r>
              <a:t>—  Repeat findings</a:t>
            </a:r>
          </a:p>
          <a:p>
            <a:pPr>
              <a:spcAft>
                <a:spcPts val="500"/>
              </a:spcAft>
              <a:defRPr sz="1300">
                <a:solidFill>
                  <a:srgbClr val="1A1A1A"/>
                </a:solidFill>
                <a:latin typeface="Calibri"/>
              </a:defRPr>
            </a:pPr>
            <a:r>
              <a:t>—  Executive participation</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Executive Dashboard Example</a:t>
            </a:r>
          </a:p>
        </p:txBody>
      </p:sp>
      <p:graphicFrame>
        <p:nvGraphicFramePr>
          <p:cNvPr id="8" name="Table 7"/>
          <p:cNvGraphicFramePr>
            <a:graphicFrameLocks noGrp="1"/>
          </p:cNvGraphicFramePr>
          <p:nvPr/>
        </p:nvGraphicFramePr>
        <p:xfrm>
          <a:off x="548640" y="5074920"/>
          <a:ext cx="10972800" cy="2286000"/>
        </p:xfrm>
        <a:graphic>
          <a:graphicData uri="http://schemas.openxmlformats.org/drawingml/2006/table">
            <a:tbl>
              <a:tblPr firstRow="1" bandRow="1">
                <a:tableStyleId>{5C22544A-7EE6-4342-B048-85BDC9FD1C3A}</a:tableStyleId>
              </a:tblPr>
              <a:tblGrid>
                <a:gridCol w="3657600"/>
                <a:gridCol w="3657600"/>
                <a:gridCol w="3657600"/>
              </a:tblGrid>
              <a:tr h="457200">
                <a:tc>
                  <a:txBody>
                    <a:bodyPr/>
                    <a:lstStyle/>
                    <a:p>
                      <a:pPr>
                        <a:defRPr sz="1100" b="1">
                          <a:solidFill>
                            <a:srgbClr val="666666"/>
                          </a:solidFill>
                        </a:defRPr>
                      </a:pPr>
                      <a:r>
                        <a:t>Metric</a:t>
                      </a:r>
                    </a:p>
                  </a:txBody>
                  <a:tcPr/>
                </a:tc>
                <a:tc>
                  <a:txBody>
                    <a:bodyPr/>
                    <a:lstStyle/>
                    <a:p>
                      <a:pPr>
                        <a:defRPr sz="1100" b="1">
                          <a:solidFill>
                            <a:srgbClr val="666666"/>
                          </a:solidFill>
                        </a:defRPr>
                      </a:pPr>
                      <a:r>
                        <a:t>Target</a:t>
                      </a:r>
                    </a:p>
                  </a:txBody>
                  <a:tcPr/>
                </a:tc>
                <a:tc>
                  <a:txBody>
                    <a:bodyPr/>
                    <a:lstStyle/>
                    <a:p>
                      <a:pPr>
                        <a:defRPr sz="1100" b="1">
                          <a:solidFill>
                            <a:srgbClr val="666666"/>
                          </a:solidFill>
                        </a:defRPr>
                      </a:pPr>
                      <a:r>
                        <a:t>Current</a:t>
                      </a:r>
                    </a:p>
                  </a:txBody>
                  <a:tcPr/>
                </a:tc>
              </a:tr>
              <a:tr h="457200">
                <a:tc>
                  <a:txBody>
                    <a:bodyPr/>
                    <a:lstStyle/>
                    <a:p>
                      <a:pPr>
                        <a:defRPr sz="1200">
                          <a:solidFill>
                            <a:srgbClr val="1A1A1A"/>
                          </a:solidFill>
                        </a:defRPr>
                      </a:pPr>
                      <a:r>
                        <a:t>Exercises Completed</a:t>
                      </a:r>
                    </a:p>
                  </a:txBody>
                  <a:tcPr/>
                </a:tc>
                <a:tc>
                  <a:txBody>
                    <a:bodyPr/>
                    <a:lstStyle/>
                    <a:p>
                      <a:pPr>
                        <a:defRPr sz="1200">
                          <a:solidFill>
                            <a:srgbClr val="1A1A1A"/>
                          </a:solidFill>
                        </a:defRPr>
                      </a:pPr>
                      <a:r>
                        <a:t>6</a:t>
                      </a:r>
                    </a:p>
                  </a:txBody>
                  <a:tcPr/>
                </a:tc>
                <a:tc>
                  <a:txBody>
                    <a:bodyPr/>
                    <a:lstStyle/>
                    <a:p>
                      <a:pPr>
                        <a:defRPr sz="1200">
                          <a:solidFill>
                            <a:srgbClr val="1A1A1A"/>
                          </a:solidFill>
                        </a:defRPr>
                      </a:pPr>
                      <a:r>
                        <a:t>5</a:t>
                      </a:r>
                    </a:p>
                  </a:txBody>
                  <a:tcPr/>
                </a:tc>
              </a:tr>
              <a:tr h="457200">
                <a:tc>
                  <a:txBody>
                    <a:bodyPr/>
                    <a:lstStyle/>
                    <a:p>
                      <a:pPr>
                        <a:defRPr sz="1200">
                          <a:solidFill>
                            <a:srgbClr val="1A1A1A"/>
                          </a:solidFill>
                        </a:defRPr>
                      </a:pPr>
                      <a:r>
                        <a:t>Corrective Actions Closed</a:t>
                      </a:r>
                    </a:p>
                  </a:txBody>
                  <a:tcPr/>
                </a:tc>
                <a:tc>
                  <a:txBody>
                    <a:bodyPr/>
                    <a:lstStyle/>
                    <a:p>
                      <a:pPr>
                        <a:defRPr sz="1200">
                          <a:solidFill>
                            <a:srgbClr val="1A1A1A"/>
                          </a:solidFill>
                        </a:defRPr>
                      </a:pPr>
                      <a:r>
                        <a:t>90%</a:t>
                      </a:r>
                    </a:p>
                  </a:txBody>
                  <a:tcPr/>
                </a:tc>
                <a:tc>
                  <a:txBody>
                    <a:bodyPr/>
                    <a:lstStyle/>
                    <a:p>
                      <a:pPr>
                        <a:defRPr sz="1200">
                          <a:solidFill>
                            <a:srgbClr val="1A1A1A"/>
                          </a:solidFill>
                        </a:defRPr>
                      </a:pPr>
                      <a:r>
                        <a:t>88%</a:t>
                      </a:r>
                    </a:p>
                  </a:txBody>
                  <a:tcPr/>
                </a:tc>
              </a:tr>
              <a:tr h="457200">
                <a:tc>
                  <a:txBody>
                    <a:bodyPr/>
                    <a:lstStyle/>
                    <a:p>
                      <a:pPr>
                        <a:defRPr sz="1200">
                          <a:solidFill>
                            <a:srgbClr val="1A1A1A"/>
                          </a:solidFill>
                        </a:defRPr>
                      </a:pPr>
                      <a:r>
                        <a:t>Executive Participation</a:t>
                      </a:r>
                    </a:p>
                  </a:txBody>
                  <a:tcPr/>
                </a:tc>
                <a:tc>
                  <a:txBody>
                    <a:bodyPr/>
                    <a:lstStyle/>
                    <a:p>
                      <a:pPr>
                        <a:defRPr sz="1200">
                          <a:solidFill>
                            <a:srgbClr val="1A1A1A"/>
                          </a:solidFill>
                        </a:defRPr>
                      </a:pPr>
                      <a:r>
                        <a:t>100%</a:t>
                      </a:r>
                    </a:p>
                  </a:txBody>
                  <a:tcPr/>
                </a:tc>
                <a:tc>
                  <a:txBody>
                    <a:bodyPr/>
                    <a:lstStyle/>
                    <a:p>
                      <a:pPr>
                        <a:defRPr sz="1200">
                          <a:solidFill>
                            <a:srgbClr val="1A1A1A"/>
                          </a:solidFill>
                        </a:defRPr>
                      </a:pPr>
                      <a:r>
                        <a:t>100%</a:t>
                      </a:r>
                    </a:p>
                  </a:txBody>
                  <a:tcPr/>
                </a:tc>
              </a:tr>
              <a:tr h="457200">
                <a:tc>
                  <a:txBody>
                    <a:bodyPr/>
                    <a:lstStyle/>
                    <a:p>
                      <a:pPr>
                        <a:defRPr sz="1200">
                          <a:solidFill>
                            <a:srgbClr val="1A1A1A"/>
                          </a:solidFill>
                        </a:defRPr>
                      </a:pPr>
                      <a:r>
                        <a:t>Maturity Score</a:t>
                      </a:r>
                    </a:p>
                  </a:txBody>
                  <a:tcPr/>
                </a:tc>
                <a:tc>
                  <a:txBody>
                    <a:bodyPr/>
                    <a:lstStyle/>
                    <a:p>
                      <a:pPr>
                        <a:defRPr sz="1200">
                          <a:solidFill>
                            <a:srgbClr val="1A1A1A"/>
                          </a:solidFill>
                        </a:defRPr>
                      </a:pPr>
                      <a:r>
                        <a:t>Level 4</a:t>
                      </a:r>
                    </a:p>
                  </a:txBody>
                  <a:tcPr/>
                </a:tc>
                <a:tc>
                  <a:txBody>
                    <a:bodyPr/>
                    <a:lstStyle/>
                    <a:p>
                      <a:pPr>
                        <a:defRPr sz="1200">
                          <a:solidFill>
                            <a:srgbClr val="1A1A1A"/>
                          </a:solidFill>
                        </a:defRPr>
                      </a:pPr>
                      <a:r>
                        <a:t>Level 3</a:t>
                      </a:r>
                    </a:p>
                  </a:txBody>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199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Building an Annual Exercise Calendar</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Example Annual Calendar</a:t>
            </a:r>
          </a:p>
        </p:txBody>
      </p:sp>
      <p:graphicFrame>
        <p:nvGraphicFramePr>
          <p:cNvPr id="6" name="Table 5"/>
          <p:cNvGraphicFramePr>
            <a:graphicFrameLocks noGrp="1"/>
          </p:cNvGraphicFramePr>
          <p:nvPr/>
        </p:nvGraphicFramePr>
        <p:xfrm>
          <a:off x="548640" y="2194560"/>
          <a:ext cx="10972800" cy="22860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Quarter</a:t>
                      </a:r>
                    </a:p>
                  </a:txBody>
                  <a:tcPr/>
                </a:tc>
                <a:tc>
                  <a:txBody>
                    <a:bodyPr/>
                    <a:lstStyle/>
                    <a:p>
                      <a:pPr>
                        <a:defRPr sz="1100" b="1">
                          <a:solidFill>
                            <a:srgbClr val="666666"/>
                          </a:solidFill>
                        </a:defRPr>
                      </a:pPr>
                      <a:r>
                        <a:t>Exercise</a:t>
                      </a:r>
                    </a:p>
                  </a:txBody>
                  <a:tcPr/>
                </a:tc>
              </a:tr>
              <a:tr h="457200">
                <a:tc>
                  <a:txBody>
                    <a:bodyPr/>
                    <a:lstStyle/>
                    <a:p>
                      <a:pPr>
                        <a:defRPr sz="1200">
                          <a:solidFill>
                            <a:srgbClr val="1A1A1A"/>
                          </a:solidFill>
                        </a:defRPr>
                      </a:pPr>
                      <a:r>
                        <a:t>Q1</a:t>
                      </a:r>
                    </a:p>
                  </a:txBody>
                  <a:tcPr/>
                </a:tc>
                <a:tc>
                  <a:txBody>
                    <a:bodyPr/>
                    <a:lstStyle/>
                    <a:p>
                      <a:pPr>
                        <a:defRPr sz="1200">
                          <a:solidFill>
                            <a:srgbClr val="1A1A1A"/>
                          </a:solidFill>
                        </a:defRPr>
                      </a:pPr>
                      <a:r>
                        <a:t>Phishing Response</a:t>
                      </a:r>
                    </a:p>
                  </a:txBody>
                  <a:tcPr/>
                </a:tc>
              </a:tr>
              <a:tr h="457200">
                <a:tc>
                  <a:txBody>
                    <a:bodyPr/>
                    <a:lstStyle/>
                    <a:p>
                      <a:pPr>
                        <a:defRPr sz="1200">
                          <a:solidFill>
                            <a:srgbClr val="1A1A1A"/>
                          </a:solidFill>
                        </a:defRPr>
                      </a:pPr>
                      <a:r>
                        <a:t>Q2</a:t>
                      </a:r>
                    </a:p>
                  </a:txBody>
                  <a:tcPr/>
                </a:tc>
                <a:tc>
                  <a:txBody>
                    <a:bodyPr/>
                    <a:lstStyle/>
                    <a:p>
                      <a:pPr>
                        <a:defRPr sz="1200">
                          <a:solidFill>
                            <a:srgbClr val="1A1A1A"/>
                          </a:solidFill>
                        </a:defRPr>
                      </a:pPr>
                      <a:r>
                        <a:t>Ransomware</a:t>
                      </a:r>
                    </a:p>
                  </a:txBody>
                  <a:tcPr/>
                </a:tc>
              </a:tr>
              <a:tr h="457200">
                <a:tc>
                  <a:txBody>
                    <a:bodyPr/>
                    <a:lstStyle/>
                    <a:p>
                      <a:pPr>
                        <a:defRPr sz="1200">
                          <a:solidFill>
                            <a:srgbClr val="1A1A1A"/>
                          </a:solidFill>
                        </a:defRPr>
                      </a:pPr>
                      <a:r>
                        <a:t>Q3</a:t>
                      </a:r>
                    </a:p>
                  </a:txBody>
                  <a:tcPr/>
                </a:tc>
                <a:tc>
                  <a:txBody>
                    <a:bodyPr/>
                    <a:lstStyle/>
                    <a:p>
                      <a:pPr>
                        <a:defRPr sz="1200">
                          <a:solidFill>
                            <a:srgbClr val="1A1A1A"/>
                          </a:solidFill>
                        </a:defRPr>
                      </a:pPr>
                      <a:r>
                        <a:t>Cloud Security Incident</a:t>
                      </a:r>
                    </a:p>
                  </a:txBody>
                  <a:tcPr/>
                </a:tc>
              </a:tr>
              <a:tr h="457200">
                <a:tc>
                  <a:txBody>
                    <a:bodyPr/>
                    <a:lstStyle/>
                    <a:p>
                      <a:pPr>
                        <a:defRPr sz="1200">
                          <a:solidFill>
                            <a:srgbClr val="1A1A1A"/>
                          </a:solidFill>
                        </a:defRPr>
                      </a:pPr>
                      <a:r>
                        <a:t>Q4</a:t>
                      </a:r>
                    </a:p>
                  </a:txBody>
                  <a:tcPr/>
                </a:tc>
                <a:tc>
                  <a:txBody>
                    <a:bodyPr/>
                    <a:lstStyle/>
                    <a:p>
                      <a:pPr>
                        <a:defRPr sz="1200">
                          <a:solidFill>
                            <a:srgbClr val="1A1A1A"/>
                          </a:solidFill>
                        </a:defRPr>
                      </a:pPr>
                      <a:r>
                        <a:t>Enterprise Crisis Exercise</a:t>
                      </a:r>
                    </a:p>
                  </a:txBody>
                  <a:tcPr/>
                </a:tc>
              </a:tr>
            </a:tbl>
          </a:graphicData>
        </a:graphic>
      </p:graphicFrame>
      <p:sp>
        <p:nvSpPr>
          <p:cNvPr id="7" name="TextBox 6"/>
          <p:cNvSpPr txBox="1"/>
          <p:nvPr/>
        </p:nvSpPr>
        <p:spPr>
          <a:xfrm>
            <a:off x="548640" y="4800600"/>
            <a:ext cx="10972800" cy="320040"/>
          </a:xfrm>
          <a:prstGeom prst="rect">
            <a:avLst/>
          </a:prstGeom>
          <a:noFill/>
        </p:spPr>
        <p:txBody>
          <a:bodyPr wrap="square">
            <a:spAutoFit/>
          </a:bodyPr>
          <a:lstStyle/>
          <a:p>
            <a:pPr algn="l">
              <a:defRPr sz="1300" b="1">
                <a:solidFill>
                  <a:srgbClr val="666666"/>
                </a:solidFill>
                <a:latin typeface="Calibri"/>
              </a:defRPr>
            </a:pPr>
            <a:r>
              <a:t>Planning Considerations</a:t>
            </a:r>
          </a:p>
        </p:txBody>
      </p:sp>
      <p:sp>
        <p:nvSpPr>
          <p:cNvPr id="8" name="TextBox 7"/>
          <p:cNvSpPr txBox="1"/>
          <p:nvPr/>
        </p:nvSpPr>
        <p:spPr>
          <a:xfrm>
            <a:off x="548640" y="5257800"/>
            <a:ext cx="10972800" cy="2743200"/>
          </a:xfrm>
          <a:prstGeom prst="rect">
            <a:avLst/>
          </a:prstGeom>
          <a:noFill/>
        </p:spPr>
        <p:txBody>
          <a:bodyPr wrap="square">
            <a:spAutoFit/>
          </a:bodyPr>
          <a:lstStyle/>
          <a:p>
            <a:pPr>
              <a:spcAft>
                <a:spcPts val="500"/>
              </a:spcAft>
              <a:defRPr sz="1300">
                <a:solidFill>
                  <a:srgbClr val="1A1A1A"/>
                </a:solidFill>
                <a:latin typeface="Calibri"/>
              </a:defRPr>
            </a:pPr>
            <a:r>
              <a:t>—  Business cycles</a:t>
            </a:r>
          </a:p>
          <a:p>
            <a:pPr>
              <a:spcAft>
                <a:spcPts val="500"/>
              </a:spcAft>
              <a:defRPr sz="1300">
                <a:solidFill>
                  <a:srgbClr val="1A1A1A"/>
                </a:solidFill>
                <a:latin typeface="Calibri"/>
              </a:defRPr>
            </a:pPr>
            <a:r>
              <a:t>—  Regulatory deadlines</a:t>
            </a:r>
          </a:p>
          <a:p>
            <a:pPr>
              <a:spcAft>
                <a:spcPts val="500"/>
              </a:spcAft>
              <a:defRPr sz="1300">
                <a:solidFill>
                  <a:srgbClr val="1A1A1A"/>
                </a:solidFill>
                <a:latin typeface="Calibri"/>
              </a:defRPr>
            </a:pPr>
            <a:r>
              <a:t>—  Major projects</a:t>
            </a:r>
          </a:p>
          <a:p>
            <a:pPr>
              <a:spcAft>
                <a:spcPts val="500"/>
              </a:spcAft>
              <a:defRPr sz="1300">
                <a:solidFill>
                  <a:srgbClr val="1A1A1A"/>
                </a:solidFill>
                <a:latin typeface="Calibri"/>
              </a:defRPr>
            </a:pPr>
            <a:r>
              <a:t>—  Staff availability</a:t>
            </a:r>
          </a:p>
          <a:p>
            <a:pPr>
              <a:spcAft>
                <a:spcPts val="500"/>
              </a:spcAft>
              <a:defRPr sz="1300">
                <a:solidFill>
                  <a:srgbClr val="1A1A1A"/>
                </a:solidFill>
                <a:latin typeface="Calibri"/>
              </a:defRPr>
            </a:pPr>
            <a:r>
              <a:t>—  Holiday periods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Industry Benchmarking</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Benchmarking Sources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Industry ISACs</a:t>
            </a:r>
          </a:p>
          <a:p>
            <a:pPr>
              <a:spcAft>
                <a:spcPts val="500"/>
              </a:spcAft>
              <a:defRPr sz="1300">
                <a:solidFill>
                  <a:srgbClr val="1A1A1A"/>
                </a:solidFill>
                <a:latin typeface="Calibri"/>
              </a:defRPr>
            </a:pPr>
            <a:r>
              <a:t>—  Government guidance</a:t>
            </a:r>
          </a:p>
          <a:p>
            <a:pPr>
              <a:spcAft>
                <a:spcPts val="500"/>
              </a:spcAft>
              <a:defRPr sz="1300">
                <a:solidFill>
                  <a:srgbClr val="1A1A1A"/>
                </a:solidFill>
                <a:latin typeface="Calibri"/>
              </a:defRPr>
            </a:pPr>
            <a:r>
              <a:t>—  Professional associations</a:t>
            </a:r>
          </a:p>
          <a:p>
            <a:pPr>
              <a:spcAft>
                <a:spcPts val="500"/>
              </a:spcAft>
              <a:defRPr sz="1300">
                <a:solidFill>
                  <a:srgbClr val="1A1A1A"/>
                </a:solidFill>
                <a:latin typeface="Calibri"/>
              </a:defRPr>
            </a:pPr>
            <a:r>
              <a:t>—  Peer organizations</a:t>
            </a:r>
          </a:p>
          <a:p>
            <a:pPr>
              <a:spcAft>
                <a:spcPts val="500"/>
              </a:spcAft>
              <a:defRPr sz="1300">
                <a:solidFill>
                  <a:srgbClr val="1A1A1A"/>
                </a:solidFill>
                <a:latin typeface="Calibri"/>
              </a:defRPr>
            </a:pPr>
            <a:r>
              <a:t>—  Cybersecurity maturity assessments</a:t>
            </a:r>
          </a:p>
          <a:p>
            <a:pPr>
              <a:spcAft>
                <a:spcPts val="500"/>
              </a:spcAft>
              <a:defRPr sz="1300">
                <a:solidFill>
                  <a:srgbClr val="1A1A1A"/>
                </a:solidFill>
                <a:latin typeface="Calibri"/>
              </a:defRPr>
            </a:pPr>
            <a:r>
              <a:t>—  Independent audits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Questions to Consider</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How often do peers conduct exercises?</a:t>
            </a:r>
          </a:p>
          <a:p>
            <a:pPr>
              <a:spcAft>
                <a:spcPts val="500"/>
              </a:spcAft>
              <a:defRPr sz="1300">
                <a:solidFill>
                  <a:srgbClr val="1A1A1A"/>
                </a:solidFill>
                <a:latin typeface="Calibri"/>
              </a:defRPr>
            </a:pPr>
            <a:r>
              <a:t>—  Which scenarios are most common?</a:t>
            </a:r>
          </a:p>
          <a:p>
            <a:pPr>
              <a:spcAft>
                <a:spcPts val="500"/>
              </a:spcAft>
              <a:defRPr sz="1300">
                <a:solidFill>
                  <a:srgbClr val="1A1A1A"/>
                </a:solidFill>
                <a:latin typeface="Calibri"/>
              </a:defRPr>
            </a:pPr>
            <a:r>
              <a:t>—  What metrics are used?</a:t>
            </a:r>
          </a:p>
          <a:p>
            <a:pPr>
              <a:spcAft>
                <a:spcPts val="500"/>
              </a:spcAft>
              <a:defRPr sz="1300">
                <a:solidFill>
                  <a:srgbClr val="1A1A1A"/>
                </a:solidFill>
                <a:latin typeface="Calibri"/>
              </a:defRPr>
            </a:pPr>
            <a:r>
              <a:t>—  What emerging threats are being exercised?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Integrating Emerging Threats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Emerging Topics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AI-enabled cyber attacks</a:t>
            </a:r>
          </a:p>
          <a:p>
            <a:pPr>
              <a:spcAft>
                <a:spcPts val="500"/>
              </a:spcAft>
              <a:defRPr sz="1300">
                <a:solidFill>
                  <a:srgbClr val="1A1A1A"/>
                </a:solidFill>
                <a:latin typeface="Calibri"/>
              </a:defRPr>
            </a:pPr>
            <a:r>
              <a:t>—  Deepfake-enabled social engineering</a:t>
            </a:r>
          </a:p>
          <a:p>
            <a:pPr>
              <a:spcAft>
                <a:spcPts val="500"/>
              </a:spcAft>
              <a:defRPr sz="1300">
                <a:solidFill>
                  <a:srgbClr val="1A1A1A"/>
                </a:solidFill>
                <a:latin typeface="Calibri"/>
              </a:defRPr>
            </a:pPr>
            <a:r>
              <a:t>—  Supply chain compromises</a:t>
            </a:r>
          </a:p>
          <a:p>
            <a:pPr>
              <a:spcAft>
                <a:spcPts val="500"/>
              </a:spcAft>
              <a:defRPr sz="1300">
                <a:solidFill>
                  <a:srgbClr val="1A1A1A"/>
                </a:solidFill>
                <a:latin typeface="Calibri"/>
              </a:defRPr>
            </a:pPr>
            <a:r>
              <a:t>—  Cloud-native attacks</a:t>
            </a:r>
          </a:p>
          <a:p>
            <a:pPr>
              <a:spcAft>
                <a:spcPts val="500"/>
              </a:spcAft>
              <a:defRPr sz="1300">
                <a:solidFill>
                  <a:srgbClr val="1A1A1A"/>
                </a:solidFill>
                <a:latin typeface="Calibri"/>
              </a:defRPr>
            </a:pPr>
            <a:r>
              <a:t>—  Identity-based attacks</a:t>
            </a:r>
          </a:p>
          <a:p>
            <a:pPr>
              <a:spcAft>
                <a:spcPts val="500"/>
              </a:spcAft>
              <a:defRPr sz="1300">
                <a:solidFill>
                  <a:srgbClr val="1A1A1A"/>
                </a:solidFill>
                <a:latin typeface="Calibri"/>
              </a:defRPr>
            </a:pPr>
            <a:r>
              <a:t>—  OT/ICS ransomware</a:t>
            </a:r>
          </a:p>
          <a:p>
            <a:pPr>
              <a:spcAft>
                <a:spcPts val="500"/>
              </a:spcAft>
              <a:defRPr sz="1300">
                <a:solidFill>
                  <a:srgbClr val="1A1A1A"/>
                </a:solidFill>
                <a:latin typeface="Calibri"/>
              </a:defRPr>
            </a:pPr>
            <a:r>
              <a:t>—  Quantum-resistant cryptography planning</a:t>
            </a:r>
          </a:p>
          <a:p>
            <a:pPr>
              <a:spcAft>
                <a:spcPts val="500"/>
              </a:spcAft>
              <a:defRPr sz="1300">
                <a:solidFill>
                  <a:srgbClr val="1A1A1A"/>
                </a:solidFill>
                <a:latin typeface="Calibri"/>
              </a:defRPr>
            </a:pPr>
            <a:r>
              <a:t>—  Insider threats involving AI tools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Updating Scenarios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Review threat intelligence quarterly</a:t>
            </a:r>
          </a:p>
          <a:p>
            <a:pPr>
              <a:spcAft>
                <a:spcPts val="500"/>
              </a:spcAft>
              <a:defRPr sz="1300">
                <a:solidFill>
                  <a:srgbClr val="1A1A1A"/>
                </a:solidFill>
                <a:latin typeface="Calibri"/>
              </a:defRPr>
            </a:pPr>
            <a:r>
              <a:t>—  Incorporate recent incidents</a:t>
            </a:r>
          </a:p>
          <a:p>
            <a:pPr>
              <a:spcAft>
                <a:spcPts val="500"/>
              </a:spcAft>
              <a:defRPr sz="1300">
                <a:solidFill>
                  <a:srgbClr val="1A1A1A"/>
                </a:solidFill>
                <a:latin typeface="Calibri"/>
              </a:defRPr>
            </a:pPr>
            <a:r>
              <a:t>—  Retire obsolete scenarios</a:t>
            </a:r>
          </a:p>
          <a:p>
            <a:pPr>
              <a:spcAft>
                <a:spcPts val="500"/>
              </a:spcAft>
              <a:defRPr sz="1300">
                <a:solidFill>
                  <a:srgbClr val="1A1A1A"/>
                </a:solidFill>
                <a:latin typeface="Calibri"/>
              </a:defRPr>
            </a:pPr>
            <a:r>
              <a:t>—  Validate assumptions regularly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Measuring Return on Investment (ROI)</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Potential Benefits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Reduced incident response time</a:t>
            </a:r>
          </a:p>
          <a:p>
            <a:pPr>
              <a:spcAft>
                <a:spcPts val="500"/>
              </a:spcAft>
              <a:defRPr sz="1300">
                <a:solidFill>
                  <a:srgbClr val="1A1A1A"/>
                </a:solidFill>
                <a:latin typeface="Calibri"/>
              </a:defRPr>
            </a:pPr>
            <a:r>
              <a:t>—  Improved coordination</a:t>
            </a:r>
          </a:p>
          <a:p>
            <a:pPr>
              <a:spcAft>
                <a:spcPts val="500"/>
              </a:spcAft>
              <a:defRPr sz="1300">
                <a:solidFill>
                  <a:srgbClr val="1A1A1A"/>
                </a:solidFill>
                <a:latin typeface="Calibri"/>
              </a:defRPr>
            </a:pPr>
            <a:r>
              <a:t>—  Faster executive decisions</a:t>
            </a:r>
          </a:p>
          <a:p>
            <a:pPr>
              <a:spcAft>
                <a:spcPts val="500"/>
              </a:spcAft>
              <a:defRPr sz="1300">
                <a:solidFill>
                  <a:srgbClr val="1A1A1A"/>
                </a:solidFill>
                <a:latin typeface="Calibri"/>
              </a:defRPr>
            </a:pPr>
            <a:r>
              <a:t>—  Fewer repeat findings</a:t>
            </a:r>
          </a:p>
          <a:p>
            <a:pPr>
              <a:spcAft>
                <a:spcPts val="500"/>
              </a:spcAft>
              <a:defRPr sz="1300">
                <a:solidFill>
                  <a:srgbClr val="1A1A1A"/>
                </a:solidFill>
                <a:latin typeface="Calibri"/>
              </a:defRPr>
            </a:pPr>
            <a:r>
              <a:t>—  Better regulatory compliance</a:t>
            </a:r>
          </a:p>
          <a:p>
            <a:pPr>
              <a:spcAft>
                <a:spcPts val="500"/>
              </a:spcAft>
              <a:defRPr sz="1300">
                <a:solidFill>
                  <a:srgbClr val="1A1A1A"/>
                </a:solidFill>
                <a:latin typeface="Calibri"/>
              </a:defRPr>
            </a:pPr>
            <a:r>
              <a:t>—  Lower operational risk</a:t>
            </a:r>
          </a:p>
          <a:p>
            <a:pPr>
              <a:spcAft>
                <a:spcPts val="500"/>
              </a:spcAft>
              <a:defRPr sz="1300">
                <a:solidFill>
                  <a:srgbClr val="1A1A1A"/>
                </a:solidFill>
                <a:latin typeface="Calibri"/>
              </a:defRPr>
            </a:pPr>
            <a:r>
              <a:t>—  Improved stakeholder confidence</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Example ROI Indicators</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Reduction in Mean Time to Detect (MTTD)</a:t>
            </a:r>
          </a:p>
          <a:p>
            <a:pPr>
              <a:spcAft>
                <a:spcPts val="500"/>
              </a:spcAft>
              <a:defRPr sz="1300">
                <a:solidFill>
                  <a:srgbClr val="1A1A1A"/>
                </a:solidFill>
                <a:latin typeface="Calibri"/>
              </a:defRPr>
            </a:pPr>
            <a:r>
              <a:t>—  Reduction in Mean Time to Respond (MTTR)</a:t>
            </a:r>
          </a:p>
          <a:p>
            <a:pPr>
              <a:spcAft>
                <a:spcPts val="500"/>
              </a:spcAft>
              <a:defRPr sz="1300">
                <a:solidFill>
                  <a:srgbClr val="1A1A1A"/>
                </a:solidFill>
                <a:latin typeface="Calibri"/>
              </a:defRPr>
            </a:pPr>
            <a:r>
              <a:t>—  Increased remediation completion rate</a:t>
            </a:r>
          </a:p>
          <a:p>
            <a:pPr>
              <a:spcAft>
                <a:spcPts val="500"/>
              </a:spcAft>
              <a:defRPr sz="1300">
                <a:solidFill>
                  <a:srgbClr val="1A1A1A"/>
                </a:solidFill>
                <a:latin typeface="Calibri"/>
              </a:defRPr>
            </a:pPr>
            <a:r>
              <a:t>—  Improved audit outcomes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Future Trends in Tabletop Exercises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Emerging Trends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AI-assisted scenario generation</a:t>
            </a:r>
          </a:p>
          <a:p>
            <a:pPr>
              <a:spcAft>
                <a:spcPts val="500"/>
              </a:spcAft>
              <a:defRPr sz="1300">
                <a:solidFill>
                  <a:srgbClr val="1A1A1A"/>
                </a:solidFill>
                <a:latin typeface="Calibri"/>
              </a:defRPr>
            </a:pPr>
            <a:r>
              <a:t>—  Adaptive inject engines</a:t>
            </a:r>
          </a:p>
          <a:p>
            <a:pPr>
              <a:spcAft>
                <a:spcPts val="500"/>
              </a:spcAft>
              <a:defRPr sz="1300">
                <a:solidFill>
                  <a:srgbClr val="1A1A1A"/>
                </a:solidFill>
                <a:latin typeface="Calibri"/>
              </a:defRPr>
            </a:pPr>
            <a:r>
              <a:t>—  Digital twin environments</a:t>
            </a:r>
          </a:p>
          <a:p>
            <a:pPr>
              <a:spcAft>
                <a:spcPts val="500"/>
              </a:spcAft>
              <a:defRPr sz="1300">
                <a:solidFill>
                  <a:srgbClr val="1A1A1A"/>
                </a:solidFill>
                <a:latin typeface="Calibri"/>
              </a:defRPr>
            </a:pPr>
            <a:r>
              <a:t>—  Cloud-based collaborative exercises</a:t>
            </a:r>
          </a:p>
          <a:p>
            <a:pPr>
              <a:spcAft>
                <a:spcPts val="500"/>
              </a:spcAft>
              <a:defRPr sz="1300">
                <a:solidFill>
                  <a:srgbClr val="1A1A1A"/>
                </a:solidFill>
                <a:latin typeface="Calibri"/>
              </a:defRPr>
            </a:pPr>
            <a:r>
              <a:t>—  Continuous tabletop exercises</a:t>
            </a:r>
          </a:p>
          <a:p>
            <a:pPr>
              <a:spcAft>
                <a:spcPts val="500"/>
              </a:spcAft>
              <a:defRPr sz="1300">
                <a:solidFill>
                  <a:srgbClr val="1A1A1A"/>
                </a:solidFill>
                <a:latin typeface="Calibri"/>
              </a:defRPr>
            </a:pPr>
            <a:r>
              <a:t>—  Automated evaluation dashboards</a:t>
            </a:r>
          </a:p>
          <a:p>
            <a:pPr>
              <a:spcAft>
                <a:spcPts val="500"/>
              </a:spcAft>
              <a:defRPr sz="1300">
                <a:solidFill>
                  <a:srgbClr val="1A1A1A"/>
                </a:solidFill>
                <a:latin typeface="Calibri"/>
              </a:defRPr>
            </a:pPr>
            <a:r>
              <a:t>—  Cyber range integration</a:t>
            </a:r>
          </a:p>
          <a:p>
            <a:pPr>
              <a:spcAft>
                <a:spcPts val="500"/>
              </a:spcAft>
              <a:defRPr sz="1300">
                <a:solidFill>
                  <a:srgbClr val="1A1A1A"/>
                </a:solidFill>
                <a:latin typeface="Calibri"/>
              </a:defRPr>
            </a:pPr>
            <a:r>
              <a:t>—  Threat-informed simulations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Implications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Greater realism</a:t>
            </a:r>
          </a:p>
          <a:p>
            <a:pPr>
              <a:spcAft>
                <a:spcPts val="500"/>
              </a:spcAft>
              <a:defRPr sz="1300">
                <a:solidFill>
                  <a:srgbClr val="1A1A1A"/>
                </a:solidFill>
                <a:latin typeface="Calibri"/>
              </a:defRPr>
            </a:pPr>
            <a:r>
              <a:t>—  Faster exercise development</a:t>
            </a:r>
          </a:p>
          <a:p>
            <a:pPr>
              <a:spcAft>
                <a:spcPts val="500"/>
              </a:spcAft>
              <a:defRPr sz="1300">
                <a:solidFill>
                  <a:srgbClr val="1A1A1A"/>
                </a:solidFill>
                <a:latin typeface="Calibri"/>
              </a:defRPr>
            </a:pPr>
            <a:r>
              <a:t>—  Personalized learning</a:t>
            </a:r>
          </a:p>
          <a:p>
            <a:pPr>
              <a:spcAft>
                <a:spcPts val="500"/>
              </a:spcAft>
              <a:defRPr sz="1300">
                <a:solidFill>
                  <a:srgbClr val="1A1A1A"/>
                </a:solidFill>
                <a:latin typeface="Calibri"/>
              </a:defRPr>
            </a:pPr>
            <a:r>
              <a:t>—  Improved analytics</a:t>
            </a:r>
          </a:p>
          <a:p>
            <a:pPr>
              <a:spcAft>
                <a:spcPts val="500"/>
              </a:spcAft>
              <a:defRPr sz="1300">
                <a:solidFill>
                  <a:srgbClr val="1A1A1A"/>
                </a:solidFill>
                <a:latin typeface="Calibri"/>
              </a:defRPr>
            </a:pPr>
            <a:r>
              <a:t>—  Enhanced scalability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Building a Culture of Cyber Resilience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Characteristics of a Resilient Organization</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Leadership commitment</a:t>
            </a:r>
          </a:p>
          <a:p>
            <a:pPr>
              <a:spcAft>
                <a:spcPts val="500"/>
              </a:spcAft>
              <a:defRPr sz="1300">
                <a:solidFill>
                  <a:srgbClr val="1A1A1A"/>
                </a:solidFill>
                <a:latin typeface="Calibri"/>
              </a:defRPr>
            </a:pPr>
            <a:r>
              <a:t>—  Shared responsibility</a:t>
            </a:r>
          </a:p>
          <a:p>
            <a:pPr>
              <a:spcAft>
                <a:spcPts val="500"/>
              </a:spcAft>
              <a:defRPr sz="1300">
                <a:solidFill>
                  <a:srgbClr val="1A1A1A"/>
                </a:solidFill>
                <a:latin typeface="Calibri"/>
              </a:defRPr>
            </a:pPr>
            <a:r>
              <a:t>—  Continuous learning</a:t>
            </a:r>
          </a:p>
          <a:p>
            <a:pPr>
              <a:spcAft>
                <a:spcPts val="500"/>
              </a:spcAft>
              <a:defRPr sz="1300">
                <a:solidFill>
                  <a:srgbClr val="1A1A1A"/>
                </a:solidFill>
                <a:latin typeface="Calibri"/>
              </a:defRPr>
            </a:pPr>
            <a:r>
              <a:t>—  Cross-functional collaboration</a:t>
            </a:r>
          </a:p>
          <a:p>
            <a:pPr>
              <a:spcAft>
                <a:spcPts val="500"/>
              </a:spcAft>
              <a:defRPr sz="1300">
                <a:solidFill>
                  <a:srgbClr val="1A1A1A"/>
                </a:solidFill>
                <a:latin typeface="Calibri"/>
              </a:defRPr>
            </a:pPr>
            <a:r>
              <a:t>—  Transparent communication</a:t>
            </a:r>
          </a:p>
          <a:p>
            <a:pPr>
              <a:spcAft>
                <a:spcPts val="500"/>
              </a:spcAft>
              <a:defRPr sz="1300">
                <a:solidFill>
                  <a:srgbClr val="1A1A1A"/>
                </a:solidFill>
                <a:latin typeface="Calibri"/>
              </a:defRPr>
            </a:pPr>
            <a:r>
              <a:t>—  Regular exercising</a:t>
            </a:r>
          </a:p>
          <a:p>
            <a:pPr>
              <a:spcAft>
                <a:spcPts val="500"/>
              </a:spcAft>
              <a:defRPr sz="1300">
                <a:solidFill>
                  <a:srgbClr val="1A1A1A"/>
                </a:solidFill>
                <a:latin typeface="Calibri"/>
              </a:defRPr>
            </a:pPr>
            <a:r>
              <a:t>—  Continuous improvement</a:t>
            </a:r>
          </a:p>
          <a:p>
            <a:pPr>
              <a:spcAft>
                <a:spcPts val="500"/>
              </a:spcAft>
              <a:defRPr sz="1300">
                <a:solidFill>
                  <a:srgbClr val="1A1A1A"/>
                </a:solidFill>
                <a:latin typeface="Calibri"/>
              </a:defRPr>
            </a:pPr>
            <a:r>
              <a:t>—  Risk-informed decision-making</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Cultural Enablers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Leadership messaging</a:t>
            </a:r>
          </a:p>
          <a:p>
            <a:pPr>
              <a:spcAft>
                <a:spcPts val="500"/>
              </a:spcAft>
              <a:defRPr sz="1300">
                <a:solidFill>
                  <a:srgbClr val="1A1A1A"/>
                </a:solidFill>
                <a:latin typeface="Calibri"/>
              </a:defRPr>
            </a:pPr>
            <a:r>
              <a:t>—  Recognition of improvements</a:t>
            </a:r>
          </a:p>
          <a:p>
            <a:pPr>
              <a:spcAft>
                <a:spcPts val="500"/>
              </a:spcAft>
              <a:defRPr sz="1300">
                <a:solidFill>
                  <a:srgbClr val="1A1A1A"/>
                </a:solidFill>
                <a:latin typeface="Calibri"/>
              </a:defRPr>
            </a:pPr>
            <a:r>
              <a:t>—  Regular awareness training</a:t>
            </a:r>
          </a:p>
          <a:p>
            <a:pPr>
              <a:spcAft>
                <a:spcPts val="500"/>
              </a:spcAft>
              <a:defRPr sz="1300">
                <a:solidFill>
                  <a:srgbClr val="1A1A1A"/>
                </a:solidFill>
                <a:latin typeface="Calibri"/>
              </a:defRPr>
            </a:pPr>
            <a:r>
              <a:t>—  Lessons shared across departments</a:t>
            </a:r>
          </a:p>
          <a:p>
            <a:pPr>
              <a:spcAft>
                <a:spcPts val="500"/>
              </a:spcAft>
              <a:defRPr sz="1300">
                <a:solidFill>
                  <a:srgbClr val="1A1A1A"/>
                </a:solidFill>
                <a:latin typeface="Calibri"/>
              </a:defRPr>
            </a:pPr>
            <a:r>
              <a:t>—  Executive participation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Module Review: Building a Mature TTX Program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Key Takeaways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Mature programs integrate exercises into governance and enterprise risk management</a:t>
            </a:r>
          </a:p>
          <a:p>
            <a:pPr>
              <a:spcAft>
                <a:spcPts val="500"/>
              </a:spcAft>
              <a:defRPr sz="1300">
                <a:solidFill>
                  <a:srgbClr val="1A1A1A"/>
                </a:solidFill>
                <a:latin typeface="Calibri"/>
              </a:defRPr>
            </a:pPr>
            <a:r>
              <a:t>—  Executive sponsorship is essential for long-term success</a:t>
            </a:r>
          </a:p>
          <a:p>
            <a:pPr>
              <a:spcAft>
                <a:spcPts val="500"/>
              </a:spcAft>
              <a:defRPr sz="1300">
                <a:solidFill>
                  <a:srgbClr val="1A1A1A"/>
                </a:solidFill>
                <a:latin typeface="Calibri"/>
              </a:defRPr>
            </a:pPr>
            <a:r>
              <a:t>—  Multi-year planning enables progressive capability development</a:t>
            </a:r>
          </a:p>
          <a:p>
            <a:pPr>
              <a:spcAft>
                <a:spcPts val="500"/>
              </a:spcAft>
              <a:defRPr sz="1300">
                <a:solidFill>
                  <a:srgbClr val="1A1A1A"/>
                </a:solidFill>
                <a:latin typeface="Calibri"/>
              </a:defRPr>
            </a:pPr>
            <a:r>
              <a:t>—  Maturity models help prioritize improvements</a:t>
            </a:r>
          </a:p>
          <a:p>
            <a:pPr>
              <a:spcAft>
                <a:spcPts val="500"/>
              </a:spcAft>
              <a:defRPr sz="1300">
                <a:solidFill>
                  <a:srgbClr val="1A1A1A"/>
                </a:solidFill>
                <a:latin typeface="Calibri"/>
              </a:defRPr>
            </a:pPr>
            <a:r>
              <a:t>—  Regulatory alignment supports compliance and audit readiness</a:t>
            </a:r>
          </a:p>
          <a:p>
            <a:pPr>
              <a:spcAft>
                <a:spcPts val="500"/>
              </a:spcAft>
              <a:defRPr sz="1300">
                <a:solidFill>
                  <a:srgbClr val="1A1A1A"/>
                </a:solidFill>
                <a:latin typeface="Calibri"/>
              </a:defRPr>
            </a:pPr>
            <a:r>
              <a:t>—  Metrics and dashboards demonstrate value to leadership</a:t>
            </a:r>
          </a:p>
          <a:p>
            <a:pPr>
              <a:spcAft>
                <a:spcPts val="500"/>
              </a:spcAft>
              <a:defRPr sz="1300">
                <a:solidFill>
                  <a:srgbClr val="1A1A1A"/>
                </a:solidFill>
                <a:latin typeface="Calibri"/>
              </a:defRPr>
            </a:pPr>
            <a:r>
              <a:t>—  Emerging threats should continuously refresh exercise scenarios</a:t>
            </a:r>
          </a:p>
          <a:p>
            <a:pPr>
              <a:spcAft>
                <a:spcPts val="500"/>
              </a:spcAft>
              <a:defRPr sz="1300">
                <a:solidFill>
                  <a:srgbClr val="1A1A1A"/>
                </a:solidFill>
                <a:latin typeface="Calibri"/>
              </a:defRPr>
            </a:pPr>
            <a:r>
              <a:t>—  A culture of cyber resilience requires ongoing commitment and collaboration</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Discussion Questions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What governance structure would best support your organization's TTX program?</a:t>
            </a:r>
          </a:p>
          <a:p>
            <a:pPr>
              <a:spcAft>
                <a:spcPts val="500"/>
              </a:spcAft>
              <a:defRPr sz="1300">
                <a:solidFill>
                  <a:srgbClr val="1A1A1A"/>
                </a:solidFill>
                <a:latin typeface="Calibri"/>
              </a:defRPr>
            </a:pPr>
            <a:r>
              <a:t>—  Which metrics would be most meaningful to your executive leadership?</a:t>
            </a:r>
          </a:p>
          <a:p>
            <a:pPr>
              <a:spcAft>
                <a:spcPts val="500"/>
              </a:spcAft>
              <a:defRPr sz="1300">
                <a:solidFill>
                  <a:srgbClr val="1A1A1A"/>
                </a:solidFill>
                <a:latin typeface="Calibri"/>
              </a:defRPr>
            </a:pPr>
            <a:r>
              <a:t>—  How often should your organization update exercise scenarios?</a:t>
            </a:r>
          </a:p>
          <a:p>
            <a:pPr>
              <a:spcAft>
                <a:spcPts val="500"/>
              </a:spcAft>
              <a:defRPr sz="1300">
                <a:solidFill>
                  <a:srgbClr val="1A1A1A"/>
                </a:solidFill>
                <a:latin typeface="Calibri"/>
              </a:defRPr>
            </a:pPr>
            <a:r>
              <a:t>—  What actions would help embed cyber resilience into organizational culture?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Capstone Exercise Overview</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Exercise Scenario: Operation Blackout</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Threat Actor: Financially motivated ransomware group</a:t>
            </a:r>
          </a:p>
          <a:p>
            <a:pPr>
              <a:spcAft>
                <a:spcPts val="500"/>
              </a:spcAft>
              <a:defRPr sz="1300">
                <a:solidFill>
                  <a:srgbClr val="1A1A1A"/>
                </a:solidFill>
                <a:latin typeface="Calibri"/>
              </a:defRPr>
            </a:pPr>
            <a:r>
              <a:t>—  Target Organization: Mid-sized multinational manufacturing company</a:t>
            </a:r>
          </a:p>
        </p:txBody>
      </p:sp>
      <p:sp>
        <p:nvSpPr>
          <p:cNvPr id="7" name="TextBox 6"/>
          <p:cNvSpPr txBox="1"/>
          <p:nvPr/>
        </p:nvSpPr>
        <p:spPr>
          <a:xfrm>
            <a:off x="548640" y="2971800"/>
            <a:ext cx="10972800" cy="320040"/>
          </a:xfrm>
          <a:prstGeom prst="rect">
            <a:avLst/>
          </a:prstGeom>
          <a:noFill/>
        </p:spPr>
        <p:txBody>
          <a:bodyPr wrap="square">
            <a:spAutoFit/>
          </a:bodyPr>
          <a:lstStyle/>
          <a:p>
            <a:pPr algn="l">
              <a:defRPr sz="1300" b="1">
                <a:solidFill>
                  <a:srgbClr val="666666"/>
                </a:solidFill>
                <a:latin typeface="Calibri"/>
              </a:defRPr>
            </a:pPr>
            <a:r>
              <a:t>Scenario Summary</a:t>
            </a:r>
          </a:p>
        </p:txBody>
      </p:sp>
      <p:sp>
        <p:nvSpPr>
          <p:cNvPr id="8" name="TextBox 7"/>
          <p:cNvSpPr txBox="1"/>
          <p:nvPr/>
        </p:nvSpPr>
        <p:spPr>
          <a:xfrm>
            <a:off x="548640" y="3429000"/>
            <a:ext cx="10972800" cy="365760"/>
          </a:xfrm>
          <a:prstGeom prst="rect">
            <a:avLst/>
          </a:prstGeom>
          <a:noFill/>
        </p:spPr>
        <p:txBody>
          <a:bodyPr wrap="square">
            <a:spAutoFit/>
          </a:bodyPr>
          <a:lstStyle/>
          <a:p>
            <a:pPr algn="l">
              <a:defRPr sz="1400" b="0">
                <a:solidFill>
                  <a:srgbClr val="1A1A1A"/>
                </a:solidFill>
                <a:latin typeface="Calibri"/>
              </a:defRPr>
            </a:pPr>
            <a:r>
              <a:t>The Security Operations Center (SOC) detects unusual activity originating from an employee workstation. Within hours, multiple servers begin encrypting files while outbound network traffic indicates possible data exfiltration.</a:t>
            </a:r>
          </a:p>
        </p:txBody>
      </p:sp>
      <p:sp>
        <p:nvSpPr>
          <p:cNvPr id="9" name="TextBox 8"/>
          <p:cNvSpPr txBox="1"/>
          <p:nvPr/>
        </p:nvSpPr>
        <p:spPr>
          <a:xfrm>
            <a:off x="548640" y="3931920"/>
            <a:ext cx="10972800" cy="320040"/>
          </a:xfrm>
          <a:prstGeom prst="rect">
            <a:avLst/>
          </a:prstGeom>
          <a:noFill/>
        </p:spPr>
        <p:txBody>
          <a:bodyPr wrap="square">
            <a:spAutoFit/>
          </a:bodyPr>
          <a:lstStyle/>
          <a:p>
            <a:pPr algn="l">
              <a:defRPr sz="1300" b="1">
                <a:solidFill>
                  <a:srgbClr val="666666"/>
                </a:solidFill>
                <a:latin typeface="Calibri"/>
              </a:defRPr>
            </a:pPr>
            <a:r>
              <a:t>Exercise Objectives</a:t>
            </a:r>
          </a:p>
        </p:txBody>
      </p:sp>
      <p:sp>
        <p:nvSpPr>
          <p:cNvPr id="10" name="TextBox 9"/>
          <p:cNvSpPr txBox="1"/>
          <p:nvPr/>
        </p:nvSpPr>
        <p:spPr>
          <a:xfrm>
            <a:off x="548640" y="4389120"/>
            <a:ext cx="10972800" cy="2743200"/>
          </a:xfrm>
          <a:prstGeom prst="rect">
            <a:avLst/>
          </a:prstGeom>
          <a:noFill/>
        </p:spPr>
        <p:txBody>
          <a:bodyPr wrap="square">
            <a:spAutoFit/>
          </a:bodyPr>
          <a:lstStyle/>
          <a:p>
            <a:pPr>
              <a:spcAft>
                <a:spcPts val="500"/>
              </a:spcAft>
              <a:defRPr sz="1300">
                <a:solidFill>
                  <a:srgbClr val="1A1A1A"/>
                </a:solidFill>
                <a:latin typeface="Calibri"/>
              </a:defRPr>
            </a:pPr>
            <a:r>
              <a:t>—  Validate incident response procedures</a:t>
            </a:r>
          </a:p>
          <a:p>
            <a:pPr>
              <a:spcAft>
                <a:spcPts val="500"/>
              </a:spcAft>
              <a:defRPr sz="1300">
                <a:solidFill>
                  <a:srgbClr val="1A1A1A"/>
                </a:solidFill>
                <a:latin typeface="Calibri"/>
              </a:defRPr>
            </a:pPr>
            <a:r>
              <a:t>—  Evaluate executive decision-making</a:t>
            </a:r>
          </a:p>
          <a:p>
            <a:pPr>
              <a:spcAft>
                <a:spcPts val="500"/>
              </a:spcAft>
              <a:defRPr sz="1300">
                <a:solidFill>
                  <a:srgbClr val="1A1A1A"/>
                </a:solidFill>
                <a:latin typeface="Calibri"/>
              </a:defRPr>
            </a:pPr>
            <a:r>
              <a:t>—  Test crisis communications</a:t>
            </a:r>
          </a:p>
          <a:p>
            <a:pPr>
              <a:spcAft>
                <a:spcPts val="500"/>
              </a:spcAft>
              <a:defRPr sz="1300">
                <a:solidFill>
                  <a:srgbClr val="1A1A1A"/>
                </a:solidFill>
                <a:latin typeface="Calibri"/>
              </a:defRPr>
            </a:pPr>
            <a:r>
              <a:t>—  Assess legal and regulatory reporting</a:t>
            </a:r>
          </a:p>
          <a:p>
            <a:pPr>
              <a:spcAft>
                <a:spcPts val="500"/>
              </a:spcAft>
              <a:defRPr sz="1300">
                <a:solidFill>
                  <a:srgbClr val="1A1A1A"/>
                </a:solidFill>
                <a:latin typeface="Calibri"/>
              </a:defRPr>
            </a:pPr>
            <a:r>
              <a:t>—  Practice business continuity activation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Capstone Timeline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Exercise Timeline</a:t>
            </a:r>
          </a:p>
        </p:txBody>
      </p:sp>
      <p:graphicFrame>
        <p:nvGraphicFramePr>
          <p:cNvPr id="6" name="Table 5"/>
          <p:cNvGraphicFramePr>
            <a:graphicFrameLocks noGrp="1"/>
          </p:cNvGraphicFramePr>
          <p:nvPr/>
        </p:nvGraphicFramePr>
        <p:xfrm>
          <a:off x="548640" y="2194560"/>
          <a:ext cx="10972800" cy="50292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Time</a:t>
                      </a:r>
                    </a:p>
                  </a:txBody>
                  <a:tcPr/>
                </a:tc>
                <a:tc>
                  <a:txBody>
                    <a:bodyPr/>
                    <a:lstStyle/>
                    <a:p>
                      <a:pPr>
                        <a:defRPr sz="1100" b="1">
                          <a:solidFill>
                            <a:srgbClr val="666666"/>
                          </a:solidFill>
                        </a:defRPr>
                      </a:pPr>
                      <a:r>
                        <a:t>Event</a:t>
                      </a:r>
                    </a:p>
                  </a:txBody>
                  <a:tcPr/>
                </a:tc>
              </a:tr>
              <a:tr h="457200">
                <a:tc>
                  <a:txBody>
                    <a:bodyPr/>
                    <a:lstStyle/>
                    <a:p>
                      <a:pPr>
                        <a:defRPr sz="1200">
                          <a:solidFill>
                            <a:srgbClr val="1A1A1A"/>
                          </a:solidFill>
                        </a:defRPr>
                      </a:pPr>
                      <a:r>
                        <a:t>09:00</a:t>
                      </a:r>
                    </a:p>
                  </a:txBody>
                  <a:tcPr/>
                </a:tc>
                <a:tc>
                  <a:txBody>
                    <a:bodyPr/>
                    <a:lstStyle/>
                    <a:p>
                      <a:pPr>
                        <a:defRPr sz="1200">
                          <a:solidFill>
                            <a:srgbClr val="1A1A1A"/>
                          </a:solidFill>
                        </a:defRPr>
                      </a:pPr>
                      <a:r>
                        <a:t>Suspicious login detected</a:t>
                      </a:r>
                    </a:p>
                  </a:txBody>
                  <a:tcPr/>
                </a:tc>
              </a:tr>
              <a:tr h="457200">
                <a:tc>
                  <a:txBody>
                    <a:bodyPr/>
                    <a:lstStyle/>
                    <a:p>
                      <a:pPr>
                        <a:defRPr sz="1200">
                          <a:solidFill>
                            <a:srgbClr val="1A1A1A"/>
                          </a:solidFill>
                        </a:defRPr>
                      </a:pPr>
                      <a:r>
                        <a:t>09:15</a:t>
                      </a:r>
                    </a:p>
                  </a:txBody>
                  <a:tcPr/>
                </a:tc>
                <a:tc>
                  <a:txBody>
                    <a:bodyPr/>
                    <a:lstStyle/>
                    <a:p>
                      <a:pPr>
                        <a:defRPr sz="1200">
                          <a:solidFill>
                            <a:srgbClr val="1A1A1A"/>
                          </a:solidFill>
                        </a:defRPr>
                      </a:pPr>
                      <a:r>
                        <a:t>Endpoint malware alert</a:t>
                      </a:r>
                    </a:p>
                  </a:txBody>
                  <a:tcPr/>
                </a:tc>
              </a:tr>
              <a:tr h="457200">
                <a:tc>
                  <a:txBody>
                    <a:bodyPr/>
                    <a:lstStyle/>
                    <a:p>
                      <a:pPr>
                        <a:defRPr sz="1200">
                          <a:solidFill>
                            <a:srgbClr val="1A1A1A"/>
                          </a:solidFill>
                        </a:defRPr>
                      </a:pPr>
                      <a:r>
                        <a:t>09:30</a:t>
                      </a:r>
                    </a:p>
                  </a:txBody>
                  <a:tcPr/>
                </a:tc>
                <a:tc>
                  <a:txBody>
                    <a:bodyPr/>
                    <a:lstStyle/>
                    <a:p>
                      <a:pPr>
                        <a:defRPr sz="1200">
                          <a:solidFill>
                            <a:srgbClr val="1A1A1A"/>
                          </a:solidFill>
                        </a:defRPr>
                      </a:pPr>
                      <a:r>
                        <a:t>Ransomware confirmed</a:t>
                      </a:r>
                    </a:p>
                  </a:txBody>
                  <a:tcPr/>
                </a:tc>
              </a:tr>
              <a:tr h="457200">
                <a:tc>
                  <a:txBody>
                    <a:bodyPr/>
                    <a:lstStyle/>
                    <a:p>
                      <a:pPr>
                        <a:defRPr sz="1200">
                          <a:solidFill>
                            <a:srgbClr val="1A1A1A"/>
                          </a:solidFill>
                        </a:defRPr>
                      </a:pPr>
                      <a:r>
                        <a:t>10:00</a:t>
                      </a:r>
                    </a:p>
                  </a:txBody>
                  <a:tcPr/>
                </a:tc>
                <a:tc>
                  <a:txBody>
                    <a:bodyPr/>
                    <a:lstStyle/>
                    <a:p>
                      <a:pPr>
                        <a:defRPr sz="1200">
                          <a:solidFill>
                            <a:srgbClr val="1A1A1A"/>
                          </a:solidFill>
                        </a:defRPr>
                      </a:pPr>
                      <a:r>
                        <a:t>File servers encrypted</a:t>
                      </a:r>
                    </a:p>
                  </a:txBody>
                  <a:tcPr/>
                </a:tc>
              </a:tr>
              <a:tr h="457200">
                <a:tc>
                  <a:txBody>
                    <a:bodyPr/>
                    <a:lstStyle/>
                    <a:p>
                      <a:pPr>
                        <a:defRPr sz="1200">
                          <a:solidFill>
                            <a:srgbClr val="1A1A1A"/>
                          </a:solidFill>
                        </a:defRPr>
                      </a:pPr>
                      <a:r>
                        <a:t>10:30</a:t>
                      </a:r>
                    </a:p>
                  </a:txBody>
                  <a:tcPr/>
                </a:tc>
                <a:tc>
                  <a:txBody>
                    <a:bodyPr/>
                    <a:lstStyle/>
                    <a:p>
                      <a:pPr>
                        <a:defRPr sz="1200">
                          <a:solidFill>
                            <a:srgbClr val="1A1A1A"/>
                          </a:solidFill>
                        </a:defRPr>
                      </a:pPr>
                      <a:r>
                        <a:t>Executive notification</a:t>
                      </a:r>
                    </a:p>
                  </a:txBody>
                  <a:tcPr/>
                </a:tc>
              </a:tr>
              <a:tr h="457200">
                <a:tc>
                  <a:txBody>
                    <a:bodyPr/>
                    <a:lstStyle/>
                    <a:p>
                      <a:pPr>
                        <a:defRPr sz="1200">
                          <a:solidFill>
                            <a:srgbClr val="1A1A1A"/>
                          </a:solidFill>
                        </a:defRPr>
                      </a:pPr>
                      <a:r>
                        <a:t>11:00</a:t>
                      </a:r>
                    </a:p>
                  </a:txBody>
                  <a:tcPr/>
                </a:tc>
                <a:tc>
                  <a:txBody>
                    <a:bodyPr/>
                    <a:lstStyle/>
                    <a:p>
                      <a:pPr>
                        <a:defRPr sz="1200">
                          <a:solidFill>
                            <a:srgbClr val="1A1A1A"/>
                          </a:solidFill>
                        </a:defRPr>
                      </a:pPr>
                      <a:r>
                        <a:t>Media inquiry</a:t>
                      </a:r>
                    </a:p>
                  </a:txBody>
                  <a:tcPr/>
                </a:tc>
              </a:tr>
              <a:tr h="457200">
                <a:tc>
                  <a:txBody>
                    <a:bodyPr/>
                    <a:lstStyle/>
                    <a:p>
                      <a:pPr>
                        <a:defRPr sz="1200">
                          <a:solidFill>
                            <a:srgbClr val="1A1A1A"/>
                          </a:solidFill>
                        </a:defRPr>
                      </a:pPr>
                      <a:r>
                        <a:t>11:30</a:t>
                      </a:r>
                    </a:p>
                  </a:txBody>
                  <a:tcPr/>
                </a:tc>
                <a:tc>
                  <a:txBody>
                    <a:bodyPr/>
                    <a:lstStyle/>
                    <a:p>
                      <a:pPr>
                        <a:defRPr sz="1200">
                          <a:solidFill>
                            <a:srgbClr val="1A1A1A"/>
                          </a:solidFill>
                        </a:defRPr>
                      </a:pPr>
                      <a:r>
                        <a:t>Customer complaints</a:t>
                      </a:r>
                    </a:p>
                  </a:txBody>
                  <a:tcPr/>
                </a:tc>
              </a:tr>
              <a:tr h="457200">
                <a:tc>
                  <a:txBody>
                    <a:bodyPr/>
                    <a:lstStyle/>
                    <a:p>
                      <a:pPr>
                        <a:defRPr sz="1200">
                          <a:solidFill>
                            <a:srgbClr val="1A1A1A"/>
                          </a:solidFill>
                        </a:defRPr>
                      </a:pPr>
                      <a:r>
                        <a:t>12:00</a:t>
                      </a:r>
                    </a:p>
                  </a:txBody>
                  <a:tcPr/>
                </a:tc>
                <a:tc>
                  <a:txBody>
                    <a:bodyPr/>
                    <a:lstStyle/>
                    <a:p>
                      <a:pPr>
                        <a:defRPr sz="1200">
                          <a:solidFill>
                            <a:srgbClr val="1A1A1A"/>
                          </a:solidFill>
                        </a:defRPr>
                      </a:pPr>
                      <a:r>
                        <a:t>Ransom demand received</a:t>
                      </a:r>
                    </a:p>
                  </a:txBody>
                  <a:tcPr/>
                </a:tc>
              </a:tr>
              <a:tr h="457200">
                <a:tc>
                  <a:txBody>
                    <a:bodyPr/>
                    <a:lstStyle/>
                    <a:p>
                      <a:pPr>
                        <a:defRPr sz="1200">
                          <a:solidFill>
                            <a:srgbClr val="1A1A1A"/>
                          </a:solidFill>
                        </a:defRPr>
                      </a:pPr>
                      <a:r>
                        <a:t>12:30</a:t>
                      </a:r>
                    </a:p>
                  </a:txBody>
                  <a:tcPr/>
                </a:tc>
                <a:tc>
                  <a:txBody>
                    <a:bodyPr/>
                    <a:lstStyle/>
                    <a:p>
                      <a:pPr>
                        <a:defRPr sz="1200">
                          <a:solidFill>
                            <a:srgbClr val="1A1A1A"/>
                          </a:solidFill>
                        </a:defRPr>
                      </a:pPr>
                      <a:r>
                        <a:t>Regulatory notification deadline</a:t>
                      </a:r>
                    </a:p>
                  </a:txBody>
                  <a:tcPr/>
                </a:tc>
              </a:tr>
              <a:tr h="457200">
                <a:tc>
                  <a:txBody>
                    <a:bodyPr/>
                    <a:lstStyle/>
                    <a:p>
                      <a:pPr>
                        <a:defRPr sz="1200">
                          <a:solidFill>
                            <a:srgbClr val="1A1A1A"/>
                          </a:solidFill>
                        </a:defRPr>
                      </a:pPr>
                      <a:r>
                        <a:t>13:00</a:t>
                      </a:r>
                    </a:p>
                  </a:txBody>
                  <a:tcPr/>
                </a:tc>
                <a:tc>
                  <a:txBody>
                    <a:bodyPr/>
                    <a:lstStyle/>
                    <a:p>
                      <a:pPr>
                        <a:defRPr sz="1200">
                          <a:solidFill>
                            <a:srgbClr val="1A1A1A"/>
                          </a:solidFill>
                        </a:defRPr>
                      </a:pPr>
                      <a:r>
                        <a:t>Exercise concludes</a:t>
                      </a:r>
                    </a:p>
                  </a:txBody>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Sample Inject Package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Inject Examples</a:t>
            </a:r>
          </a:p>
        </p:txBody>
      </p:sp>
      <p:sp>
        <p:nvSpPr>
          <p:cNvPr id="6" name="TextBox 5"/>
          <p:cNvSpPr txBox="1"/>
          <p:nvPr/>
        </p:nvSpPr>
        <p:spPr>
          <a:xfrm>
            <a:off x="548640" y="2194560"/>
            <a:ext cx="10972800" cy="365760"/>
          </a:xfrm>
          <a:prstGeom prst="rect">
            <a:avLst/>
          </a:prstGeom>
          <a:noFill/>
        </p:spPr>
        <p:txBody>
          <a:bodyPr wrap="square">
            <a:spAutoFit/>
          </a:bodyPr>
          <a:lstStyle/>
          <a:p>
            <a:pPr algn="l">
              <a:defRPr sz="1400" b="0">
                <a:solidFill>
                  <a:srgbClr val="1A1A1A"/>
                </a:solidFill>
                <a:latin typeface="Calibri"/>
              </a:defRPr>
            </a:pPr>
            <a:r>
              <a:t>Inject 1 — Time: 09:05</a:t>
            </a:r>
          </a:p>
        </p:txBody>
      </p:sp>
      <p:sp>
        <p:nvSpPr>
          <p:cNvPr id="7" name="TextBox 6"/>
          <p:cNvSpPr txBox="1"/>
          <p:nvPr/>
        </p:nvSpPr>
        <p:spPr>
          <a:xfrm>
            <a:off x="548640" y="2697480"/>
            <a:ext cx="10972800" cy="365760"/>
          </a:xfrm>
          <a:prstGeom prst="rect">
            <a:avLst/>
          </a:prstGeom>
          <a:noFill/>
        </p:spPr>
        <p:txBody>
          <a:bodyPr wrap="square">
            <a:spAutoFit/>
          </a:bodyPr>
          <a:lstStyle/>
          <a:p>
            <a:pPr algn="l">
              <a:defRPr sz="1400" b="0">
                <a:solidFill>
                  <a:srgbClr val="1A1A1A"/>
                </a:solidFill>
                <a:latin typeface="Calibri"/>
              </a:defRPr>
            </a:pPr>
            <a:r>
              <a:t>A SOC analyst reports multiple failed MFA attempts against executive accounts.</a:t>
            </a:r>
          </a:p>
        </p:txBody>
      </p:sp>
      <p:sp>
        <p:nvSpPr>
          <p:cNvPr id="8" name="TextBox 7"/>
          <p:cNvSpPr txBox="1"/>
          <p:nvPr/>
        </p:nvSpPr>
        <p:spPr>
          <a:xfrm>
            <a:off x="548640" y="3200400"/>
            <a:ext cx="10972800" cy="365760"/>
          </a:xfrm>
          <a:prstGeom prst="rect">
            <a:avLst/>
          </a:prstGeom>
          <a:noFill/>
        </p:spPr>
        <p:txBody>
          <a:bodyPr wrap="square">
            <a:spAutoFit/>
          </a:bodyPr>
          <a:lstStyle/>
          <a:p>
            <a:pPr algn="l">
              <a:defRPr sz="1400" b="0">
                <a:solidFill>
                  <a:srgbClr val="1A1A1A"/>
                </a:solidFill>
                <a:latin typeface="Calibri"/>
              </a:defRPr>
            </a:pPr>
            <a:r>
              <a:t>Inject 2 — Time: 09:30</a:t>
            </a:r>
          </a:p>
        </p:txBody>
      </p:sp>
      <p:sp>
        <p:nvSpPr>
          <p:cNvPr id="9" name="TextBox 8"/>
          <p:cNvSpPr txBox="1"/>
          <p:nvPr/>
        </p:nvSpPr>
        <p:spPr>
          <a:xfrm>
            <a:off x="548640" y="3703320"/>
            <a:ext cx="10972800" cy="365760"/>
          </a:xfrm>
          <a:prstGeom prst="rect">
            <a:avLst/>
          </a:prstGeom>
          <a:noFill/>
        </p:spPr>
        <p:txBody>
          <a:bodyPr wrap="square">
            <a:spAutoFit/>
          </a:bodyPr>
          <a:lstStyle/>
          <a:p>
            <a:pPr algn="l">
              <a:defRPr sz="1400" b="0">
                <a:solidFill>
                  <a:srgbClr val="1A1A1A"/>
                </a:solidFill>
                <a:latin typeface="Calibri"/>
              </a:defRPr>
            </a:pPr>
            <a:r>
              <a:t>Endpoint Detection and Response (EDR) identifies ransomware activity on three file servers.</a:t>
            </a:r>
          </a:p>
        </p:txBody>
      </p:sp>
      <p:sp>
        <p:nvSpPr>
          <p:cNvPr id="10" name="TextBox 9"/>
          <p:cNvSpPr txBox="1"/>
          <p:nvPr/>
        </p:nvSpPr>
        <p:spPr>
          <a:xfrm>
            <a:off x="548640" y="4206240"/>
            <a:ext cx="10972800" cy="365760"/>
          </a:xfrm>
          <a:prstGeom prst="rect">
            <a:avLst/>
          </a:prstGeom>
          <a:noFill/>
        </p:spPr>
        <p:txBody>
          <a:bodyPr wrap="square">
            <a:spAutoFit/>
          </a:bodyPr>
          <a:lstStyle/>
          <a:p>
            <a:pPr algn="l">
              <a:defRPr sz="1400" b="0">
                <a:solidFill>
                  <a:srgbClr val="1A1A1A"/>
                </a:solidFill>
                <a:latin typeface="Calibri"/>
              </a:defRPr>
            </a:pPr>
            <a:r>
              <a:t>Inject 3 — Time: 10:20</a:t>
            </a:r>
          </a:p>
        </p:txBody>
      </p:sp>
      <p:sp>
        <p:nvSpPr>
          <p:cNvPr id="11" name="TextBox 10"/>
          <p:cNvSpPr txBox="1"/>
          <p:nvPr/>
        </p:nvSpPr>
        <p:spPr>
          <a:xfrm>
            <a:off x="548640" y="4709160"/>
            <a:ext cx="10972800" cy="365760"/>
          </a:xfrm>
          <a:prstGeom prst="rect">
            <a:avLst/>
          </a:prstGeom>
          <a:noFill/>
        </p:spPr>
        <p:txBody>
          <a:bodyPr wrap="square">
            <a:spAutoFit/>
          </a:bodyPr>
          <a:lstStyle/>
          <a:p>
            <a:pPr algn="l">
              <a:defRPr sz="1400" b="0">
                <a:solidFill>
                  <a:srgbClr val="1A1A1A"/>
                </a:solidFill>
                <a:latin typeface="Calibri"/>
              </a:defRPr>
            </a:pPr>
            <a:r>
              <a:t>The Chief Executive Officer requests a business impact assessment within 15 minutes.</a:t>
            </a:r>
          </a:p>
        </p:txBody>
      </p:sp>
      <p:sp>
        <p:nvSpPr>
          <p:cNvPr id="12" name="TextBox 11"/>
          <p:cNvSpPr txBox="1"/>
          <p:nvPr/>
        </p:nvSpPr>
        <p:spPr>
          <a:xfrm>
            <a:off x="548640" y="5212080"/>
            <a:ext cx="10972800" cy="365760"/>
          </a:xfrm>
          <a:prstGeom prst="rect">
            <a:avLst/>
          </a:prstGeom>
          <a:noFill/>
        </p:spPr>
        <p:txBody>
          <a:bodyPr wrap="square">
            <a:spAutoFit/>
          </a:bodyPr>
          <a:lstStyle/>
          <a:p>
            <a:pPr algn="l">
              <a:defRPr sz="1400" b="0">
                <a:solidFill>
                  <a:srgbClr val="1A1A1A"/>
                </a:solidFill>
                <a:latin typeface="Calibri"/>
              </a:defRPr>
            </a:pPr>
            <a:r>
              <a:t>Inject 4 — Time: 11:00</a:t>
            </a:r>
          </a:p>
        </p:txBody>
      </p:sp>
      <p:sp>
        <p:nvSpPr>
          <p:cNvPr id="13" name="TextBox 12"/>
          <p:cNvSpPr txBox="1"/>
          <p:nvPr/>
        </p:nvSpPr>
        <p:spPr>
          <a:xfrm>
            <a:off x="548640" y="5715000"/>
            <a:ext cx="10972800" cy="365760"/>
          </a:xfrm>
          <a:prstGeom prst="rect">
            <a:avLst/>
          </a:prstGeom>
          <a:noFill/>
        </p:spPr>
        <p:txBody>
          <a:bodyPr wrap="square">
            <a:spAutoFit/>
          </a:bodyPr>
          <a:lstStyle/>
          <a:p>
            <a:pPr algn="l">
              <a:defRPr sz="1400" b="0">
                <a:solidFill>
                  <a:srgbClr val="1A1A1A"/>
                </a:solidFill>
                <a:latin typeface="Calibri"/>
              </a:defRPr>
            </a:pPr>
            <a:r>
              <a:t>A journalist contacts Corporate Communications requesting confirmation of a cyberattack.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209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Facilitator Guide Template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Before the Exercise</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Review objectives</a:t>
            </a:r>
          </a:p>
          <a:p>
            <a:pPr>
              <a:spcAft>
                <a:spcPts val="500"/>
              </a:spcAft>
              <a:defRPr sz="1300">
                <a:solidFill>
                  <a:srgbClr val="1A1A1A"/>
                </a:solidFill>
                <a:latin typeface="Calibri"/>
              </a:defRPr>
            </a:pPr>
            <a:r>
              <a:t>—  Confirm participant attendance</a:t>
            </a:r>
          </a:p>
          <a:p>
            <a:pPr>
              <a:spcAft>
                <a:spcPts val="500"/>
              </a:spcAft>
              <a:defRPr sz="1300">
                <a:solidFill>
                  <a:srgbClr val="1A1A1A"/>
                </a:solidFill>
                <a:latin typeface="Calibri"/>
              </a:defRPr>
            </a:pPr>
            <a:r>
              <a:t>—  Validate technology</a:t>
            </a:r>
          </a:p>
          <a:p>
            <a:pPr>
              <a:spcAft>
                <a:spcPts val="500"/>
              </a:spcAft>
              <a:defRPr sz="1300">
                <a:solidFill>
                  <a:srgbClr val="1A1A1A"/>
                </a:solidFill>
                <a:latin typeface="Calibri"/>
              </a:defRPr>
            </a:pPr>
            <a:r>
              <a:t>—  Test inject schedule</a:t>
            </a:r>
          </a:p>
          <a:p>
            <a:pPr>
              <a:spcAft>
                <a:spcPts val="500"/>
              </a:spcAft>
              <a:defRPr sz="1300">
                <a:solidFill>
                  <a:srgbClr val="1A1A1A"/>
                </a:solidFill>
                <a:latin typeface="Calibri"/>
              </a:defRPr>
            </a:pPr>
            <a:r>
              <a:t>—  Brief observers</a:t>
            </a:r>
          </a:p>
          <a:p>
            <a:pPr>
              <a:spcAft>
                <a:spcPts val="500"/>
              </a:spcAft>
              <a:defRPr sz="1300">
                <a:solidFill>
                  <a:srgbClr val="1A1A1A"/>
                </a:solidFill>
                <a:latin typeface="Calibri"/>
              </a:defRPr>
            </a:pPr>
            <a:r>
              <a:t>—  Confirm logistics</a:t>
            </a:r>
          </a:p>
        </p:txBody>
      </p:sp>
      <p:sp>
        <p:nvSpPr>
          <p:cNvPr id="7" name="TextBox 6"/>
          <p:cNvSpPr txBox="1"/>
          <p:nvPr/>
        </p:nvSpPr>
        <p:spPr>
          <a:xfrm>
            <a:off x="548640" y="4251959"/>
            <a:ext cx="10972800" cy="320040"/>
          </a:xfrm>
          <a:prstGeom prst="rect">
            <a:avLst/>
          </a:prstGeom>
          <a:noFill/>
        </p:spPr>
        <p:txBody>
          <a:bodyPr wrap="square">
            <a:spAutoFit/>
          </a:bodyPr>
          <a:lstStyle/>
          <a:p>
            <a:pPr algn="l">
              <a:defRPr sz="1300" b="1">
                <a:solidFill>
                  <a:srgbClr val="666666"/>
                </a:solidFill>
                <a:latin typeface="Calibri"/>
              </a:defRPr>
            </a:pPr>
            <a:r>
              <a:t>During the Exercise</a:t>
            </a:r>
          </a:p>
        </p:txBody>
      </p:sp>
      <p:sp>
        <p:nvSpPr>
          <p:cNvPr id="8" name="TextBox 7"/>
          <p:cNvSpPr txBox="1"/>
          <p:nvPr/>
        </p:nvSpPr>
        <p:spPr>
          <a:xfrm>
            <a:off x="548640" y="4709159"/>
            <a:ext cx="10972800" cy="2743200"/>
          </a:xfrm>
          <a:prstGeom prst="rect">
            <a:avLst/>
          </a:prstGeom>
          <a:noFill/>
        </p:spPr>
        <p:txBody>
          <a:bodyPr wrap="square">
            <a:spAutoFit/>
          </a:bodyPr>
          <a:lstStyle/>
          <a:p>
            <a:pPr>
              <a:spcAft>
                <a:spcPts val="500"/>
              </a:spcAft>
              <a:defRPr sz="1300">
                <a:solidFill>
                  <a:srgbClr val="1A1A1A"/>
                </a:solidFill>
                <a:latin typeface="Calibri"/>
              </a:defRPr>
            </a:pPr>
            <a:r>
              <a:t>—  Maintain neutrality</a:t>
            </a:r>
          </a:p>
          <a:p>
            <a:pPr>
              <a:spcAft>
                <a:spcPts val="500"/>
              </a:spcAft>
              <a:defRPr sz="1300">
                <a:solidFill>
                  <a:srgbClr val="1A1A1A"/>
                </a:solidFill>
                <a:latin typeface="Calibri"/>
              </a:defRPr>
            </a:pPr>
            <a:r>
              <a:t>—  Manage time</a:t>
            </a:r>
          </a:p>
          <a:p>
            <a:pPr>
              <a:spcAft>
                <a:spcPts val="500"/>
              </a:spcAft>
              <a:defRPr sz="1300">
                <a:solidFill>
                  <a:srgbClr val="1A1A1A"/>
                </a:solidFill>
                <a:latin typeface="Calibri"/>
              </a:defRPr>
            </a:pPr>
            <a:r>
              <a:t>—  Introduce injects</a:t>
            </a:r>
          </a:p>
          <a:p>
            <a:pPr>
              <a:spcAft>
                <a:spcPts val="500"/>
              </a:spcAft>
              <a:defRPr sz="1300">
                <a:solidFill>
                  <a:srgbClr val="1A1A1A"/>
                </a:solidFill>
                <a:latin typeface="Calibri"/>
              </a:defRPr>
            </a:pPr>
            <a:r>
              <a:t>—  Encourage discussion</a:t>
            </a:r>
          </a:p>
          <a:p>
            <a:pPr>
              <a:spcAft>
                <a:spcPts val="500"/>
              </a:spcAft>
              <a:defRPr sz="1300">
                <a:solidFill>
                  <a:srgbClr val="1A1A1A"/>
                </a:solidFill>
                <a:latin typeface="Calibri"/>
              </a:defRPr>
            </a:pPr>
            <a:r>
              <a:t>—  Record observations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White Cell Toolkit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White Cell Responsibilities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control</a:t>
            </a:r>
          </a:p>
          <a:p>
            <a:pPr>
              <a:spcAft>
                <a:spcPts val="500"/>
              </a:spcAft>
              <a:defRPr sz="1300">
                <a:solidFill>
                  <a:srgbClr val="1A1A1A"/>
                </a:solidFill>
                <a:latin typeface="Calibri"/>
              </a:defRPr>
            </a:pPr>
            <a:r>
              <a:t>—  Scenario management</a:t>
            </a:r>
          </a:p>
          <a:p>
            <a:pPr>
              <a:spcAft>
                <a:spcPts val="500"/>
              </a:spcAft>
              <a:defRPr sz="1300">
                <a:solidFill>
                  <a:srgbClr val="1A1A1A"/>
                </a:solidFill>
                <a:latin typeface="Calibri"/>
              </a:defRPr>
            </a:pPr>
            <a:r>
              <a:t>—  Inject delivery</a:t>
            </a:r>
          </a:p>
          <a:p>
            <a:pPr>
              <a:spcAft>
                <a:spcPts val="500"/>
              </a:spcAft>
              <a:defRPr sz="1300">
                <a:solidFill>
                  <a:srgbClr val="1A1A1A"/>
                </a:solidFill>
                <a:latin typeface="Calibri"/>
              </a:defRPr>
            </a:pPr>
            <a:r>
              <a:t>—  Timeline adjustments</a:t>
            </a:r>
          </a:p>
          <a:p>
            <a:pPr>
              <a:spcAft>
                <a:spcPts val="500"/>
              </a:spcAft>
              <a:defRPr sz="1300">
                <a:solidFill>
                  <a:srgbClr val="1A1A1A"/>
                </a:solidFill>
                <a:latin typeface="Calibri"/>
              </a:defRPr>
            </a:pPr>
            <a:r>
              <a:t>—  Participant support</a:t>
            </a:r>
          </a:p>
          <a:p>
            <a:pPr>
              <a:spcAft>
                <a:spcPts val="500"/>
              </a:spcAft>
              <a:defRPr sz="1300">
                <a:solidFill>
                  <a:srgbClr val="1A1A1A"/>
                </a:solidFill>
                <a:latin typeface="Calibri"/>
              </a:defRPr>
            </a:pPr>
            <a:r>
              <a:t>—  Logistics coordination</a:t>
            </a:r>
          </a:p>
          <a:p>
            <a:pPr>
              <a:spcAft>
                <a:spcPts val="500"/>
              </a:spcAft>
              <a:defRPr sz="1300">
                <a:solidFill>
                  <a:srgbClr val="1A1A1A"/>
                </a:solidFill>
                <a:latin typeface="Calibri"/>
              </a:defRPr>
            </a:pPr>
            <a:r>
              <a:t>—  Technical support</a:t>
            </a:r>
          </a:p>
          <a:p>
            <a:pPr>
              <a:spcAft>
                <a:spcPts val="500"/>
              </a:spcAft>
              <a:defRPr sz="1300">
                <a:solidFill>
                  <a:srgbClr val="1A1A1A"/>
                </a:solidFill>
                <a:latin typeface="Calibri"/>
              </a:defRPr>
            </a:pPr>
            <a:r>
              <a:t>—  Exercise documentation</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White Cell Checklist</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Inject schedule</a:t>
            </a:r>
          </a:p>
          <a:p>
            <a:pPr>
              <a:spcAft>
                <a:spcPts val="500"/>
              </a:spcAft>
              <a:defRPr sz="1300">
                <a:solidFill>
                  <a:srgbClr val="1A1A1A"/>
                </a:solidFill>
                <a:latin typeface="Calibri"/>
              </a:defRPr>
            </a:pPr>
            <a:r>
              <a:t>—  Contact list</a:t>
            </a:r>
          </a:p>
          <a:p>
            <a:pPr>
              <a:spcAft>
                <a:spcPts val="500"/>
              </a:spcAft>
              <a:defRPr sz="1300">
                <a:solidFill>
                  <a:srgbClr val="1A1A1A"/>
                </a:solidFill>
                <a:latin typeface="Calibri"/>
              </a:defRPr>
            </a:pPr>
            <a:r>
              <a:t>—  Decision log</a:t>
            </a:r>
          </a:p>
          <a:p>
            <a:pPr>
              <a:spcAft>
                <a:spcPts val="500"/>
              </a:spcAft>
              <a:defRPr sz="1300">
                <a:solidFill>
                  <a:srgbClr val="1A1A1A"/>
                </a:solidFill>
                <a:latin typeface="Calibri"/>
              </a:defRPr>
            </a:pPr>
            <a:r>
              <a:t>—  Scenario timeline</a:t>
            </a:r>
          </a:p>
          <a:p>
            <a:pPr>
              <a:spcAft>
                <a:spcPts val="500"/>
              </a:spcAft>
              <a:defRPr sz="1300">
                <a:solidFill>
                  <a:srgbClr val="1A1A1A"/>
                </a:solidFill>
                <a:latin typeface="Calibri"/>
              </a:defRPr>
            </a:pPr>
            <a:r>
              <a:t>—  Backup injects</a:t>
            </a:r>
          </a:p>
          <a:p>
            <a:pPr>
              <a:spcAft>
                <a:spcPts val="500"/>
              </a:spcAft>
              <a:defRPr sz="1300">
                <a:solidFill>
                  <a:srgbClr val="1A1A1A"/>
                </a:solidFill>
                <a:latin typeface="Calibri"/>
              </a:defRPr>
            </a:pPr>
            <a:r>
              <a:t>—  Observer assignments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Observer Evaluation Form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Observer Information</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Observer Name</a:t>
            </a:r>
          </a:p>
          <a:p>
            <a:pPr>
              <a:spcAft>
                <a:spcPts val="500"/>
              </a:spcAft>
              <a:defRPr sz="1300">
                <a:solidFill>
                  <a:srgbClr val="1A1A1A"/>
                </a:solidFill>
                <a:latin typeface="Calibri"/>
              </a:defRPr>
            </a:pPr>
            <a:r>
              <a:t>—  Date</a:t>
            </a:r>
          </a:p>
          <a:p>
            <a:pPr>
              <a:spcAft>
                <a:spcPts val="500"/>
              </a:spcAft>
              <a:defRPr sz="1300">
                <a:solidFill>
                  <a:srgbClr val="1A1A1A"/>
                </a:solidFill>
                <a:latin typeface="Calibri"/>
              </a:defRPr>
            </a:pPr>
            <a:r>
              <a:t>—  Exercise Name</a:t>
            </a:r>
          </a:p>
          <a:p>
            <a:pPr>
              <a:spcAft>
                <a:spcPts val="500"/>
              </a:spcAft>
              <a:defRPr sz="1300">
                <a:solidFill>
                  <a:srgbClr val="1A1A1A"/>
                </a:solidFill>
                <a:latin typeface="Calibri"/>
              </a:defRPr>
            </a:pPr>
            <a:r>
              <a:t>—  Assigned Team</a:t>
            </a:r>
          </a:p>
        </p:txBody>
      </p:sp>
      <p:sp>
        <p:nvSpPr>
          <p:cNvPr id="7" name="TextBox 6"/>
          <p:cNvSpPr txBox="1"/>
          <p:nvPr/>
        </p:nvSpPr>
        <p:spPr>
          <a:xfrm>
            <a:off x="548640" y="3611880"/>
            <a:ext cx="10972800" cy="320040"/>
          </a:xfrm>
          <a:prstGeom prst="rect">
            <a:avLst/>
          </a:prstGeom>
          <a:noFill/>
        </p:spPr>
        <p:txBody>
          <a:bodyPr wrap="square">
            <a:spAutoFit/>
          </a:bodyPr>
          <a:lstStyle/>
          <a:p>
            <a:pPr algn="l">
              <a:defRPr sz="1300" b="1">
                <a:solidFill>
                  <a:srgbClr val="666666"/>
                </a:solidFill>
                <a:latin typeface="Calibri"/>
              </a:defRPr>
            </a:pPr>
            <a:r>
              <a:t>Evaluation Categories</a:t>
            </a:r>
          </a:p>
        </p:txBody>
      </p:sp>
      <p:graphicFrame>
        <p:nvGraphicFramePr>
          <p:cNvPr id="8" name="Table 7"/>
          <p:cNvGraphicFramePr>
            <a:graphicFrameLocks noGrp="1"/>
          </p:cNvGraphicFramePr>
          <p:nvPr/>
        </p:nvGraphicFramePr>
        <p:xfrm>
          <a:off x="548640" y="4069080"/>
          <a:ext cx="10972800" cy="2743200"/>
        </p:xfrm>
        <a:graphic>
          <a:graphicData uri="http://schemas.openxmlformats.org/drawingml/2006/table">
            <a:tbl>
              <a:tblPr firstRow="1" bandRow="1">
                <a:tableStyleId>{5C22544A-7EE6-4342-B048-85BDC9FD1C3A}</a:tableStyleId>
              </a:tblPr>
              <a:tblGrid>
                <a:gridCol w="5486400"/>
                <a:gridCol w="5486400"/>
              </a:tblGrid>
              <a:tr h="457200">
                <a:tc>
                  <a:txBody>
                    <a:bodyPr/>
                    <a:lstStyle/>
                    <a:p>
                      <a:pPr>
                        <a:defRPr sz="1100" b="1">
                          <a:solidFill>
                            <a:srgbClr val="666666"/>
                          </a:solidFill>
                        </a:defRPr>
                      </a:pPr>
                      <a:r>
                        <a:t>Category</a:t>
                      </a:r>
                    </a:p>
                  </a:txBody>
                  <a:tcPr/>
                </a:tc>
                <a:tc>
                  <a:txBody>
                    <a:bodyPr/>
                    <a:lstStyle/>
                    <a:p>
                      <a:pPr>
                        <a:defRPr sz="1100" b="1">
                          <a:solidFill>
                            <a:srgbClr val="666666"/>
                          </a:solidFill>
                        </a:defRPr>
                      </a:pPr>
                      <a:r>
                        <a:t>Rating</a:t>
                      </a:r>
                    </a:p>
                  </a:txBody>
                  <a:tcPr/>
                </a:tc>
              </a:tr>
              <a:tr h="457200">
                <a:tc>
                  <a:txBody>
                    <a:bodyPr/>
                    <a:lstStyle/>
                    <a:p>
                      <a:pPr>
                        <a:defRPr sz="1200">
                          <a:solidFill>
                            <a:srgbClr val="1A1A1A"/>
                          </a:solidFill>
                        </a:defRPr>
                      </a:pPr>
                      <a:r>
                        <a:t>Leadership</a:t>
                      </a:r>
                    </a:p>
                  </a:txBody>
                  <a:tcPr/>
                </a:tc>
                <a:tc>
                  <a:txBody>
                    <a:bodyPr/>
                    <a:lstStyle/>
                    <a:p>
                      <a:pPr>
                        <a:defRPr sz="1200">
                          <a:solidFill>
                            <a:srgbClr val="1A1A1A"/>
                          </a:solidFill>
                        </a:defRPr>
                      </a:pPr>
                      <a:r>
                        <a:t>1 — 2 — 3 — 4 — 5</a:t>
                      </a:r>
                    </a:p>
                  </a:txBody>
                  <a:tcPr/>
                </a:tc>
              </a:tr>
              <a:tr h="457200">
                <a:tc>
                  <a:txBody>
                    <a:bodyPr/>
                    <a:lstStyle/>
                    <a:p>
                      <a:pPr>
                        <a:defRPr sz="1200">
                          <a:solidFill>
                            <a:srgbClr val="1A1A1A"/>
                          </a:solidFill>
                        </a:defRPr>
                      </a:pPr>
                      <a:r>
                        <a:t>Communication</a:t>
                      </a:r>
                    </a:p>
                  </a:txBody>
                  <a:tcPr/>
                </a:tc>
                <a:tc>
                  <a:txBody>
                    <a:bodyPr/>
                    <a:lstStyle/>
                    <a:p>
                      <a:pPr>
                        <a:defRPr sz="1200">
                          <a:solidFill>
                            <a:srgbClr val="1A1A1A"/>
                          </a:solidFill>
                        </a:defRPr>
                      </a:pPr>
                      <a:r>
                        <a:t>1 — 2 — 3 — 4 — 5</a:t>
                      </a:r>
                    </a:p>
                  </a:txBody>
                  <a:tcPr/>
                </a:tc>
              </a:tr>
              <a:tr h="457200">
                <a:tc>
                  <a:txBody>
                    <a:bodyPr/>
                    <a:lstStyle/>
                    <a:p>
                      <a:pPr>
                        <a:defRPr sz="1200">
                          <a:solidFill>
                            <a:srgbClr val="1A1A1A"/>
                          </a:solidFill>
                        </a:defRPr>
                      </a:pPr>
                      <a:r>
                        <a:t>Decision-Making</a:t>
                      </a:r>
                    </a:p>
                  </a:txBody>
                  <a:tcPr/>
                </a:tc>
                <a:tc>
                  <a:txBody>
                    <a:bodyPr/>
                    <a:lstStyle/>
                    <a:p>
                      <a:pPr>
                        <a:defRPr sz="1200">
                          <a:solidFill>
                            <a:srgbClr val="1A1A1A"/>
                          </a:solidFill>
                        </a:defRPr>
                      </a:pPr>
                      <a:r>
                        <a:t>1 — 2 — 3 — 4 — 5</a:t>
                      </a:r>
                    </a:p>
                  </a:txBody>
                  <a:tcPr/>
                </a:tc>
              </a:tr>
              <a:tr h="457200">
                <a:tc>
                  <a:txBody>
                    <a:bodyPr/>
                    <a:lstStyle/>
                    <a:p>
                      <a:pPr>
                        <a:defRPr sz="1200">
                          <a:solidFill>
                            <a:srgbClr val="1A1A1A"/>
                          </a:solidFill>
                        </a:defRPr>
                      </a:pPr>
                      <a:r>
                        <a:t>Coordination</a:t>
                      </a:r>
                    </a:p>
                  </a:txBody>
                  <a:tcPr/>
                </a:tc>
                <a:tc>
                  <a:txBody>
                    <a:bodyPr/>
                    <a:lstStyle/>
                    <a:p>
                      <a:pPr>
                        <a:defRPr sz="1200">
                          <a:solidFill>
                            <a:srgbClr val="1A1A1A"/>
                          </a:solidFill>
                        </a:defRPr>
                      </a:pPr>
                      <a:r>
                        <a:t>1 — 2 — 3 — 4 — 5</a:t>
                      </a:r>
                    </a:p>
                  </a:txBody>
                  <a:tcPr/>
                </a:tc>
              </a:tr>
              <a:tr h="457200">
                <a:tc>
                  <a:txBody>
                    <a:bodyPr/>
                    <a:lstStyle/>
                    <a:p>
                      <a:pPr>
                        <a:defRPr sz="1200">
                          <a:solidFill>
                            <a:srgbClr val="1A1A1A"/>
                          </a:solidFill>
                        </a:defRPr>
                      </a:pPr>
                      <a:r>
                        <a:t>Documentation</a:t>
                      </a:r>
                    </a:p>
                  </a:txBody>
                  <a:tcPr/>
                </a:tc>
                <a:tc>
                  <a:txBody>
                    <a:bodyPr/>
                    <a:lstStyle/>
                    <a:p>
                      <a:pPr>
                        <a:defRPr sz="1200">
                          <a:solidFill>
                            <a:srgbClr val="1A1A1A"/>
                          </a:solidFill>
                        </a:defRPr>
                      </a:pPr>
                      <a:r>
                        <a:t>1 — 2 — 3 — 4 — 5</a:t>
                      </a:r>
                    </a:p>
                  </a:txBody>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Decision Log Template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Decision Record</a:t>
            </a:r>
          </a:p>
        </p:txBody>
      </p:sp>
      <p:graphicFrame>
        <p:nvGraphicFramePr>
          <p:cNvPr id="6" name="Table 5"/>
          <p:cNvGraphicFramePr>
            <a:graphicFrameLocks noGrp="1"/>
          </p:cNvGraphicFramePr>
          <p:nvPr/>
        </p:nvGraphicFramePr>
        <p:xfrm>
          <a:off x="548640" y="2194560"/>
          <a:ext cx="10972800" cy="9144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57200">
                <a:tc>
                  <a:txBody>
                    <a:bodyPr/>
                    <a:lstStyle/>
                    <a:p>
                      <a:pPr>
                        <a:defRPr sz="1100" b="1">
                          <a:solidFill>
                            <a:srgbClr val="666666"/>
                          </a:solidFill>
                        </a:defRPr>
                      </a:pPr>
                      <a:r>
                        <a:t>Time</a:t>
                      </a:r>
                    </a:p>
                  </a:txBody>
                  <a:tcPr/>
                </a:tc>
                <a:tc>
                  <a:txBody>
                    <a:bodyPr/>
                    <a:lstStyle/>
                    <a:p>
                      <a:pPr>
                        <a:defRPr sz="1100" b="1">
                          <a:solidFill>
                            <a:srgbClr val="666666"/>
                          </a:solidFill>
                        </a:defRPr>
                      </a:pPr>
                      <a:r>
                        <a:t>Decision</a:t>
                      </a:r>
                    </a:p>
                  </a:txBody>
                  <a:tcPr/>
                </a:tc>
                <a:tc>
                  <a:txBody>
                    <a:bodyPr/>
                    <a:lstStyle/>
                    <a:p>
                      <a:pPr>
                        <a:defRPr sz="1100" b="1">
                          <a:solidFill>
                            <a:srgbClr val="666666"/>
                          </a:solidFill>
                        </a:defRPr>
                      </a:pPr>
                      <a:r>
                        <a:t>Owner</a:t>
                      </a:r>
                    </a:p>
                  </a:txBody>
                  <a:tcPr/>
                </a:tc>
                <a:tc>
                  <a:txBody>
                    <a:bodyPr/>
                    <a:lstStyle/>
                    <a:p>
                      <a:pPr>
                        <a:defRPr sz="1100" b="1">
                          <a:solidFill>
                            <a:srgbClr val="666666"/>
                          </a:solidFill>
                        </a:defRPr>
                      </a:pPr>
                      <a:r>
                        <a:t>Outcome</a:t>
                      </a:r>
                    </a:p>
                  </a:txBody>
                  <a:tcPr/>
                </a:tc>
                <a:tc>
                  <a:txBody>
                    <a:bodyPr/>
                    <a:lstStyle/>
                    <a:p>
                      <a:pPr>
                        <a:defRPr sz="1100" b="1">
                          <a:solidFill>
                            <a:srgbClr val="666666"/>
                          </a:solidFill>
                        </a:defRPr>
                      </a:pPr>
                      <a:r>
                        <a:t>Notes</a:t>
                      </a:r>
                    </a:p>
                  </a:txBody>
                  <a:tcPr/>
                </a:tc>
              </a:tr>
              <a:tr h="457200">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r>
            </a:tbl>
          </a:graphicData>
        </a:graphic>
      </p:graphicFrame>
      <p:sp>
        <p:nvSpPr>
          <p:cNvPr id="7" name="TextBox 6"/>
          <p:cNvSpPr txBox="1"/>
          <p:nvPr/>
        </p:nvSpPr>
        <p:spPr>
          <a:xfrm>
            <a:off x="548640" y="3429000"/>
            <a:ext cx="10972800" cy="320040"/>
          </a:xfrm>
          <a:prstGeom prst="rect">
            <a:avLst/>
          </a:prstGeom>
          <a:noFill/>
        </p:spPr>
        <p:txBody>
          <a:bodyPr wrap="square">
            <a:spAutoFit/>
          </a:bodyPr>
          <a:lstStyle/>
          <a:p>
            <a:pPr algn="l">
              <a:defRPr sz="1300" b="1">
                <a:solidFill>
                  <a:srgbClr val="666666"/>
                </a:solidFill>
                <a:latin typeface="Calibri"/>
              </a:defRPr>
            </a:pPr>
            <a:r>
              <a:t>Capture</a:t>
            </a:r>
          </a:p>
        </p:txBody>
      </p:sp>
      <p:sp>
        <p:nvSpPr>
          <p:cNvPr id="8" name="TextBox 7"/>
          <p:cNvSpPr txBox="1"/>
          <p:nvPr/>
        </p:nvSpPr>
        <p:spPr>
          <a:xfrm>
            <a:off x="548640" y="3886200"/>
            <a:ext cx="10972800" cy="2743200"/>
          </a:xfrm>
          <a:prstGeom prst="rect">
            <a:avLst/>
          </a:prstGeom>
          <a:noFill/>
        </p:spPr>
        <p:txBody>
          <a:bodyPr wrap="square">
            <a:spAutoFit/>
          </a:bodyPr>
          <a:lstStyle/>
          <a:p>
            <a:pPr>
              <a:spcAft>
                <a:spcPts val="500"/>
              </a:spcAft>
              <a:defRPr sz="1300">
                <a:solidFill>
                  <a:srgbClr val="1A1A1A"/>
                </a:solidFill>
                <a:latin typeface="Calibri"/>
              </a:defRPr>
            </a:pPr>
            <a:r>
              <a:t>—  Situation</a:t>
            </a:r>
          </a:p>
          <a:p>
            <a:pPr>
              <a:spcAft>
                <a:spcPts val="500"/>
              </a:spcAft>
              <a:defRPr sz="1300">
                <a:solidFill>
                  <a:srgbClr val="1A1A1A"/>
                </a:solidFill>
                <a:latin typeface="Calibri"/>
              </a:defRPr>
            </a:pPr>
            <a:r>
              <a:t>—  Decision rationale</a:t>
            </a:r>
          </a:p>
          <a:p>
            <a:pPr>
              <a:spcAft>
                <a:spcPts val="500"/>
              </a:spcAft>
              <a:defRPr sz="1300">
                <a:solidFill>
                  <a:srgbClr val="1A1A1A"/>
                </a:solidFill>
                <a:latin typeface="Calibri"/>
              </a:defRPr>
            </a:pPr>
            <a:r>
              <a:t>—  Alternatives considered</a:t>
            </a:r>
          </a:p>
          <a:p>
            <a:pPr>
              <a:spcAft>
                <a:spcPts val="500"/>
              </a:spcAft>
              <a:defRPr sz="1300">
                <a:solidFill>
                  <a:srgbClr val="1A1A1A"/>
                </a:solidFill>
                <a:latin typeface="Calibri"/>
              </a:defRPr>
            </a:pPr>
            <a:r>
              <a:t>—  Risks identified</a:t>
            </a:r>
          </a:p>
          <a:p>
            <a:pPr>
              <a:spcAft>
                <a:spcPts val="500"/>
              </a:spcAft>
              <a:defRPr sz="1300">
                <a:solidFill>
                  <a:srgbClr val="1A1A1A"/>
                </a:solidFill>
                <a:latin typeface="Calibri"/>
              </a:defRPr>
            </a:pPr>
            <a:r>
              <a:t>—  Responsible authority</a:t>
            </a:r>
          </a:p>
          <a:p>
            <a:pPr>
              <a:spcAft>
                <a:spcPts val="500"/>
              </a:spcAft>
              <a:defRPr sz="1300">
                <a:solidFill>
                  <a:srgbClr val="1A1A1A"/>
                </a:solidFill>
                <a:latin typeface="Calibri"/>
              </a:defRPr>
            </a:pPr>
            <a:r>
              <a:t>—  Follow-up actions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Inject Tracking Sheet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Inject Register</a:t>
            </a:r>
          </a:p>
        </p:txBody>
      </p:sp>
      <p:graphicFrame>
        <p:nvGraphicFramePr>
          <p:cNvPr id="6" name="Table 5"/>
          <p:cNvGraphicFramePr>
            <a:graphicFrameLocks noGrp="1"/>
          </p:cNvGraphicFramePr>
          <p:nvPr/>
        </p:nvGraphicFramePr>
        <p:xfrm>
          <a:off x="548640" y="2194560"/>
          <a:ext cx="10972800" cy="9144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57200">
                <a:tc>
                  <a:txBody>
                    <a:bodyPr/>
                    <a:lstStyle/>
                    <a:p>
                      <a:pPr>
                        <a:defRPr sz="1100" b="1">
                          <a:solidFill>
                            <a:srgbClr val="666666"/>
                          </a:solidFill>
                        </a:defRPr>
                      </a:pPr>
                      <a:r>
                        <a:t>Inject ID</a:t>
                      </a:r>
                    </a:p>
                  </a:txBody>
                  <a:tcPr/>
                </a:tc>
                <a:tc>
                  <a:txBody>
                    <a:bodyPr/>
                    <a:lstStyle/>
                    <a:p>
                      <a:pPr>
                        <a:defRPr sz="1100" b="1">
                          <a:solidFill>
                            <a:srgbClr val="666666"/>
                          </a:solidFill>
                        </a:defRPr>
                      </a:pPr>
                      <a:r>
                        <a:t>Planned Time</a:t>
                      </a:r>
                    </a:p>
                  </a:txBody>
                  <a:tcPr/>
                </a:tc>
                <a:tc>
                  <a:txBody>
                    <a:bodyPr/>
                    <a:lstStyle/>
                    <a:p>
                      <a:pPr>
                        <a:defRPr sz="1100" b="1">
                          <a:solidFill>
                            <a:srgbClr val="666666"/>
                          </a:solidFill>
                        </a:defRPr>
                      </a:pPr>
                      <a:r>
                        <a:t>Actual Time</a:t>
                      </a:r>
                    </a:p>
                  </a:txBody>
                  <a:tcPr/>
                </a:tc>
                <a:tc>
                  <a:txBody>
                    <a:bodyPr/>
                    <a:lstStyle/>
                    <a:p>
                      <a:pPr>
                        <a:defRPr sz="1100" b="1">
                          <a:solidFill>
                            <a:srgbClr val="666666"/>
                          </a:solidFill>
                        </a:defRPr>
                      </a:pPr>
                      <a:r>
                        <a:t>Delivered By</a:t>
                      </a:r>
                    </a:p>
                  </a:txBody>
                  <a:tcPr/>
                </a:tc>
                <a:tc>
                  <a:txBody>
                    <a:bodyPr/>
                    <a:lstStyle/>
                    <a:p>
                      <a:pPr>
                        <a:defRPr sz="1100" b="1">
                          <a:solidFill>
                            <a:srgbClr val="666666"/>
                          </a:solidFill>
                        </a:defRPr>
                      </a:pPr>
                      <a:r>
                        <a:t>Status</a:t>
                      </a:r>
                    </a:p>
                  </a:txBody>
                  <a:tcPr/>
                </a:tc>
              </a:tr>
              <a:tr h="457200">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r>
            </a:tbl>
          </a:graphicData>
        </a:graphic>
      </p:graphicFrame>
      <p:sp>
        <p:nvSpPr>
          <p:cNvPr id="7" name="TextBox 6"/>
          <p:cNvSpPr txBox="1"/>
          <p:nvPr/>
        </p:nvSpPr>
        <p:spPr>
          <a:xfrm>
            <a:off x="548640" y="3429000"/>
            <a:ext cx="10972800" cy="320040"/>
          </a:xfrm>
          <a:prstGeom prst="rect">
            <a:avLst/>
          </a:prstGeom>
          <a:noFill/>
        </p:spPr>
        <p:txBody>
          <a:bodyPr wrap="square">
            <a:spAutoFit/>
          </a:bodyPr>
          <a:lstStyle/>
          <a:p>
            <a:pPr algn="l">
              <a:defRPr sz="1300" b="1">
                <a:solidFill>
                  <a:srgbClr val="666666"/>
                </a:solidFill>
                <a:latin typeface="Calibri"/>
              </a:defRPr>
            </a:pPr>
            <a:r>
              <a:t>Track</a:t>
            </a:r>
          </a:p>
        </p:txBody>
      </p:sp>
      <p:sp>
        <p:nvSpPr>
          <p:cNvPr id="8" name="TextBox 7"/>
          <p:cNvSpPr txBox="1"/>
          <p:nvPr/>
        </p:nvSpPr>
        <p:spPr>
          <a:xfrm>
            <a:off x="548640" y="3886200"/>
            <a:ext cx="10972800" cy="2743200"/>
          </a:xfrm>
          <a:prstGeom prst="rect">
            <a:avLst/>
          </a:prstGeom>
          <a:noFill/>
        </p:spPr>
        <p:txBody>
          <a:bodyPr wrap="square">
            <a:spAutoFit/>
          </a:bodyPr>
          <a:lstStyle/>
          <a:p>
            <a:pPr>
              <a:spcAft>
                <a:spcPts val="500"/>
              </a:spcAft>
              <a:defRPr sz="1300">
                <a:solidFill>
                  <a:srgbClr val="1A1A1A"/>
                </a:solidFill>
                <a:latin typeface="Calibri"/>
              </a:defRPr>
            </a:pPr>
            <a:r>
              <a:t>—  Inject delays</a:t>
            </a:r>
          </a:p>
          <a:p>
            <a:pPr>
              <a:spcAft>
                <a:spcPts val="500"/>
              </a:spcAft>
              <a:defRPr sz="1300">
                <a:solidFill>
                  <a:srgbClr val="1A1A1A"/>
                </a:solidFill>
                <a:latin typeface="Calibri"/>
              </a:defRPr>
            </a:pPr>
            <a:r>
              <a:t>—  Alternate injects</a:t>
            </a:r>
          </a:p>
          <a:p>
            <a:pPr>
              <a:spcAft>
                <a:spcPts val="500"/>
              </a:spcAft>
              <a:defRPr sz="1300">
                <a:solidFill>
                  <a:srgbClr val="1A1A1A"/>
                </a:solidFill>
                <a:latin typeface="Calibri"/>
              </a:defRPr>
            </a:pPr>
            <a:r>
              <a:t>—  Branch decisions</a:t>
            </a:r>
          </a:p>
          <a:p>
            <a:pPr>
              <a:spcAft>
                <a:spcPts val="500"/>
              </a:spcAft>
              <a:defRPr sz="1300">
                <a:solidFill>
                  <a:srgbClr val="1A1A1A"/>
                </a:solidFill>
                <a:latin typeface="Calibri"/>
              </a:defRPr>
            </a:pPr>
            <a:r>
              <a:t>—  Participant responses</a:t>
            </a:r>
          </a:p>
          <a:p>
            <a:pPr>
              <a:spcAft>
                <a:spcPts val="500"/>
              </a:spcAft>
              <a:defRPr sz="1300">
                <a:solidFill>
                  <a:srgbClr val="1A1A1A"/>
                </a:solidFill>
                <a:latin typeface="Calibri"/>
              </a:defRPr>
            </a:pPr>
            <a:r>
              <a:t>—  Follow-up injects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Hot Wash Feedback Form</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Participant Feedback</a:t>
            </a:r>
          </a:p>
        </p:txBody>
      </p:sp>
      <p:graphicFrame>
        <p:nvGraphicFramePr>
          <p:cNvPr id="6" name="Table 5"/>
          <p:cNvGraphicFramePr>
            <a:graphicFrameLocks noGrp="1"/>
          </p:cNvGraphicFramePr>
          <p:nvPr/>
        </p:nvGraphicFramePr>
        <p:xfrm>
          <a:off x="548640" y="2194560"/>
          <a:ext cx="10972800" cy="22860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57200">
                <a:tc>
                  <a:txBody>
                    <a:bodyPr/>
                    <a:lstStyle/>
                    <a:p>
                      <a:pPr>
                        <a:defRPr sz="1100" b="1">
                          <a:solidFill>
                            <a:srgbClr val="666666"/>
                          </a:solidFill>
                        </a:defRPr>
                      </a:pPr>
                      <a:r>
                        <a:t>Area</a:t>
                      </a:r>
                    </a:p>
                  </a:txBody>
                  <a:tcPr/>
                </a:tc>
                <a:tc>
                  <a:txBody>
                    <a:bodyPr/>
                    <a:lstStyle/>
                    <a:p>
                      <a:pPr>
                        <a:defRPr sz="1100" b="1">
                          <a:solidFill>
                            <a:srgbClr val="666666"/>
                          </a:solidFill>
                        </a:defRPr>
                      </a:pPr>
                      <a:r>
                        <a:t>Excellent</a:t>
                      </a:r>
                    </a:p>
                  </a:txBody>
                  <a:tcPr/>
                </a:tc>
                <a:tc>
                  <a:txBody>
                    <a:bodyPr/>
                    <a:lstStyle/>
                    <a:p>
                      <a:pPr>
                        <a:defRPr sz="1100" b="1">
                          <a:solidFill>
                            <a:srgbClr val="666666"/>
                          </a:solidFill>
                        </a:defRPr>
                      </a:pPr>
                      <a:r>
                        <a:t>Good</a:t>
                      </a:r>
                    </a:p>
                  </a:txBody>
                  <a:tcPr/>
                </a:tc>
                <a:tc>
                  <a:txBody>
                    <a:bodyPr/>
                    <a:lstStyle/>
                    <a:p>
                      <a:pPr>
                        <a:defRPr sz="1100" b="1">
                          <a:solidFill>
                            <a:srgbClr val="666666"/>
                          </a:solidFill>
                        </a:defRPr>
                      </a:pPr>
                      <a:r>
                        <a:t>Fair</a:t>
                      </a:r>
                    </a:p>
                  </a:txBody>
                  <a:tcPr/>
                </a:tc>
                <a:tc>
                  <a:txBody>
                    <a:bodyPr/>
                    <a:lstStyle/>
                    <a:p>
                      <a:pPr>
                        <a:defRPr sz="1100" b="1">
                          <a:solidFill>
                            <a:srgbClr val="666666"/>
                          </a:solidFill>
                        </a:defRPr>
                      </a:pPr>
                      <a:r>
                        <a:t>Poor</a:t>
                      </a:r>
                    </a:p>
                  </a:txBody>
                  <a:tcPr/>
                </a:tc>
              </a:tr>
              <a:tr h="457200">
                <a:tc>
                  <a:txBody>
                    <a:bodyPr/>
                    <a:lstStyle/>
                    <a:p>
                      <a:pPr>
                        <a:defRPr sz="1200">
                          <a:solidFill>
                            <a:srgbClr val="1A1A1A"/>
                          </a:solidFill>
                        </a:defRPr>
                      </a:pPr>
                      <a:r>
                        <a:t>Exercise realism</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r>
              <a:tr h="457200">
                <a:tc>
                  <a:txBody>
                    <a:bodyPr/>
                    <a:lstStyle/>
                    <a:p>
                      <a:pPr>
                        <a:defRPr sz="1200">
                          <a:solidFill>
                            <a:srgbClr val="1A1A1A"/>
                          </a:solidFill>
                        </a:defRPr>
                      </a:pPr>
                      <a:r>
                        <a:t>Facilitation</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r>
              <a:tr h="457200">
                <a:tc>
                  <a:txBody>
                    <a:bodyPr/>
                    <a:lstStyle/>
                    <a:p>
                      <a:pPr>
                        <a:defRPr sz="1200">
                          <a:solidFill>
                            <a:srgbClr val="1A1A1A"/>
                          </a:solidFill>
                        </a:defRPr>
                      </a:pPr>
                      <a:r>
                        <a:t>Scenario quality</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r>
              <a:tr h="457200">
                <a:tc>
                  <a:txBody>
                    <a:bodyPr/>
                    <a:lstStyle/>
                    <a:p>
                      <a:pPr>
                        <a:defRPr sz="1200">
                          <a:solidFill>
                            <a:srgbClr val="1A1A1A"/>
                          </a:solidFill>
                        </a:defRPr>
                      </a:pPr>
                      <a:r>
                        <a:t>Learning value</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c>
                  <a:txBody>
                    <a:bodyPr/>
                    <a:lstStyle/>
                    <a:p>
                      <a:pPr>
                        <a:defRPr sz="1200">
                          <a:solidFill>
                            <a:srgbClr val="1A1A1A"/>
                          </a:solidFill>
                        </a:defRPr>
                      </a:pPr>
                      <a:r>
                        <a:t>□</a:t>
                      </a:r>
                    </a:p>
                  </a:txBody>
                  <a:tcPr/>
                </a:tc>
              </a:tr>
            </a:tbl>
          </a:graphicData>
        </a:graphic>
      </p:graphicFrame>
      <p:sp>
        <p:nvSpPr>
          <p:cNvPr id="7" name="TextBox 6"/>
          <p:cNvSpPr txBox="1"/>
          <p:nvPr/>
        </p:nvSpPr>
        <p:spPr>
          <a:xfrm>
            <a:off x="548640" y="4800600"/>
            <a:ext cx="10972800" cy="320040"/>
          </a:xfrm>
          <a:prstGeom prst="rect">
            <a:avLst/>
          </a:prstGeom>
          <a:noFill/>
        </p:spPr>
        <p:txBody>
          <a:bodyPr wrap="square">
            <a:spAutoFit/>
          </a:bodyPr>
          <a:lstStyle/>
          <a:p>
            <a:pPr algn="l">
              <a:defRPr sz="1300" b="1">
                <a:solidFill>
                  <a:srgbClr val="666666"/>
                </a:solidFill>
                <a:latin typeface="Calibri"/>
              </a:defRPr>
            </a:pPr>
            <a:r>
              <a:t>Open Questions</a:t>
            </a:r>
          </a:p>
        </p:txBody>
      </p:sp>
      <p:sp>
        <p:nvSpPr>
          <p:cNvPr id="8" name="TextBox 7"/>
          <p:cNvSpPr txBox="1"/>
          <p:nvPr/>
        </p:nvSpPr>
        <p:spPr>
          <a:xfrm>
            <a:off x="548640" y="5257800"/>
            <a:ext cx="10972800" cy="2743200"/>
          </a:xfrm>
          <a:prstGeom prst="rect">
            <a:avLst/>
          </a:prstGeom>
          <a:noFill/>
        </p:spPr>
        <p:txBody>
          <a:bodyPr wrap="square">
            <a:spAutoFit/>
          </a:bodyPr>
          <a:lstStyle/>
          <a:p>
            <a:pPr>
              <a:spcAft>
                <a:spcPts val="500"/>
              </a:spcAft>
              <a:defRPr sz="1300">
                <a:solidFill>
                  <a:srgbClr val="1A1A1A"/>
                </a:solidFill>
                <a:latin typeface="Calibri"/>
              </a:defRPr>
            </a:pPr>
            <a:r>
              <a:t>—  What worked well?</a:t>
            </a:r>
          </a:p>
          <a:p>
            <a:pPr>
              <a:spcAft>
                <a:spcPts val="500"/>
              </a:spcAft>
              <a:defRPr sz="1300">
                <a:solidFill>
                  <a:srgbClr val="1A1A1A"/>
                </a:solidFill>
                <a:latin typeface="Calibri"/>
              </a:defRPr>
            </a:pPr>
            <a:r>
              <a:t>—  What should improve?</a:t>
            </a:r>
          </a:p>
          <a:p>
            <a:pPr>
              <a:spcAft>
                <a:spcPts val="500"/>
              </a:spcAft>
              <a:defRPr sz="1300">
                <a:solidFill>
                  <a:srgbClr val="1A1A1A"/>
                </a:solidFill>
                <a:latin typeface="Calibri"/>
              </a:defRPr>
            </a:pPr>
            <a:r>
              <a:t>—  What surprised you?</a:t>
            </a:r>
          </a:p>
          <a:p>
            <a:pPr>
              <a:spcAft>
                <a:spcPts val="500"/>
              </a:spcAft>
              <a:defRPr sz="1300">
                <a:solidFill>
                  <a:srgbClr val="1A1A1A"/>
                </a:solidFill>
                <a:latin typeface="Calibri"/>
              </a:defRPr>
            </a:pPr>
            <a:r>
              <a:t>—  Additional comments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215</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After Action Report (AAR) Template</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Recommended Sections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1. Executive Summary</a:t>
            </a:r>
          </a:p>
          <a:p>
            <a:pPr>
              <a:spcAft>
                <a:spcPts val="500"/>
              </a:spcAft>
              <a:defRPr sz="1300">
                <a:solidFill>
                  <a:srgbClr val="1A1A1A"/>
                </a:solidFill>
                <a:latin typeface="Calibri"/>
              </a:defRPr>
            </a:pPr>
            <a:r>
              <a:t>—  2. Exercise Objectives</a:t>
            </a:r>
          </a:p>
          <a:p>
            <a:pPr>
              <a:spcAft>
                <a:spcPts val="500"/>
              </a:spcAft>
              <a:defRPr sz="1300">
                <a:solidFill>
                  <a:srgbClr val="1A1A1A"/>
                </a:solidFill>
                <a:latin typeface="Calibri"/>
              </a:defRPr>
            </a:pPr>
            <a:r>
              <a:t>—  3. Scope</a:t>
            </a:r>
          </a:p>
          <a:p>
            <a:pPr>
              <a:spcAft>
                <a:spcPts val="500"/>
              </a:spcAft>
              <a:defRPr sz="1300">
                <a:solidFill>
                  <a:srgbClr val="1A1A1A"/>
                </a:solidFill>
                <a:latin typeface="Calibri"/>
              </a:defRPr>
            </a:pPr>
            <a:r>
              <a:t>—  4. Scenario Description</a:t>
            </a:r>
          </a:p>
          <a:p>
            <a:pPr>
              <a:spcAft>
                <a:spcPts val="500"/>
              </a:spcAft>
              <a:defRPr sz="1300">
                <a:solidFill>
                  <a:srgbClr val="1A1A1A"/>
                </a:solidFill>
                <a:latin typeface="Calibri"/>
              </a:defRPr>
            </a:pPr>
            <a:r>
              <a:t>—  5. Participant List</a:t>
            </a:r>
          </a:p>
          <a:p>
            <a:pPr>
              <a:spcAft>
                <a:spcPts val="500"/>
              </a:spcAft>
              <a:defRPr sz="1300">
                <a:solidFill>
                  <a:srgbClr val="1A1A1A"/>
                </a:solidFill>
                <a:latin typeface="Calibri"/>
              </a:defRPr>
            </a:pPr>
            <a:r>
              <a:t>—  6. Major Findings</a:t>
            </a:r>
          </a:p>
          <a:p>
            <a:pPr>
              <a:spcAft>
                <a:spcPts val="500"/>
              </a:spcAft>
              <a:defRPr sz="1300">
                <a:solidFill>
                  <a:srgbClr val="1A1A1A"/>
                </a:solidFill>
                <a:latin typeface="Calibri"/>
              </a:defRPr>
            </a:pPr>
            <a:r>
              <a:t>—  7. Strengths</a:t>
            </a:r>
          </a:p>
          <a:p>
            <a:pPr>
              <a:spcAft>
                <a:spcPts val="500"/>
              </a:spcAft>
              <a:defRPr sz="1300">
                <a:solidFill>
                  <a:srgbClr val="1A1A1A"/>
                </a:solidFill>
                <a:latin typeface="Calibri"/>
              </a:defRPr>
            </a:pPr>
            <a:r>
              <a:t>—  8. Areas for Improvement</a:t>
            </a:r>
          </a:p>
          <a:p>
            <a:pPr>
              <a:spcAft>
                <a:spcPts val="500"/>
              </a:spcAft>
              <a:defRPr sz="1300">
                <a:solidFill>
                  <a:srgbClr val="1A1A1A"/>
                </a:solidFill>
                <a:latin typeface="Calibri"/>
              </a:defRPr>
            </a:pPr>
            <a:r>
              <a:t>—  9. Corrective Actions</a:t>
            </a:r>
          </a:p>
          <a:p>
            <a:pPr>
              <a:spcAft>
                <a:spcPts val="500"/>
              </a:spcAft>
              <a:defRPr sz="1300">
                <a:solidFill>
                  <a:srgbClr val="1A1A1A"/>
                </a:solidFill>
                <a:latin typeface="Calibri"/>
              </a:defRPr>
            </a:pPr>
            <a:r>
              <a:t>—  10. Appendices</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Supporting Documents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Decision logs</a:t>
            </a:r>
          </a:p>
          <a:p>
            <a:pPr>
              <a:spcAft>
                <a:spcPts val="500"/>
              </a:spcAft>
              <a:defRPr sz="1300">
                <a:solidFill>
                  <a:srgbClr val="1A1A1A"/>
                </a:solidFill>
                <a:latin typeface="Calibri"/>
              </a:defRPr>
            </a:pPr>
            <a:r>
              <a:t>—  Observer notes</a:t>
            </a:r>
          </a:p>
          <a:p>
            <a:pPr>
              <a:spcAft>
                <a:spcPts val="500"/>
              </a:spcAft>
              <a:defRPr sz="1300">
                <a:solidFill>
                  <a:srgbClr val="1A1A1A"/>
                </a:solidFill>
                <a:latin typeface="Calibri"/>
              </a:defRPr>
            </a:pPr>
            <a:r>
              <a:t>—  Inject timeline</a:t>
            </a:r>
          </a:p>
          <a:p>
            <a:pPr>
              <a:spcAft>
                <a:spcPts val="500"/>
              </a:spcAft>
              <a:defRPr sz="1300">
                <a:solidFill>
                  <a:srgbClr val="1A1A1A"/>
                </a:solidFill>
                <a:latin typeface="Calibri"/>
              </a:defRPr>
            </a:pPr>
            <a:r>
              <a:t>—  Hot Wash feedback</a:t>
            </a:r>
          </a:p>
          <a:p>
            <a:pPr>
              <a:spcAft>
                <a:spcPts val="500"/>
              </a:spcAft>
              <a:defRPr sz="1300">
                <a:solidFill>
                  <a:srgbClr val="1A1A1A"/>
                </a:solidFill>
                <a:latin typeface="Calibri"/>
              </a:defRPr>
            </a:pPr>
            <a:r>
              <a:t>—  Evaluation forms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216</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Corrective Action Tracker</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Tracking Table</a:t>
            </a:r>
          </a:p>
        </p:txBody>
      </p:sp>
      <p:graphicFrame>
        <p:nvGraphicFramePr>
          <p:cNvPr id="6" name="Table 5"/>
          <p:cNvGraphicFramePr>
            <a:graphicFrameLocks noGrp="1"/>
          </p:cNvGraphicFramePr>
          <p:nvPr/>
        </p:nvGraphicFramePr>
        <p:xfrm>
          <a:off x="548640" y="2194560"/>
          <a:ext cx="10972800" cy="9144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57200">
                <a:tc>
                  <a:txBody>
                    <a:bodyPr/>
                    <a:lstStyle/>
                    <a:p>
                      <a:pPr>
                        <a:defRPr sz="1100" b="1">
                          <a:solidFill>
                            <a:srgbClr val="666666"/>
                          </a:solidFill>
                        </a:defRPr>
                      </a:pPr>
                      <a:r>
                        <a:t>Action</a:t>
                      </a:r>
                    </a:p>
                  </a:txBody>
                  <a:tcPr/>
                </a:tc>
                <a:tc>
                  <a:txBody>
                    <a:bodyPr/>
                    <a:lstStyle/>
                    <a:p>
                      <a:pPr>
                        <a:defRPr sz="1100" b="1">
                          <a:solidFill>
                            <a:srgbClr val="666666"/>
                          </a:solidFill>
                        </a:defRPr>
                      </a:pPr>
                      <a:r>
                        <a:t>Owner</a:t>
                      </a:r>
                    </a:p>
                  </a:txBody>
                  <a:tcPr/>
                </a:tc>
                <a:tc>
                  <a:txBody>
                    <a:bodyPr/>
                    <a:lstStyle/>
                    <a:p>
                      <a:pPr>
                        <a:defRPr sz="1100" b="1">
                          <a:solidFill>
                            <a:srgbClr val="666666"/>
                          </a:solidFill>
                        </a:defRPr>
                      </a:pPr>
                      <a:r>
                        <a:t>Priority</a:t>
                      </a:r>
                    </a:p>
                  </a:txBody>
                  <a:tcPr/>
                </a:tc>
                <a:tc>
                  <a:txBody>
                    <a:bodyPr/>
                    <a:lstStyle/>
                    <a:p>
                      <a:pPr>
                        <a:defRPr sz="1100" b="1">
                          <a:solidFill>
                            <a:srgbClr val="666666"/>
                          </a:solidFill>
                        </a:defRPr>
                      </a:pPr>
                      <a:r>
                        <a:t>Due Date</a:t>
                      </a:r>
                    </a:p>
                  </a:txBody>
                  <a:tcPr/>
                </a:tc>
                <a:tc>
                  <a:txBody>
                    <a:bodyPr/>
                    <a:lstStyle/>
                    <a:p>
                      <a:pPr>
                        <a:defRPr sz="1100" b="1">
                          <a:solidFill>
                            <a:srgbClr val="666666"/>
                          </a:solidFill>
                        </a:defRPr>
                      </a:pPr>
                      <a:r>
                        <a:t>Status</a:t>
                      </a:r>
                    </a:p>
                  </a:txBody>
                  <a:tcPr/>
                </a:tc>
              </a:tr>
              <a:tr h="457200">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c>
                  <a:txBody>
                    <a:bodyPr/>
                    <a:lstStyle/>
                    <a:p>
                      <a:pPr>
                        <a:defRPr sz="1200">
                          <a:solidFill>
                            <a:srgbClr val="1A1A1A"/>
                          </a:solidFill>
                        </a:defRPr>
                      </a:pPr>
                    </a:p>
                  </a:txBody>
                  <a:tcPr/>
                </a:tc>
              </a:tr>
            </a:tbl>
          </a:graphicData>
        </a:graphic>
      </p:graphicFrame>
      <p:sp>
        <p:nvSpPr>
          <p:cNvPr id="7" name="TextBox 6"/>
          <p:cNvSpPr txBox="1"/>
          <p:nvPr/>
        </p:nvSpPr>
        <p:spPr>
          <a:xfrm>
            <a:off x="548640" y="3429000"/>
            <a:ext cx="10972800" cy="320040"/>
          </a:xfrm>
          <a:prstGeom prst="rect">
            <a:avLst/>
          </a:prstGeom>
          <a:noFill/>
        </p:spPr>
        <p:txBody>
          <a:bodyPr wrap="square">
            <a:spAutoFit/>
          </a:bodyPr>
          <a:lstStyle/>
          <a:p>
            <a:pPr algn="l">
              <a:defRPr sz="1300" b="1">
                <a:solidFill>
                  <a:srgbClr val="666666"/>
                </a:solidFill>
                <a:latin typeface="Calibri"/>
              </a:defRPr>
            </a:pPr>
            <a:r>
              <a:t>Governance</a:t>
            </a:r>
          </a:p>
        </p:txBody>
      </p:sp>
      <p:sp>
        <p:nvSpPr>
          <p:cNvPr id="8" name="TextBox 7"/>
          <p:cNvSpPr txBox="1"/>
          <p:nvPr/>
        </p:nvSpPr>
        <p:spPr>
          <a:xfrm>
            <a:off x="548640" y="3886200"/>
            <a:ext cx="10972800" cy="2743200"/>
          </a:xfrm>
          <a:prstGeom prst="rect">
            <a:avLst/>
          </a:prstGeom>
          <a:noFill/>
        </p:spPr>
        <p:txBody>
          <a:bodyPr wrap="square">
            <a:spAutoFit/>
          </a:bodyPr>
          <a:lstStyle/>
          <a:p>
            <a:pPr>
              <a:spcAft>
                <a:spcPts val="500"/>
              </a:spcAft>
              <a:defRPr sz="1300">
                <a:solidFill>
                  <a:srgbClr val="1A1A1A"/>
                </a:solidFill>
                <a:latin typeface="Calibri"/>
              </a:defRPr>
            </a:pPr>
            <a:r>
              <a:t>—  Weekly review</a:t>
            </a:r>
          </a:p>
          <a:p>
            <a:pPr>
              <a:spcAft>
                <a:spcPts val="500"/>
              </a:spcAft>
              <a:defRPr sz="1300">
                <a:solidFill>
                  <a:srgbClr val="1A1A1A"/>
                </a:solidFill>
                <a:latin typeface="Calibri"/>
              </a:defRPr>
            </a:pPr>
            <a:r>
              <a:t>—  Monthly reporting</a:t>
            </a:r>
          </a:p>
          <a:p>
            <a:pPr>
              <a:spcAft>
                <a:spcPts val="500"/>
              </a:spcAft>
              <a:defRPr sz="1300">
                <a:solidFill>
                  <a:srgbClr val="1A1A1A"/>
                </a:solidFill>
                <a:latin typeface="Calibri"/>
              </a:defRPr>
            </a:pPr>
            <a:r>
              <a:t>—  Executive oversight</a:t>
            </a:r>
          </a:p>
          <a:p>
            <a:pPr>
              <a:spcAft>
                <a:spcPts val="500"/>
              </a:spcAft>
              <a:defRPr sz="1300">
                <a:solidFill>
                  <a:srgbClr val="1A1A1A"/>
                </a:solidFill>
                <a:latin typeface="Calibri"/>
              </a:defRPr>
            </a:pPr>
            <a:r>
              <a:t>—  Risk committee updates</a:t>
            </a:r>
          </a:p>
          <a:p>
            <a:pPr>
              <a:spcAft>
                <a:spcPts val="500"/>
              </a:spcAft>
              <a:defRPr sz="1300">
                <a:solidFill>
                  <a:srgbClr val="1A1A1A"/>
                </a:solidFill>
                <a:latin typeface="Calibri"/>
              </a:defRPr>
            </a:pPr>
            <a:r>
              <a:t>—  Closure validation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217</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Exercise Planning Checklist</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Strategic</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Define objectives</a:t>
            </a:r>
          </a:p>
          <a:p>
            <a:pPr>
              <a:spcAft>
                <a:spcPts val="500"/>
              </a:spcAft>
              <a:defRPr sz="1300">
                <a:solidFill>
                  <a:srgbClr val="1A1A1A"/>
                </a:solidFill>
                <a:latin typeface="Calibri"/>
              </a:defRPr>
            </a:pPr>
            <a:r>
              <a:t>—  Obtain sponsorship</a:t>
            </a:r>
          </a:p>
          <a:p>
            <a:pPr>
              <a:spcAft>
                <a:spcPts val="500"/>
              </a:spcAft>
              <a:defRPr sz="1300">
                <a:solidFill>
                  <a:srgbClr val="1A1A1A"/>
                </a:solidFill>
                <a:latin typeface="Calibri"/>
              </a:defRPr>
            </a:pPr>
            <a:r>
              <a:t>—  Determine scope</a:t>
            </a:r>
          </a:p>
          <a:p>
            <a:pPr>
              <a:spcAft>
                <a:spcPts val="500"/>
              </a:spcAft>
              <a:defRPr sz="1300">
                <a:solidFill>
                  <a:srgbClr val="1A1A1A"/>
                </a:solidFill>
                <a:latin typeface="Calibri"/>
              </a:defRPr>
            </a:pPr>
            <a:r>
              <a:t>—  Allocate budget</a:t>
            </a:r>
          </a:p>
        </p:txBody>
      </p:sp>
      <p:sp>
        <p:nvSpPr>
          <p:cNvPr id="7" name="TextBox 6"/>
          <p:cNvSpPr txBox="1"/>
          <p:nvPr/>
        </p:nvSpPr>
        <p:spPr>
          <a:xfrm>
            <a:off x="548640" y="3611880"/>
            <a:ext cx="10972800" cy="320040"/>
          </a:xfrm>
          <a:prstGeom prst="rect">
            <a:avLst/>
          </a:prstGeom>
          <a:noFill/>
        </p:spPr>
        <p:txBody>
          <a:bodyPr wrap="square">
            <a:spAutoFit/>
          </a:bodyPr>
          <a:lstStyle/>
          <a:p>
            <a:pPr algn="l">
              <a:defRPr sz="1300" b="1">
                <a:solidFill>
                  <a:srgbClr val="666666"/>
                </a:solidFill>
                <a:latin typeface="Calibri"/>
              </a:defRPr>
            </a:pPr>
            <a:r>
              <a:t>Operational</a:t>
            </a:r>
          </a:p>
        </p:txBody>
      </p:sp>
      <p:sp>
        <p:nvSpPr>
          <p:cNvPr id="8" name="TextBox 7"/>
          <p:cNvSpPr txBox="1"/>
          <p:nvPr/>
        </p:nvSpPr>
        <p:spPr>
          <a:xfrm>
            <a:off x="548640" y="4069080"/>
            <a:ext cx="10972800" cy="2743200"/>
          </a:xfrm>
          <a:prstGeom prst="rect">
            <a:avLst/>
          </a:prstGeom>
          <a:noFill/>
        </p:spPr>
        <p:txBody>
          <a:bodyPr wrap="square">
            <a:spAutoFit/>
          </a:bodyPr>
          <a:lstStyle/>
          <a:p>
            <a:pPr>
              <a:spcAft>
                <a:spcPts val="500"/>
              </a:spcAft>
              <a:defRPr sz="1300">
                <a:solidFill>
                  <a:srgbClr val="1A1A1A"/>
                </a:solidFill>
                <a:latin typeface="Calibri"/>
              </a:defRPr>
            </a:pPr>
            <a:r>
              <a:t>—  Develop scenario</a:t>
            </a:r>
          </a:p>
          <a:p>
            <a:pPr>
              <a:spcAft>
                <a:spcPts val="500"/>
              </a:spcAft>
              <a:defRPr sz="1300">
                <a:solidFill>
                  <a:srgbClr val="1A1A1A"/>
                </a:solidFill>
                <a:latin typeface="Calibri"/>
              </a:defRPr>
            </a:pPr>
            <a:r>
              <a:t>—  Prepare injects</a:t>
            </a:r>
          </a:p>
          <a:p>
            <a:pPr>
              <a:spcAft>
                <a:spcPts val="500"/>
              </a:spcAft>
              <a:defRPr sz="1300">
                <a:solidFill>
                  <a:srgbClr val="1A1A1A"/>
                </a:solidFill>
                <a:latin typeface="Calibri"/>
              </a:defRPr>
            </a:pPr>
            <a:r>
              <a:t>—  Assign facilitators</a:t>
            </a:r>
          </a:p>
          <a:p>
            <a:pPr>
              <a:spcAft>
                <a:spcPts val="500"/>
              </a:spcAft>
              <a:defRPr sz="1300">
                <a:solidFill>
                  <a:srgbClr val="1A1A1A"/>
                </a:solidFill>
                <a:latin typeface="Calibri"/>
              </a:defRPr>
            </a:pPr>
            <a:r>
              <a:t>—  Schedule participants</a:t>
            </a:r>
          </a:p>
        </p:txBody>
      </p:sp>
      <p:sp>
        <p:nvSpPr>
          <p:cNvPr id="9" name="TextBox 8"/>
          <p:cNvSpPr txBox="1"/>
          <p:nvPr/>
        </p:nvSpPr>
        <p:spPr>
          <a:xfrm>
            <a:off x="548640" y="5486400"/>
            <a:ext cx="10972800" cy="320040"/>
          </a:xfrm>
          <a:prstGeom prst="rect">
            <a:avLst/>
          </a:prstGeom>
          <a:noFill/>
        </p:spPr>
        <p:txBody>
          <a:bodyPr wrap="square">
            <a:spAutoFit/>
          </a:bodyPr>
          <a:lstStyle/>
          <a:p>
            <a:pPr algn="l">
              <a:defRPr sz="1300" b="1">
                <a:solidFill>
                  <a:srgbClr val="666666"/>
                </a:solidFill>
                <a:latin typeface="Calibri"/>
              </a:defRPr>
            </a:pPr>
            <a:r>
              <a:t>Administrative</a:t>
            </a:r>
          </a:p>
        </p:txBody>
      </p:sp>
      <p:sp>
        <p:nvSpPr>
          <p:cNvPr id="10" name="TextBox 9"/>
          <p:cNvSpPr txBox="1"/>
          <p:nvPr/>
        </p:nvSpPr>
        <p:spPr>
          <a:xfrm>
            <a:off x="548640" y="5943600"/>
            <a:ext cx="10972800" cy="2743200"/>
          </a:xfrm>
          <a:prstGeom prst="rect">
            <a:avLst/>
          </a:prstGeom>
          <a:noFill/>
        </p:spPr>
        <p:txBody>
          <a:bodyPr wrap="square">
            <a:spAutoFit/>
          </a:bodyPr>
          <a:lstStyle/>
          <a:p>
            <a:pPr>
              <a:spcAft>
                <a:spcPts val="500"/>
              </a:spcAft>
              <a:defRPr sz="1300">
                <a:solidFill>
                  <a:srgbClr val="1A1A1A"/>
                </a:solidFill>
                <a:latin typeface="Calibri"/>
              </a:defRPr>
            </a:pPr>
            <a:r>
              <a:t>—  Venue</a:t>
            </a:r>
          </a:p>
          <a:p>
            <a:pPr>
              <a:spcAft>
                <a:spcPts val="500"/>
              </a:spcAft>
              <a:defRPr sz="1300">
                <a:solidFill>
                  <a:srgbClr val="1A1A1A"/>
                </a:solidFill>
                <a:latin typeface="Calibri"/>
              </a:defRPr>
            </a:pPr>
            <a:r>
              <a:t>—  Technology</a:t>
            </a:r>
          </a:p>
          <a:p>
            <a:pPr>
              <a:spcAft>
                <a:spcPts val="500"/>
              </a:spcAft>
              <a:defRPr sz="1300">
                <a:solidFill>
                  <a:srgbClr val="1A1A1A"/>
                </a:solidFill>
                <a:latin typeface="Calibri"/>
              </a:defRPr>
            </a:pPr>
            <a:r>
              <a:t>—  Documentation</a:t>
            </a:r>
          </a:p>
          <a:p>
            <a:pPr>
              <a:spcAft>
                <a:spcPts val="500"/>
              </a:spcAft>
              <a:defRPr sz="1300">
                <a:solidFill>
                  <a:srgbClr val="1A1A1A"/>
                </a:solidFill>
                <a:latin typeface="Calibri"/>
              </a:defRPr>
            </a:pPr>
            <a:r>
              <a:t>—  Catering (if applicable)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218</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Common TTX Templates Library</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Recommended Templates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 Charter</a:t>
            </a:r>
          </a:p>
          <a:p>
            <a:pPr>
              <a:spcAft>
                <a:spcPts val="500"/>
              </a:spcAft>
              <a:defRPr sz="1300">
                <a:solidFill>
                  <a:srgbClr val="1A1A1A"/>
                </a:solidFill>
                <a:latin typeface="Calibri"/>
              </a:defRPr>
            </a:pPr>
            <a:r>
              <a:t>—  Planning Timeline</a:t>
            </a:r>
          </a:p>
          <a:p>
            <a:pPr>
              <a:spcAft>
                <a:spcPts val="500"/>
              </a:spcAft>
              <a:defRPr sz="1300">
                <a:solidFill>
                  <a:srgbClr val="1A1A1A"/>
                </a:solidFill>
                <a:latin typeface="Calibri"/>
              </a:defRPr>
            </a:pPr>
            <a:r>
              <a:t>—  Scenario Outline</a:t>
            </a:r>
          </a:p>
          <a:p>
            <a:pPr>
              <a:spcAft>
                <a:spcPts val="500"/>
              </a:spcAft>
              <a:defRPr sz="1300">
                <a:solidFill>
                  <a:srgbClr val="1A1A1A"/>
                </a:solidFill>
                <a:latin typeface="Calibri"/>
              </a:defRPr>
            </a:pPr>
            <a:r>
              <a:t>—  Threat Intelligence Summary</a:t>
            </a:r>
          </a:p>
          <a:p>
            <a:pPr>
              <a:spcAft>
                <a:spcPts val="500"/>
              </a:spcAft>
              <a:defRPr sz="1300">
                <a:solidFill>
                  <a:srgbClr val="1A1A1A"/>
                </a:solidFill>
                <a:latin typeface="Calibri"/>
              </a:defRPr>
            </a:pPr>
            <a:r>
              <a:t>—  Participant Guide</a:t>
            </a:r>
          </a:p>
          <a:p>
            <a:pPr>
              <a:spcAft>
                <a:spcPts val="500"/>
              </a:spcAft>
              <a:defRPr sz="1300">
                <a:solidFill>
                  <a:srgbClr val="1A1A1A"/>
                </a:solidFill>
                <a:latin typeface="Calibri"/>
              </a:defRPr>
            </a:pPr>
            <a:r>
              <a:t>—  Facilitator Guide</a:t>
            </a:r>
          </a:p>
          <a:p>
            <a:pPr>
              <a:spcAft>
                <a:spcPts val="500"/>
              </a:spcAft>
              <a:defRPr sz="1300">
                <a:solidFill>
                  <a:srgbClr val="1A1A1A"/>
                </a:solidFill>
                <a:latin typeface="Calibri"/>
              </a:defRPr>
            </a:pPr>
            <a:r>
              <a:t>—  White Cell Handbook</a:t>
            </a:r>
          </a:p>
          <a:p>
            <a:pPr>
              <a:spcAft>
                <a:spcPts val="500"/>
              </a:spcAft>
              <a:defRPr sz="1300">
                <a:solidFill>
                  <a:srgbClr val="1A1A1A"/>
                </a:solidFill>
                <a:latin typeface="Calibri"/>
              </a:defRPr>
            </a:pPr>
            <a:r>
              <a:t>—  Observer Workbook</a:t>
            </a:r>
          </a:p>
          <a:p>
            <a:pPr>
              <a:spcAft>
                <a:spcPts val="500"/>
              </a:spcAft>
              <a:defRPr sz="1300">
                <a:solidFill>
                  <a:srgbClr val="1A1A1A"/>
                </a:solidFill>
                <a:latin typeface="Calibri"/>
              </a:defRPr>
            </a:pPr>
            <a:r>
              <a:t>—  Decision Log</a:t>
            </a:r>
          </a:p>
          <a:p>
            <a:pPr>
              <a:spcAft>
                <a:spcPts val="500"/>
              </a:spcAft>
              <a:defRPr sz="1300">
                <a:solidFill>
                  <a:srgbClr val="1A1A1A"/>
                </a:solidFill>
                <a:latin typeface="Calibri"/>
              </a:defRPr>
            </a:pPr>
            <a:r>
              <a:t>—  AAR Template</a:t>
            </a:r>
          </a:p>
          <a:p>
            <a:pPr>
              <a:spcAft>
                <a:spcPts val="500"/>
              </a:spcAft>
              <a:defRPr sz="1300">
                <a:solidFill>
                  <a:srgbClr val="1A1A1A"/>
                </a:solidFill>
                <a:latin typeface="Calibri"/>
              </a:defRPr>
            </a:pPr>
            <a:r>
              <a:t>—  Corrective Action Register</a:t>
            </a:r>
          </a:p>
        </p:txBody>
      </p:sp>
      <p:sp>
        <p:nvSpPr>
          <p:cNvPr id="7" name="TextBox 6"/>
          <p:cNvSpPr txBox="1"/>
          <p:nvPr/>
        </p:nvSpPr>
        <p:spPr>
          <a:xfrm>
            <a:off x="548640" y="4617720"/>
            <a:ext cx="10972800" cy="320040"/>
          </a:xfrm>
          <a:prstGeom prst="rect">
            <a:avLst/>
          </a:prstGeom>
          <a:noFill/>
        </p:spPr>
        <p:txBody>
          <a:bodyPr wrap="square">
            <a:spAutoFit/>
          </a:bodyPr>
          <a:lstStyle/>
          <a:p>
            <a:pPr algn="l">
              <a:defRPr sz="1300" b="1">
                <a:solidFill>
                  <a:srgbClr val="666666"/>
                </a:solidFill>
                <a:latin typeface="Calibri"/>
              </a:defRPr>
            </a:pPr>
            <a:r>
              <a:t>Benefits</a:t>
            </a:r>
          </a:p>
        </p:txBody>
      </p:sp>
      <p:sp>
        <p:nvSpPr>
          <p:cNvPr id="8" name="TextBox 7"/>
          <p:cNvSpPr txBox="1"/>
          <p:nvPr/>
        </p:nvSpPr>
        <p:spPr>
          <a:xfrm>
            <a:off x="548640" y="5074920"/>
            <a:ext cx="10972800" cy="2743200"/>
          </a:xfrm>
          <a:prstGeom prst="rect">
            <a:avLst/>
          </a:prstGeom>
          <a:noFill/>
        </p:spPr>
        <p:txBody>
          <a:bodyPr wrap="square">
            <a:spAutoFit/>
          </a:bodyPr>
          <a:lstStyle/>
          <a:p>
            <a:pPr>
              <a:spcAft>
                <a:spcPts val="500"/>
              </a:spcAft>
              <a:defRPr sz="1300">
                <a:solidFill>
                  <a:srgbClr val="1A1A1A"/>
                </a:solidFill>
                <a:latin typeface="Calibri"/>
              </a:defRPr>
            </a:pPr>
            <a:r>
              <a:t>—  Standardization</a:t>
            </a:r>
          </a:p>
          <a:p>
            <a:pPr>
              <a:spcAft>
                <a:spcPts val="500"/>
              </a:spcAft>
              <a:defRPr sz="1300">
                <a:solidFill>
                  <a:srgbClr val="1A1A1A"/>
                </a:solidFill>
                <a:latin typeface="Calibri"/>
              </a:defRPr>
            </a:pPr>
            <a:r>
              <a:t>—  Faster preparation</a:t>
            </a:r>
          </a:p>
          <a:p>
            <a:pPr>
              <a:spcAft>
                <a:spcPts val="500"/>
              </a:spcAft>
              <a:defRPr sz="1300">
                <a:solidFill>
                  <a:srgbClr val="1A1A1A"/>
                </a:solidFill>
                <a:latin typeface="Calibri"/>
              </a:defRPr>
            </a:pPr>
            <a:r>
              <a:t>—  Higher quality</a:t>
            </a:r>
          </a:p>
          <a:p>
            <a:pPr>
              <a:spcAft>
                <a:spcPts val="500"/>
              </a:spcAft>
              <a:defRPr sz="1300">
                <a:solidFill>
                  <a:srgbClr val="1A1A1A"/>
                </a:solidFill>
                <a:latin typeface="Calibri"/>
              </a:defRPr>
            </a:pPr>
            <a:r>
              <a:t>—  Consistent reporting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219</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Recommended Tools and Platforms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Planning Tools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Microsoft Project</a:t>
            </a:r>
          </a:p>
          <a:p>
            <a:pPr>
              <a:spcAft>
                <a:spcPts val="500"/>
              </a:spcAft>
              <a:defRPr sz="1300">
                <a:solidFill>
                  <a:srgbClr val="1A1A1A"/>
                </a:solidFill>
                <a:latin typeface="Calibri"/>
              </a:defRPr>
            </a:pPr>
            <a:r>
              <a:t>—  Trello</a:t>
            </a:r>
          </a:p>
          <a:p>
            <a:pPr>
              <a:spcAft>
                <a:spcPts val="500"/>
              </a:spcAft>
              <a:defRPr sz="1300">
                <a:solidFill>
                  <a:srgbClr val="1A1A1A"/>
                </a:solidFill>
                <a:latin typeface="Calibri"/>
              </a:defRPr>
            </a:pPr>
            <a:r>
              <a:t>—  Jira</a:t>
            </a:r>
          </a:p>
          <a:p>
            <a:pPr>
              <a:spcAft>
                <a:spcPts val="500"/>
              </a:spcAft>
              <a:defRPr sz="1300">
                <a:solidFill>
                  <a:srgbClr val="1A1A1A"/>
                </a:solidFill>
                <a:latin typeface="Calibri"/>
              </a:defRPr>
            </a:pPr>
            <a:r>
              <a:t>—  Microsoft Planner</a:t>
            </a:r>
          </a:p>
        </p:txBody>
      </p:sp>
      <p:sp>
        <p:nvSpPr>
          <p:cNvPr id="7" name="TextBox 6"/>
          <p:cNvSpPr txBox="1"/>
          <p:nvPr/>
        </p:nvSpPr>
        <p:spPr>
          <a:xfrm>
            <a:off x="548640" y="3611880"/>
            <a:ext cx="10972800" cy="320040"/>
          </a:xfrm>
          <a:prstGeom prst="rect">
            <a:avLst/>
          </a:prstGeom>
          <a:noFill/>
        </p:spPr>
        <p:txBody>
          <a:bodyPr wrap="square">
            <a:spAutoFit/>
          </a:bodyPr>
          <a:lstStyle/>
          <a:p>
            <a:pPr algn="l">
              <a:defRPr sz="1300" b="1">
                <a:solidFill>
                  <a:srgbClr val="666666"/>
                </a:solidFill>
                <a:latin typeface="Calibri"/>
              </a:defRPr>
            </a:pPr>
            <a:r>
              <a:t>Collaboration</a:t>
            </a:r>
          </a:p>
        </p:txBody>
      </p:sp>
      <p:sp>
        <p:nvSpPr>
          <p:cNvPr id="8" name="TextBox 7"/>
          <p:cNvSpPr txBox="1"/>
          <p:nvPr/>
        </p:nvSpPr>
        <p:spPr>
          <a:xfrm>
            <a:off x="548640" y="4069080"/>
            <a:ext cx="10972800" cy="2743200"/>
          </a:xfrm>
          <a:prstGeom prst="rect">
            <a:avLst/>
          </a:prstGeom>
          <a:noFill/>
        </p:spPr>
        <p:txBody>
          <a:bodyPr wrap="square">
            <a:spAutoFit/>
          </a:bodyPr>
          <a:lstStyle/>
          <a:p>
            <a:pPr>
              <a:spcAft>
                <a:spcPts val="500"/>
              </a:spcAft>
              <a:defRPr sz="1300">
                <a:solidFill>
                  <a:srgbClr val="1A1A1A"/>
                </a:solidFill>
                <a:latin typeface="Calibri"/>
              </a:defRPr>
            </a:pPr>
            <a:r>
              <a:t>—  Microsoft Teams</a:t>
            </a:r>
          </a:p>
          <a:p>
            <a:pPr>
              <a:spcAft>
                <a:spcPts val="500"/>
              </a:spcAft>
              <a:defRPr sz="1300">
                <a:solidFill>
                  <a:srgbClr val="1A1A1A"/>
                </a:solidFill>
                <a:latin typeface="Calibri"/>
              </a:defRPr>
            </a:pPr>
            <a:r>
              <a:t>—  Zoom</a:t>
            </a:r>
          </a:p>
          <a:p>
            <a:pPr>
              <a:spcAft>
                <a:spcPts val="500"/>
              </a:spcAft>
              <a:defRPr sz="1300">
                <a:solidFill>
                  <a:srgbClr val="1A1A1A"/>
                </a:solidFill>
                <a:latin typeface="Calibri"/>
              </a:defRPr>
            </a:pPr>
            <a:r>
              <a:t>—  Slack</a:t>
            </a:r>
          </a:p>
          <a:p>
            <a:pPr>
              <a:spcAft>
                <a:spcPts val="500"/>
              </a:spcAft>
              <a:defRPr sz="1300">
                <a:solidFill>
                  <a:srgbClr val="1A1A1A"/>
                </a:solidFill>
                <a:latin typeface="Calibri"/>
              </a:defRPr>
            </a:pPr>
            <a:r>
              <a:t>—  Webex</a:t>
            </a:r>
          </a:p>
        </p:txBody>
      </p:sp>
      <p:sp>
        <p:nvSpPr>
          <p:cNvPr id="9" name="TextBox 8"/>
          <p:cNvSpPr txBox="1"/>
          <p:nvPr/>
        </p:nvSpPr>
        <p:spPr>
          <a:xfrm>
            <a:off x="548640" y="5486400"/>
            <a:ext cx="10972800" cy="320040"/>
          </a:xfrm>
          <a:prstGeom prst="rect">
            <a:avLst/>
          </a:prstGeom>
          <a:noFill/>
        </p:spPr>
        <p:txBody>
          <a:bodyPr wrap="square">
            <a:spAutoFit/>
          </a:bodyPr>
          <a:lstStyle/>
          <a:p>
            <a:pPr algn="l">
              <a:defRPr sz="1300" b="1">
                <a:solidFill>
                  <a:srgbClr val="666666"/>
                </a:solidFill>
                <a:latin typeface="Calibri"/>
              </a:defRPr>
            </a:pPr>
            <a:r>
              <a:t>Documentation</a:t>
            </a:r>
          </a:p>
        </p:txBody>
      </p:sp>
      <p:sp>
        <p:nvSpPr>
          <p:cNvPr id="10" name="TextBox 9"/>
          <p:cNvSpPr txBox="1"/>
          <p:nvPr/>
        </p:nvSpPr>
        <p:spPr>
          <a:xfrm>
            <a:off x="548640" y="5943600"/>
            <a:ext cx="10972800" cy="2743200"/>
          </a:xfrm>
          <a:prstGeom prst="rect">
            <a:avLst/>
          </a:prstGeom>
          <a:noFill/>
        </p:spPr>
        <p:txBody>
          <a:bodyPr wrap="square">
            <a:spAutoFit/>
          </a:bodyPr>
          <a:lstStyle/>
          <a:p>
            <a:pPr>
              <a:spcAft>
                <a:spcPts val="500"/>
              </a:spcAft>
              <a:defRPr sz="1300">
                <a:solidFill>
                  <a:srgbClr val="1A1A1A"/>
                </a:solidFill>
                <a:latin typeface="Calibri"/>
              </a:defRPr>
            </a:pPr>
            <a:r>
              <a:t>—  Microsoft Word</a:t>
            </a:r>
          </a:p>
          <a:p>
            <a:pPr>
              <a:spcAft>
                <a:spcPts val="500"/>
              </a:spcAft>
              <a:defRPr sz="1300">
                <a:solidFill>
                  <a:srgbClr val="1A1A1A"/>
                </a:solidFill>
                <a:latin typeface="Calibri"/>
              </a:defRPr>
            </a:pPr>
            <a:r>
              <a:t>—  Excel</a:t>
            </a:r>
          </a:p>
          <a:p>
            <a:pPr>
              <a:spcAft>
                <a:spcPts val="500"/>
              </a:spcAft>
              <a:defRPr sz="1300">
                <a:solidFill>
                  <a:srgbClr val="1A1A1A"/>
                </a:solidFill>
                <a:latin typeface="Calibri"/>
              </a:defRPr>
            </a:pPr>
            <a:r>
              <a:t>—  SharePoint</a:t>
            </a:r>
          </a:p>
          <a:p>
            <a:pPr>
              <a:spcAft>
                <a:spcPts val="500"/>
              </a:spcAft>
              <a:defRPr sz="1300">
                <a:solidFill>
                  <a:srgbClr val="1A1A1A"/>
                </a:solidFill>
                <a:latin typeface="Calibri"/>
              </a:defRPr>
            </a:pPr>
            <a:r>
              <a:t>—  Confluence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220</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Measuring Long-Term Success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Success Indicators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Reduced response times</a:t>
            </a:r>
          </a:p>
          <a:p>
            <a:pPr>
              <a:spcAft>
                <a:spcPts val="500"/>
              </a:spcAft>
              <a:defRPr sz="1300">
                <a:solidFill>
                  <a:srgbClr val="1A1A1A"/>
                </a:solidFill>
                <a:latin typeface="Calibri"/>
              </a:defRPr>
            </a:pPr>
            <a:r>
              <a:t>—  Increased executive participation</a:t>
            </a:r>
          </a:p>
          <a:p>
            <a:pPr>
              <a:spcAft>
                <a:spcPts val="500"/>
              </a:spcAft>
              <a:defRPr sz="1300">
                <a:solidFill>
                  <a:srgbClr val="1A1A1A"/>
                </a:solidFill>
                <a:latin typeface="Calibri"/>
              </a:defRPr>
            </a:pPr>
            <a:r>
              <a:t>—  Higher remediation completion rates</a:t>
            </a:r>
          </a:p>
          <a:p>
            <a:pPr>
              <a:spcAft>
                <a:spcPts val="500"/>
              </a:spcAft>
              <a:defRPr sz="1300">
                <a:solidFill>
                  <a:srgbClr val="1A1A1A"/>
                </a:solidFill>
                <a:latin typeface="Calibri"/>
              </a:defRPr>
            </a:pPr>
            <a:r>
              <a:t>—  Improved maturity assessment scores</a:t>
            </a:r>
          </a:p>
          <a:p>
            <a:pPr>
              <a:spcAft>
                <a:spcPts val="500"/>
              </a:spcAft>
              <a:defRPr sz="1300">
                <a:solidFill>
                  <a:srgbClr val="1A1A1A"/>
                </a:solidFill>
                <a:latin typeface="Calibri"/>
              </a:defRPr>
            </a:pPr>
            <a:r>
              <a:t>—  Better audit outcomes</a:t>
            </a:r>
          </a:p>
          <a:p>
            <a:pPr>
              <a:spcAft>
                <a:spcPts val="500"/>
              </a:spcAft>
              <a:defRPr sz="1300">
                <a:solidFill>
                  <a:srgbClr val="1A1A1A"/>
                </a:solidFill>
                <a:latin typeface="Calibri"/>
              </a:defRPr>
            </a:pPr>
            <a:r>
              <a:t>—  Fewer repeat findings</a:t>
            </a:r>
          </a:p>
          <a:p>
            <a:pPr>
              <a:spcAft>
                <a:spcPts val="500"/>
              </a:spcAft>
              <a:defRPr sz="1300">
                <a:solidFill>
                  <a:srgbClr val="1A1A1A"/>
                </a:solidFill>
                <a:latin typeface="Calibri"/>
              </a:defRPr>
            </a:pPr>
            <a:r>
              <a:t>—  Increased stakeholder confidence</a:t>
            </a:r>
          </a:p>
        </p:txBody>
      </p:sp>
      <p:sp>
        <p:nvSpPr>
          <p:cNvPr id="7" name="TextBox 6"/>
          <p:cNvSpPr txBox="1"/>
          <p:nvPr/>
        </p:nvSpPr>
        <p:spPr>
          <a:xfrm>
            <a:off x="548640" y="4571999"/>
            <a:ext cx="10972800" cy="320040"/>
          </a:xfrm>
          <a:prstGeom prst="rect">
            <a:avLst/>
          </a:prstGeom>
          <a:noFill/>
        </p:spPr>
        <p:txBody>
          <a:bodyPr wrap="square">
            <a:spAutoFit/>
          </a:bodyPr>
          <a:lstStyle/>
          <a:p>
            <a:pPr algn="l">
              <a:defRPr sz="1300" b="1">
                <a:solidFill>
                  <a:srgbClr val="666666"/>
                </a:solidFill>
                <a:latin typeface="Calibri"/>
              </a:defRPr>
            </a:pPr>
            <a:r>
              <a:t>Continuous Metrics</a:t>
            </a:r>
          </a:p>
        </p:txBody>
      </p:sp>
      <p:sp>
        <p:nvSpPr>
          <p:cNvPr id="8" name="TextBox 7"/>
          <p:cNvSpPr txBox="1"/>
          <p:nvPr/>
        </p:nvSpPr>
        <p:spPr>
          <a:xfrm>
            <a:off x="548640" y="5029199"/>
            <a:ext cx="10972800" cy="2743200"/>
          </a:xfrm>
          <a:prstGeom prst="rect">
            <a:avLst/>
          </a:prstGeom>
          <a:noFill/>
        </p:spPr>
        <p:txBody>
          <a:bodyPr wrap="square">
            <a:spAutoFit/>
          </a:bodyPr>
          <a:lstStyle/>
          <a:p>
            <a:pPr>
              <a:spcAft>
                <a:spcPts val="500"/>
              </a:spcAft>
              <a:defRPr sz="1300">
                <a:solidFill>
                  <a:srgbClr val="1A1A1A"/>
                </a:solidFill>
                <a:latin typeface="Calibri"/>
              </a:defRPr>
            </a:pPr>
            <a:r>
              <a:t>—  Exercises completed</a:t>
            </a:r>
          </a:p>
          <a:p>
            <a:pPr>
              <a:spcAft>
                <a:spcPts val="500"/>
              </a:spcAft>
              <a:defRPr sz="1300">
                <a:solidFill>
                  <a:srgbClr val="1A1A1A"/>
                </a:solidFill>
                <a:latin typeface="Calibri"/>
              </a:defRPr>
            </a:pPr>
            <a:r>
              <a:t>—  Lessons implemented</a:t>
            </a:r>
          </a:p>
          <a:p>
            <a:pPr>
              <a:spcAft>
                <a:spcPts val="500"/>
              </a:spcAft>
              <a:defRPr sz="1300">
                <a:solidFill>
                  <a:srgbClr val="1A1A1A"/>
                </a:solidFill>
                <a:latin typeface="Calibri"/>
              </a:defRPr>
            </a:pPr>
            <a:r>
              <a:t>—  Policies updated</a:t>
            </a:r>
          </a:p>
          <a:p>
            <a:pPr>
              <a:spcAft>
                <a:spcPts val="500"/>
              </a:spcAft>
              <a:defRPr sz="1300">
                <a:solidFill>
                  <a:srgbClr val="1A1A1A"/>
                </a:solidFill>
                <a:latin typeface="Calibri"/>
              </a:defRPr>
            </a:pPr>
            <a:r>
              <a:t>—  Staff trained</a:t>
            </a:r>
          </a:p>
          <a:p>
            <a:pPr>
              <a:spcAft>
                <a:spcPts val="500"/>
              </a:spcAft>
              <a:defRPr sz="1300">
                <a:solidFill>
                  <a:srgbClr val="1A1A1A"/>
                </a:solidFill>
                <a:latin typeface="Calibri"/>
              </a:defRPr>
            </a:pPr>
            <a:r>
              <a:t>—  Scenarios refreshed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221</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Building Your Organizational Roadmap</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12-Month Action Plan</a:t>
            </a:r>
          </a:p>
        </p:txBody>
      </p:sp>
      <p:sp>
        <p:nvSpPr>
          <p:cNvPr id="6" name="TextBox 5"/>
          <p:cNvSpPr txBox="1"/>
          <p:nvPr/>
        </p:nvSpPr>
        <p:spPr>
          <a:xfrm>
            <a:off x="548640" y="2194560"/>
            <a:ext cx="10972800" cy="320040"/>
          </a:xfrm>
          <a:prstGeom prst="rect">
            <a:avLst/>
          </a:prstGeom>
          <a:noFill/>
        </p:spPr>
        <p:txBody>
          <a:bodyPr wrap="square">
            <a:spAutoFit/>
          </a:bodyPr>
          <a:lstStyle/>
          <a:p>
            <a:pPr algn="l">
              <a:defRPr sz="1300" b="1">
                <a:solidFill>
                  <a:srgbClr val="666666"/>
                </a:solidFill>
                <a:latin typeface="Calibri"/>
              </a:defRPr>
            </a:pPr>
            <a:r>
              <a:t>Quarter 1</a:t>
            </a:r>
          </a:p>
        </p:txBody>
      </p:sp>
      <p:sp>
        <p:nvSpPr>
          <p:cNvPr id="7" name="TextBox 6"/>
          <p:cNvSpPr txBox="1"/>
          <p:nvPr/>
        </p:nvSpPr>
        <p:spPr>
          <a:xfrm>
            <a:off x="548640" y="2651760"/>
            <a:ext cx="10972800" cy="2743200"/>
          </a:xfrm>
          <a:prstGeom prst="rect">
            <a:avLst/>
          </a:prstGeom>
          <a:noFill/>
        </p:spPr>
        <p:txBody>
          <a:bodyPr wrap="square">
            <a:spAutoFit/>
          </a:bodyPr>
          <a:lstStyle/>
          <a:p>
            <a:pPr>
              <a:spcAft>
                <a:spcPts val="500"/>
              </a:spcAft>
              <a:defRPr sz="1300">
                <a:solidFill>
                  <a:srgbClr val="1A1A1A"/>
                </a:solidFill>
                <a:latin typeface="Calibri"/>
              </a:defRPr>
            </a:pPr>
            <a:r>
              <a:t>—  Governance</a:t>
            </a:r>
          </a:p>
          <a:p>
            <a:pPr>
              <a:spcAft>
                <a:spcPts val="500"/>
              </a:spcAft>
              <a:defRPr sz="1300">
                <a:solidFill>
                  <a:srgbClr val="1A1A1A"/>
                </a:solidFill>
                <a:latin typeface="Calibri"/>
              </a:defRPr>
            </a:pPr>
            <a:r>
              <a:t>—  Planning</a:t>
            </a:r>
          </a:p>
          <a:p>
            <a:pPr>
              <a:spcAft>
                <a:spcPts val="500"/>
              </a:spcAft>
              <a:defRPr sz="1300">
                <a:solidFill>
                  <a:srgbClr val="1A1A1A"/>
                </a:solidFill>
                <a:latin typeface="Calibri"/>
              </a:defRPr>
            </a:pPr>
            <a:r>
              <a:t>—  Initial exercise</a:t>
            </a:r>
          </a:p>
        </p:txBody>
      </p:sp>
      <p:sp>
        <p:nvSpPr>
          <p:cNvPr id="8" name="TextBox 7"/>
          <p:cNvSpPr txBox="1"/>
          <p:nvPr/>
        </p:nvSpPr>
        <p:spPr>
          <a:xfrm>
            <a:off x="548640" y="3749039"/>
            <a:ext cx="10972800" cy="320040"/>
          </a:xfrm>
          <a:prstGeom prst="rect">
            <a:avLst/>
          </a:prstGeom>
          <a:noFill/>
        </p:spPr>
        <p:txBody>
          <a:bodyPr wrap="square">
            <a:spAutoFit/>
          </a:bodyPr>
          <a:lstStyle/>
          <a:p>
            <a:pPr algn="l">
              <a:defRPr sz="1300" b="1">
                <a:solidFill>
                  <a:srgbClr val="666666"/>
                </a:solidFill>
                <a:latin typeface="Calibri"/>
              </a:defRPr>
            </a:pPr>
            <a:r>
              <a:t>Quarter 2</a:t>
            </a:r>
          </a:p>
        </p:txBody>
      </p:sp>
      <p:sp>
        <p:nvSpPr>
          <p:cNvPr id="9" name="TextBox 8"/>
          <p:cNvSpPr txBox="1"/>
          <p:nvPr/>
        </p:nvSpPr>
        <p:spPr>
          <a:xfrm>
            <a:off x="548640" y="4206239"/>
            <a:ext cx="10972800" cy="2743200"/>
          </a:xfrm>
          <a:prstGeom prst="rect">
            <a:avLst/>
          </a:prstGeom>
          <a:noFill/>
        </p:spPr>
        <p:txBody>
          <a:bodyPr wrap="square">
            <a:spAutoFit/>
          </a:bodyPr>
          <a:lstStyle/>
          <a:p>
            <a:pPr>
              <a:spcAft>
                <a:spcPts val="500"/>
              </a:spcAft>
              <a:defRPr sz="1300">
                <a:solidFill>
                  <a:srgbClr val="1A1A1A"/>
                </a:solidFill>
                <a:latin typeface="Calibri"/>
              </a:defRPr>
            </a:pPr>
            <a:r>
              <a:t>—  Improve incident response</a:t>
            </a:r>
          </a:p>
          <a:p>
            <a:pPr>
              <a:spcAft>
                <a:spcPts val="500"/>
              </a:spcAft>
              <a:defRPr sz="1300">
                <a:solidFill>
                  <a:srgbClr val="1A1A1A"/>
                </a:solidFill>
                <a:latin typeface="Calibri"/>
              </a:defRPr>
            </a:pPr>
            <a:r>
              <a:t>—  Update playbooks</a:t>
            </a:r>
          </a:p>
        </p:txBody>
      </p:sp>
      <p:sp>
        <p:nvSpPr>
          <p:cNvPr id="10" name="TextBox 9"/>
          <p:cNvSpPr txBox="1"/>
          <p:nvPr/>
        </p:nvSpPr>
        <p:spPr>
          <a:xfrm>
            <a:off x="548640" y="4983479"/>
            <a:ext cx="10972800" cy="320040"/>
          </a:xfrm>
          <a:prstGeom prst="rect">
            <a:avLst/>
          </a:prstGeom>
          <a:noFill/>
        </p:spPr>
        <p:txBody>
          <a:bodyPr wrap="square">
            <a:spAutoFit/>
          </a:bodyPr>
          <a:lstStyle/>
          <a:p>
            <a:pPr algn="l">
              <a:defRPr sz="1300" b="1">
                <a:solidFill>
                  <a:srgbClr val="666666"/>
                </a:solidFill>
                <a:latin typeface="Calibri"/>
              </a:defRPr>
            </a:pPr>
            <a:r>
              <a:t>Quarter 3</a:t>
            </a:r>
          </a:p>
        </p:txBody>
      </p:sp>
      <p:sp>
        <p:nvSpPr>
          <p:cNvPr id="11" name="TextBox 10"/>
          <p:cNvSpPr txBox="1"/>
          <p:nvPr/>
        </p:nvSpPr>
        <p:spPr>
          <a:xfrm>
            <a:off x="548640" y="5440679"/>
            <a:ext cx="10972800" cy="2743200"/>
          </a:xfrm>
          <a:prstGeom prst="rect">
            <a:avLst/>
          </a:prstGeom>
          <a:noFill/>
        </p:spPr>
        <p:txBody>
          <a:bodyPr wrap="square">
            <a:spAutoFit/>
          </a:bodyPr>
          <a:lstStyle/>
          <a:p>
            <a:pPr>
              <a:spcAft>
                <a:spcPts val="500"/>
              </a:spcAft>
              <a:defRPr sz="1300">
                <a:solidFill>
                  <a:srgbClr val="1A1A1A"/>
                </a:solidFill>
                <a:latin typeface="Calibri"/>
              </a:defRPr>
            </a:pPr>
            <a:r>
              <a:t>—  Cross-functional exercise</a:t>
            </a:r>
          </a:p>
          <a:p>
            <a:pPr>
              <a:spcAft>
                <a:spcPts val="500"/>
              </a:spcAft>
              <a:defRPr sz="1300">
                <a:solidFill>
                  <a:srgbClr val="1A1A1A"/>
                </a:solidFill>
                <a:latin typeface="Calibri"/>
              </a:defRPr>
            </a:pPr>
            <a:r>
              <a:t>—  Executive participation</a:t>
            </a:r>
          </a:p>
        </p:txBody>
      </p:sp>
      <p:sp>
        <p:nvSpPr>
          <p:cNvPr id="12" name="TextBox 11"/>
          <p:cNvSpPr txBox="1"/>
          <p:nvPr/>
        </p:nvSpPr>
        <p:spPr>
          <a:xfrm>
            <a:off x="548640" y="6217919"/>
            <a:ext cx="10972800" cy="320040"/>
          </a:xfrm>
          <a:prstGeom prst="rect">
            <a:avLst/>
          </a:prstGeom>
          <a:noFill/>
        </p:spPr>
        <p:txBody>
          <a:bodyPr wrap="square">
            <a:spAutoFit/>
          </a:bodyPr>
          <a:lstStyle/>
          <a:p>
            <a:pPr algn="l">
              <a:defRPr sz="1300" b="1">
                <a:solidFill>
                  <a:srgbClr val="666666"/>
                </a:solidFill>
                <a:latin typeface="Calibri"/>
              </a:defRPr>
            </a:pPr>
            <a:r>
              <a:t>Quarter 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222</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Final Knowledge Review</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Reflection Questions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What are the critical success factors for a tabletop exercise?</a:t>
            </a:r>
          </a:p>
          <a:p>
            <a:pPr>
              <a:spcAft>
                <a:spcPts val="500"/>
              </a:spcAft>
              <a:defRPr sz="1300">
                <a:solidFill>
                  <a:srgbClr val="1A1A1A"/>
                </a:solidFill>
                <a:latin typeface="Calibri"/>
              </a:defRPr>
            </a:pPr>
            <a:r>
              <a:t>—  Why are objectives essential?</a:t>
            </a:r>
          </a:p>
          <a:p>
            <a:pPr>
              <a:spcAft>
                <a:spcPts val="500"/>
              </a:spcAft>
              <a:defRPr sz="1300">
                <a:solidFill>
                  <a:srgbClr val="1A1A1A"/>
                </a:solidFill>
                <a:latin typeface="Calibri"/>
              </a:defRPr>
            </a:pPr>
            <a:r>
              <a:t>—  How should injects be managed?</a:t>
            </a:r>
          </a:p>
          <a:p>
            <a:pPr>
              <a:spcAft>
                <a:spcPts val="500"/>
              </a:spcAft>
              <a:defRPr sz="1300">
                <a:solidFill>
                  <a:srgbClr val="1A1A1A"/>
                </a:solidFill>
                <a:latin typeface="Calibri"/>
              </a:defRPr>
            </a:pPr>
            <a:r>
              <a:t>—  What role does the White Cell perform?</a:t>
            </a:r>
          </a:p>
          <a:p>
            <a:pPr>
              <a:spcAft>
                <a:spcPts val="500"/>
              </a:spcAft>
              <a:defRPr sz="1300">
                <a:solidFill>
                  <a:srgbClr val="1A1A1A"/>
                </a:solidFill>
                <a:latin typeface="Calibri"/>
              </a:defRPr>
            </a:pPr>
            <a:r>
              <a:t>—  Why is psychological safety important?</a:t>
            </a:r>
          </a:p>
          <a:p>
            <a:pPr>
              <a:spcAft>
                <a:spcPts val="500"/>
              </a:spcAft>
              <a:defRPr sz="1300">
                <a:solidFill>
                  <a:srgbClr val="1A1A1A"/>
                </a:solidFill>
                <a:latin typeface="Calibri"/>
              </a:defRPr>
            </a:pPr>
            <a:r>
              <a:t>—  What information belongs in an AAR?</a:t>
            </a:r>
          </a:p>
          <a:p>
            <a:pPr>
              <a:spcAft>
                <a:spcPts val="500"/>
              </a:spcAft>
              <a:defRPr sz="1300">
                <a:solidFill>
                  <a:srgbClr val="1A1A1A"/>
                </a:solidFill>
                <a:latin typeface="Calibri"/>
              </a:defRPr>
            </a:pPr>
            <a:r>
              <a:t>—  How should corrective actions be tracked?</a:t>
            </a:r>
          </a:p>
          <a:p>
            <a:pPr>
              <a:spcAft>
                <a:spcPts val="500"/>
              </a:spcAft>
              <a:defRPr sz="1300">
                <a:solidFill>
                  <a:srgbClr val="1A1A1A"/>
                </a:solidFill>
                <a:latin typeface="Calibri"/>
              </a:defRPr>
            </a:pPr>
            <a:r>
              <a:t>—  How do exercises support cyber resilience?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223</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Course Summary</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Throughout This Course You Learned</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 Tabletop exercise fundamentals</a:t>
            </a:r>
          </a:p>
          <a:p>
            <a:pPr>
              <a:spcAft>
                <a:spcPts val="500"/>
              </a:spcAft>
              <a:defRPr sz="1300">
                <a:solidFill>
                  <a:srgbClr val="1A1A1A"/>
                </a:solidFill>
                <a:latin typeface="Calibri"/>
              </a:defRPr>
            </a:pPr>
            <a:r>
              <a:t>—  ✓ Planning methodology</a:t>
            </a:r>
          </a:p>
          <a:p>
            <a:pPr>
              <a:spcAft>
                <a:spcPts val="500"/>
              </a:spcAft>
              <a:defRPr sz="1300">
                <a:solidFill>
                  <a:srgbClr val="1A1A1A"/>
                </a:solidFill>
                <a:latin typeface="Calibri"/>
              </a:defRPr>
            </a:pPr>
            <a:r>
              <a:t>—  ✓ Threat modeling</a:t>
            </a:r>
          </a:p>
          <a:p>
            <a:pPr>
              <a:spcAft>
                <a:spcPts val="500"/>
              </a:spcAft>
              <a:defRPr sz="1300">
                <a:solidFill>
                  <a:srgbClr val="1A1A1A"/>
                </a:solidFill>
                <a:latin typeface="Calibri"/>
              </a:defRPr>
            </a:pPr>
            <a:r>
              <a:t>—  ✓ Scenario development</a:t>
            </a:r>
          </a:p>
          <a:p>
            <a:pPr>
              <a:spcAft>
                <a:spcPts val="500"/>
              </a:spcAft>
              <a:defRPr sz="1300">
                <a:solidFill>
                  <a:srgbClr val="1A1A1A"/>
                </a:solidFill>
                <a:latin typeface="Calibri"/>
              </a:defRPr>
            </a:pPr>
            <a:r>
              <a:t>—  ✓ MITRE ATT&amp;CK mapping</a:t>
            </a:r>
          </a:p>
          <a:p>
            <a:pPr>
              <a:spcAft>
                <a:spcPts val="500"/>
              </a:spcAft>
              <a:defRPr sz="1300">
                <a:solidFill>
                  <a:srgbClr val="1A1A1A"/>
                </a:solidFill>
                <a:latin typeface="Calibri"/>
              </a:defRPr>
            </a:pPr>
            <a:r>
              <a:t>—  ✓ Exercise facilitation</a:t>
            </a:r>
          </a:p>
          <a:p>
            <a:pPr>
              <a:spcAft>
                <a:spcPts val="500"/>
              </a:spcAft>
              <a:defRPr sz="1300">
                <a:solidFill>
                  <a:srgbClr val="1A1A1A"/>
                </a:solidFill>
                <a:latin typeface="Calibri"/>
              </a:defRPr>
            </a:pPr>
            <a:r>
              <a:t>—  ✓ Inject design</a:t>
            </a:r>
          </a:p>
          <a:p>
            <a:pPr>
              <a:spcAft>
                <a:spcPts val="500"/>
              </a:spcAft>
              <a:defRPr sz="1300">
                <a:solidFill>
                  <a:srgbClr val="1A1A1A"/>
                </a:solidFill>
                <a:latin typeface="Calibri"/>
              </a:defRPr>
            </a:pPr>
            <a:r>
              <a:t>—  ✓ Evaluation methods</a:t>
            </a:r>
          </a:p>
          <a:p>
            <a:pPr>
              <a:spcAft>
                <a:spcPts val="500"/>
              </a:spcAft>
              <a:defRPr sz="1300">
                <a:solidFill>
                  <a:srgbClr val="1A1A1A"/>
                </a:solidFill>
                <a:latin typeface="Calibri"/>
              </a:defRPr>
            </a:pPr>
            <a:r>
              <a:t>—  ✓ Hot Wash techniques</a:t>
            </a:r>
          </a:p>
          <a:p>
            <a:pPr>
              <a:spcAft>
                <a:spcPts val="500"/>
              </a:spcAft>
              <a:defRPr sz="1300">
                <a:solidFill>
                  <a:srgbClr val="1A1A1A"/>
                </a:solidFill>
                <a:latin typeface="Calibri"/>
              </a:defRPr>
            </a:pPr>
            <a:r>
              <a:t>—  ✓ After Action Reports</a:t>
            </a:r>
          </a:p>
          <a:p>
            <a:pPr>
              <a:spcAft>
                <a:spcPts val="500"/>
              </a:spcAft>
              <a:defRPr sz="1300">
                <a:solidFill>
                  <a:srgbClr val="1A1A1A"/>
                </a:solidFill>
                <a:latin typeface="Calibri"/>
              </a:defRPr>
            </a:pPr>
            <a:r>
              <a:t>—  ✓ Continuous improvement</a:t>
            </a:r>
          </a:p>
          <a:p>
            <a:pPr>
              <a:spcAft>
                <a:spcPts val="500"/>
              </a:spcAft>
              <a:defRPr sz="1300">
                <a:solidFill>
                  <a:srgbClr val="1A1A1A"/>
                </a:solidFill>
                <a:latin typeface="Calibri"/>
              </a:defRPr>
            </a:pPr>
            <a:r>
              <a:t>—  ✓ Governance and program maturity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224</a:t>
            </a:r>
          </a:p>
        </p:txBody>
      </p:sp>
      <p:sp>
        <p:nvSpPr>
          <p:cNvPr id="3" name="TextBox 2"/>
          <p:cNvSpPr txBox="1"/>
          <p:nvPr/>
        </p:nvSpPr>
        <p:spPr>
          <a:xfrm>
            <a:off x="548640" y="822960"/>
            <a:ext cx="10972800" cy="731520"/>
          </a:xfrm>
          <a:prstGeom prst="rect">
            <a:avLst/>
          </a:prstGeom>
          <a:noFill/>
        </p:spPr>
        <p:txBody>
          <a:bodyPr wrap="square">
            <a:spAutoFit/>
          </a:bodyPr>
          <a:lstStyle/>
          <a:p>
            <a:pPr algn="l">
              <a:defRPr sz="2800" b="1">
                <a:solidFill>
                  <a:srgbClr val="1A1A1A"/>
                </a:solidFill>
                <a:latin typeface="Calibri"/>
              </a:defRPr>
            </a:pPr>
            <a:r>
              <a:t>Next Steps for Participants</a:t>
            </a:r>
          </a:p>
        </p:txBody>
      </p:sp>
      <p:sp>
        <p:nvSpPr>
          <p:cNvPr id="4" name="Rectangle 3"/>
          <p:cNvSpPr/>
          <p:nvPr/>
        </p:nvSpPr>
        <p:spPr>
          <a:xfrm>
            <a:off x="548640" y="15087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0" cy="320040"/>
          </a:xfrm>
          <a:prstGeom prst="rect">
            <a:avLst/>
          </a:prstGeom>
          <a:noFill/>
        </p:spPr>
        <p:txBody>
          <a:bodyPr wrap="square">
            <a:spAutoFit/>
          </a:bodyPr>
          <a:lstStyle/>
          <a:p>
            <a:pPr algn="l">
              <a:defRPr sz="1300" b="1">
                <a:solidFill>
                  <a:srgbClr val="666666"/>
                </a:solidFill>
                <a:latin typeface="Calibri"/>
              </a:defRPr>
            </a:pPr>
            <a:r>
              <a:t>Within 30 Days</a:t>
            </a:r>
          </a:p>
        </p:txBody>
      </p:sp>
      <p:sp>
        <p:nvSpPr>
          <p:cNvPr id="6" name="TextBox 5"/>
          <p:cNvSpPr txBox="1"/>
          <p:nvPr/>
        </p:nvSpPr>
        <p:spPr>
          <a:xfrm>
            <a:off x="548640" y="2194560"/>
            <a:ext cx="10972800" cy="2743200"/>
          </a:xfrm>
          <a:prstGeom prst="rect">
            <a:avLst/>
          </a:prstGeom>
          <a:noFill/>
        </p:spPr>
        <p:txBody>
          <a:bodyPr wrap="square">
            <a:spAutoFit/>
          </a:bodyPr>
          <a:lstStyle/>
          <a:p>
            <a:pPr>
              <a:spcAft>
                <a:spcPts val="500"/>
              </a:spcAft>
              <a:defRPr sz="1300">
                <a:solidFill>
                  <a:srgbClr val="1A1A1A"/>
                </a:solidFill>
                <a:latin typeface="Calibri"/>
              </a:defRPr>
            </a:pPr>
            <a:r>
              <a:t>—  Review existing incident response plans</a:t>
            </a:r>
          </a:p>
          <a:p>
            <a:pPr>
              <a:spcAft>
                <a:spcPts val="500"/>
              </a:spcAft>
              <a:defRPr sz="1300">
                <a:solidFill>
                  <a:srgbClr val="1A1A1A"/>
                </a:solidFill>
                <a:latin typeface="Calibri"/>
              </a:defRPr>
            </a:pPr>
            <a:r>
              <a:t>—  Identify exercise stakeholders</a:t>
            </a:r>
          </a:p>
          <a:p>
            <a:pPr>
              <a:spcAft>
                <a:spcPts val="500"/>
              </a:spcAft>
              <a:defRPr sz="1300">
                <a:solidFill>
                  <a:srgbClr val="1A1A1A"/>
                </a:solidFill>
                <a:latin typeface="Calibri"/>
              </a:defRPr>
            </a:pPr>
            <a:r>
              <a:t>—  Schedule your first tabletop exercise</a:t>
            </a:r>
          </a:p>
        </p:txBody>
      </p:sp>
      <p:sp>
        <p:nvSpPr>
          <p:cNvPr id="7" name="TextBox 6"/>
          <p:cNvSpPr txBox="1"/>
          <p:nvPr/>
        </p:nvSpPr>
        <p:spPr>
          <a:xfrm>
            <a:off x="548640" y="3291839"/>
            <a:ext cx="10972800" cy="320040"/>
          </a:xfrm>
          <a:prstGeom prst="rect">
            <a:avLst/>
          </a:prstGeom>
          <a:noFill/>
        </p:spPr>
        <p:txBody>
          <a:bodyPr wrap="square">
            <a:spAutoFit/>
          </a:bodyPr>
          <a:lstStyle/>
          <a:p>
            <a:pPr algn="l">
              <a:defRPr sz="1300" b="1">
                <a:solidFill>
                  <a:srgbClr val="666666"/>
                </a:solidFill>
                <a:latin typeface="Calibri"/>
              </a:defRPr>
            </a:pPr>
            <a:r>
              <a:t>Within 90 Days</a:t>
            </a:r>
          </a:p>
        </p:txBody>
      </p:sp>
      <p:sp>
        <p:nvSpPr>
          <p:cNvPr id="8" name="TextBox 7"/>
          <p:cNvSpPr txBox="1"/>
          <p:nvPr/>
        </p:nvSpPr>
        <p:spPr>
          <a:xfrm>
            <a:off x="548640" y="3749039"/>
            <a:ext cx="10972800" cy="2743200"/>
          </a:xfrm>
          <a:prstGeom prst="rect">
            <a:avLst/>
          </a:prstGeom>
          <a:noFill/>
        </p:spPr>
        <p:txBody>
          <a:bodyPr wrap="square">
            <a:spAutoFit/>
          </a:bodyPr>
          <a:lstStyle/>
          <a:p>
            <a:pPr>
              <a:spcAft>
                <a:spcPts val="500"/>
              </a:spcAft>
              <a:defRPr sz="1300">
                <a:solidFill>
                  <a:srgbClr val="1A1A1A"/>
                </a:solidFill>
                <a:latin typeface="Calibri"/>
              </a:defRPr>
            </a:pPr>
            <a:r>
              <a:t>—  Conduct a pilot exercise</a:t>
            </a:r>
          </a:p>
          <a:p>
            <a:pPr>
              <a:spcAft>
                <a:spcPts val="500"/>
              </a:spcAft>
              <a:defRPr sz="1300">
                <a:solidFill>
                  <a:srgbClr val="1A1A1A"/>
                </a:solidFill>
                <a:latin typeface="Calibri"/>
              </a:defRPr>
            </a:pPr>
            <a:r>
              <a:t>—  Complete an After Action Report</a:t>
            </a:r>
          </a:p>
          <a:p>
            <a:pPr>
              <a:spcAft>
                <a:spcPts val="500"/>
              </a:spcAft>
              <a:defRPr sz="1300">
                <a:solidFill>
                  <a:srgbClr val="1A1A1A"/>
                </a:solidFill>
                <a:latin typeface="Calibri"/>
              </a:defRPr>
            </a:pPr>
            <a:r>
              <a:t>—  Begin remediation activities</a:t>
            </a:r>
          </a:p>
        </p:txBody>
      </p:sp>
      <p:sp>
        <p:nvSpPr>
          <p:cNvPr id="9" name="TextBox 8"/>
          <p:cNvSpPr txBox="1"/>
          <p:nvPr/>
        </p:nvSpPr>
        <p:spPr>
          <a:xfrm>
            <a:off x="548640" y="4846318"/>
            <a:ext cx="10972800" cy="320040"/>
          </a:xfrm>
          <a:prstGeom prst="rect">
            <a:avLst/>
          </a:prstGeom>
          <a:noFill/>
        </p:spPr>
        <p:txBody>
          <a:bodyPr wrap="square">
            <a:spAutoFit/>
          </a:bodyPr>
          <a:lstStyle/>
          <a:p>
            <a:pPr algn="l">
              <a:defRPr sz="1300" b="1">
                <a:solidFill>
                  <a:srgbClr val="666666"/>
                </a:solidFill>
                <a:latin typeface="Calibri"/>
              </a:defRPr>
            </a:pPr>
            <a:r>
              <a:t>Within One Year</a:t>
            </a:r>
          </a:p>
        </p:txBody>
      </p:sp>
      <p:sp>
        <p:nvSpPr>
          <p:cNvPr id="10" name="TextBox 9"/>
          <p:cNvSpPr txBox="1"/>
          <p:nvPr/>
        </p:nvSpPr>
        <p:spPr>
          <a:xfrm>
            <a:off x="548640" y="5303518"/>
            <a:ext cx="10972800" cy="2743200"/>
          </a:xfrm>
          <a:prstGeom prst="rect">
            <a:avLst/>
          </a:prstGeom>
          <a:noFill/>
        </p:spPr>
        <p:txBody>
          <a:bodyPr wrap="square">
            <a:spAutoFit/>
          </a:bodyPr>
          <a:lstStyle/>
          <a:p>
            <a:pPr>
              <a:spcAft>
                <a:spcPts val="500"/>
              </a:spcAft>
              <a:defRPr sz="1300">
                <a:solidFill>
                  <a:srgbClr val="1A1A1A"/>
                </a:solidFill>
                <a:latin typeface="Calibri"/>
              </a:defRPr>
            </a:pPr>
            <a:r>
              <a:t>—  Establish an annual exercise program</a:t>
            </a:r>
          </a:p>
          <a:p>
            <a:pPr>
              <a:spcAft>
                <a:spcPts val="500"/>
              </a:spcAft>
              <a:defRPr sz="1300">
                <a:solidFill>
                  <a:srgbClr val="1A1A1A"/>
                </a:solidFill>
                <a:latin typeface="Calibri"/>
              </a:defRPr>
            </a:pPr>
            <a:r>
              <a:t>—  Develop an inject library</a:t>
            </a:r>
          </a:p>
          <a:p>
            <a:pPr>
              <a:spcAft>
                <a:spcPts val="500"/>
              </a:spcAft>
              <a:defRPr sz="1300">
                <a:solidFill>
                  <a:srgbClr val="1A1A1A"/>
                </a:solidFill>
                <a:latin typeface="Calibri"/>
              </a:defRPr>
            </a:pPr>
            <a:r>
              <a:t>—  Measure capability improvements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828800" cy="365760"/>
          </a:xfrm>
          <a:prstGeom prst="rect">
            <a:avLst/>
          </a:prstGeom>
          <a:noFill/>
        </p:spPr>
        <p:txBody>
          <a:bodyPr wrap="square">
            <a:spAutoFit/>
          </a:bodyPr>
          <a:lstStyle/>
          <a:p>
            <a:pPr algn="l">
              <a:defRPr sz="1100" b="1">
                <a:solidFill>
                  <a:srgbClr val="2563EB"/>
                </a:solidFill>
                <a:latin typeface="Calibri"/>
              </a:defRPr>
            </a:pPr>
            <a:r>
              <a:t>SLIDE 225</a:t>
            </a:r>
          </a:p>
        </p:txBody>
      </p:sp>
      <p:sp>
        <p:nvSpPr>
          <p:cNvPr id="3" name="TextBox 2"/>
          <p:cNvSpPr txBox="1"/>
          <p:nvPr/>
        </p:nvSpPr>
        <p:spPr>
          <a:xfrm>
            <a:off x="914400" y="2011680"/>
            <a:ext cx="10362895" cy="1097280"/>
          </a:xfrm>
          <a:prstGeom prst="rect">
            <a:avLst/>
          </a:prstGeom>
          <a:noFill/>
        </p:spPr>
        <p:txBody>
          <a:bodyPr wrap="square">
            <a:spAutoFit/>
          </a:bodyPr>
          <a:lstStyle/>
          <a:p>
            <a:pPr algn="ctr">
              <a:defRPr sz="3600" b="1">
                <a:solidFill>
                  <a:srgbClr val="1A1A1A"/>
                </a:solidFill>
                <a:latin typeface="Calibri"/>
              </a:defRPr>
            </a:pPr>
            <a:r>
              <a:t>Thank You &amp; Course Completion</a:t>
            </a:r>
          </a:p>
        </p:txBody>
      </p:sp>
      <p:sp>
        <p:nvSpPr>
          <p:cNvPr id="4" name="TextBox 3"/>
          <p:cNvSpPr txBox="1"/>
          <p:nvPr/>
        </p:nvSpPr>
        <p:spPr>
          <a:xfrm>
            <a:off x="914400" y="3017520"/>
            <a:ext cx="10362895" cy="457200"/>
          </a:xfrm>
          <a:prstGeom prst="rect">
            <a:avLst/>
          </a:prstGeom>
          <a:noFill/>
        </p:spPr>
        <p:txBody>
          <a:bodyPr wrap="square">
            <a:spAutoFit/>
          </a:bodyPr>
          <a:lstStyle/>
          <a:p>
            <a:pPr algn="ctr">
              <a:defRPr sz="1600" b="0">
                <a:solidFill>
                  <a:srgbClr val="666666"/>
                </a:solidFill>
                <a:latin typeface="Calibri"/>
              </a:defRPr>
            </a:pPr>
            <a:r>
              <a:t>Cybersecurity Tabletop Exercise (TTX) Masterclass</a:t>
            </a:r>
          </a:p>
        </p:txBody>
      </p:sp>
      <p:sp>
        <p:nvSpPr>
          <p:cNvPr id="5" name="Rectangle 4"/>
          <p:cNvSpPr/>
          <p:nvPr/>
        </p:nvSpPr>
        <p:spPr>
          <a:xfrm>
            <a:off x="5821984" y="3566160"/>
            <a:ext cx="54864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931920"/>
            <a:ext cx="7619695" cy="2286000"/>
          </a:xfrm>
          <a:prstGeom prst="rect">
            <a:avLst/>
          </a:prstGeom>
          <a:noFill/>
        </p:spPr>
        <p:txBody>
          <a:bodyPr wrap="square">
            <a:spAutoFit/>
          </a:bodyPr>
          <a:lstStyle/>
          <a:p>
            <a:pPr algn="ctr">
              <a:spcAft>
                <a:spcPts val="800"/>
              </a:spcAft>
              <a:defRPr sz="1400">
                <a:solidFill>
                  <a:srgbClr val="1A1A1A"/>
                </a:solidFill>
                <a:latin typeface="Calibri"/>
              </a:defRPr>
            </a:pPr>
            <a:r>
              <a:t>Preparedness requires practice.</a:t>
            </a:r>
          </a:p>
          <a:p>
            <a:pPr algn="ctr">
              <a:spcAft>
                <a:spcPts val="800"/>
              </a:spcAft>
              <a:defRPr sz="1400">
                <a:solidFill>
                  <a:srgbClr val="1A1A1A"/>
                </a:solidFill>
                <a:latin typeface="Calibri"/>
              </a:defRPr>
            </a:pPr>
            <a:r>
              <a:t>Collaboration strengthens resilience.</a:t>
            </a:r>
          </a:p>
          <a:p>
            <a:pPr algn="ctr">
              <a:spcAft>
                <a:spcPts val="800"/>
              </a:spcAft>
              <a:defRPr sz="1400">
                <a:solidFill>
                  <a:srgbClr val="1A1A1A"/>
                </a:solidFill>
                <a:latin typeface="Calibri"/>
              </a:defRPr>
            </a:pPr>
            <a:r>
              <a:t>Continuous improvement is essential.</a:t>
            </a:r>
          </a:p>
          <a:p>
            <a:pPr algn="ctr">
              <a:spcAft>
                <a:spcPts val="800"/>
              </a:spcAft>
              <a:defRPr sz="1400">
                <a:solidFill>
                  <a:srgbClr val="1A1A1A"/>
                </a:solidFill>
                <a:latin typeface="Calibri"/>
              </a:defRPr>
            </a:pPr>
            <a:r>
              <a:t>Executive engagement drives success.</a:t>
            </a:r>
          </a:p>
          <a:p>
            <a:pPr algn="ctr">
              <a:spcAft>
                <a:spcPts val="800"/>
              </a:spcAft>
              <a:defRPr sz="1400">
                <a:solidFill>
                  <a:srgbClr val="1A1A1A"/>
                </a:solidFill>
                <a:latin typeface="Calibri"/>
              </a:defRPr>
            </a:pPr>
            <a:r>
              <a:t>Every exercise is an opportunity to learn.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