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1A"/>
                </a:solidFill>
                <a:latin typeface="Calibri"/>
              </a:defRPr>
            </a:pPr>
            <a:r>
              <a:t>Conducting Effective Cybersecurity Tabletop Exercises (TTX)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Cybersecurity Tabletop Exercise Masterclass — Part 1: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21984" y="35661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931920"/>
            <a:ext cx="7619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Understand the purpose of cybersecurity tabletop exercises</a:t>
            </a:r>
          </a:p>
          <a:p>
            <a:pPr algn="ctr"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Learn the complete TTX lifecycle</a:t>
            </a:r>
          </a:p>
          <a:p>
            <a:pPr algn="ctr"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Design realistic cyber attack scenarios</a:t>
            </a:r>
          </a:p>
          <a:p>
            <a:pPr algn="ctr"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Facilitate engaging tabletop discussions</a:t>
            </a:r>
          </a:p>
          <a:p>
            <a:pPr algn="ctr"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Evaluate participant performance</a:t>
            </a:r>
          </a:p>
          <a:p>
            <a:pPr algn="ctr"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Produce actionable After Action Reports (AAR)</a:t>
            </a:r>
          </a:p>
          <a:p>
            <a:pPr algn="ctr"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Improve organizational cyber resilience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Why Tabletop Exercises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Cyber attacks are inevitable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Incident response plans are rarely perfect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Practice improves performance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Exercises reduce business disruption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Exercises identify hidden risks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Exercises improve coordination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Exercises support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Understand organizational cyber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Appreciate incident preparedness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Identify response weaknesses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Build executive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Course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Six Course 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Foundations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Scenario Development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Exercise Facilitation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After Action Reporting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Continuous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Learning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Build realistic scenarios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Facilitate discussions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Manage injects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Evaluate responses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Produce improvement plans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What Is a Tabletop Exercise?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 facilitated discussion-based exercise where participants walk through their responses to a simulated cybersecurity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Characteristics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No production systems affected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Discussion focused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based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Facilitator led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Scenario driven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Collaborative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Educational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1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Not Intended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1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Test hacking skills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Conduct penetration testing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Replace technical incident response drills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Exercise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Primary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plans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procedures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communications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 teamwork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 leadership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Identify capability gaps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Increase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Secondary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 confidence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Increase awareness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Encourage collaboration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Support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The Cyber Threat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Current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Ransomware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Supply Chain Attacks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Email Compromise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Insider Threats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Credential Theft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Misconfiguration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Zero-Day Exploits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AI-Enabled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Increasing sophistication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Faster attacks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Double extortion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Multi-stage campaigns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Why Organizations Fail During Incidents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Common Causes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Poor communication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Undefined roles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Slow decision making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Incomplete asset inventory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Missing contact lists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Lack of executive involvement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Conflicting priorities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No practiced procedures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Which of these weaknesses is most common in your organization?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Benefits of Cyber Tabletop Exercises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Operational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Faster response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Better coordination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Reduced confusion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Improved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Strategic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confidence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compliance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Stronger governance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Better risk management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Enhanced resilience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Tabletop Exercise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Threat Intelligence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Scope Definition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Scenario Design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Exercise Preparation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Facilitation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7. Evaluation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8. After Action Report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9. Improvement Plan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10. Future Exercise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Foundations Module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Cyber incidents are inevitable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Preparation is essential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Tabletop exercises validate readiness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Success depends on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Exercises should be realistic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Continuous improvement is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Reflection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Why are tabletop exercises important?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makes an effective exercise?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outcomes should organizations expect?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can lessons learned improve resilience?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Understanding Cyber Incident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Incident response is a coordinated approach to managing cyber incidents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The goal is to minimize business impact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Effective response relies on people, processes, and technology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Preparation before an incident is critical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Tabletop exercises validate incident response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Define cyber incident response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Understand why structured response matters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Recognize the relationship between incident response and TTX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The NIST Incident Response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NIST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Preparation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Detection and Analysis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Containment, Eradication, and Recovery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Post-Incident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Preparation is continuous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Detection requires visibility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Containment balances speed and business impact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Recovery restores operations safely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Lessons learned drive continuous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Preparation: Building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Establish governance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Develop response plans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Train personnel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Build communication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Preparation 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Incident response policy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Response playbooks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Contact lists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Asset inventory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Critical system identification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Backup validation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Cyber insurance review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Third-party agreements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Detection and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Identify suspicious activity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Confirm incidents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Assess severity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Prioritize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Detection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Security Information and Event Management (SIEM)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Endpoint Detection and Response (EDR)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Intrusion Detection Systems (IDS)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User reports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intelligence feeds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security tools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Managed Security Service Providers (MSSPs)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Containment, Eradication, and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Limit damage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Remove threats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Restore operations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Prevent recurrence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Containment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Isolate affected systems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Disable compromised accounts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Block malicious IP addresses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Segregate network segments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Recovery Activities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Restore from backups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Verify system integrity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Monitor for reinfection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Resume business operations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Post-Incident Activities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Capture lessons learned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 processes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Update documentation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Strengthen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After Action Report (AAR)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Root Cause Analysis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Improvement Plan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Updated playbooks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Training recommendations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Incident Command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Core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Incident Commander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Technical Lead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Communications Lead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Legal Counsel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Human Resources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Sponsor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Unit Representatives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Public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Clear chain of command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Defined responsibilities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Timely decision-making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Unified communications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Roles and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Executive 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Strategic decisions · Resource allocation · Stakeholder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Security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Investigation · Containment · Technical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IT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System restoration · Infrastructure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Legal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Regulatory compliance · Evidence preservation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Communications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Internal messaging · External statements · Media engagement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Integrating Business Continuity and Disaster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Incident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Addresses the immediate cyber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Business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Maintains essential business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Disaster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Restores IT systems and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Integration 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Reduced downtime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Coordinated recovery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Improved resilience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Consistent decision-making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Module Review: Incident Response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Incident response is a structured, repeatable process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Preparation is the most critical phase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Detection relies on visibility and analysis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Containment requires balancing security and business needs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Recovery must be carefully managed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Post-incident activities drive continuous improvement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Clear roles and governance are essential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continuity and disaster recovery must be integrated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phase is most challenging for your organization?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Are roles and responsibilities clearly defined?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well are IR and business continuity integrated?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improvements could a TTX identify?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What is a Cybersecurity Tabletop Exercise?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 discussion-based cybersecurity simulation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Tests organizational readiness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Validates policies and procedures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Focuses on decision-making rather than technical execution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Conducted in a controlled, low-risk environment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Encourages collaboration across business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Define a cybersecurity tabletop exercise (TTX)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Understand its purpose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Differentiate TTX from other cybersecurity assessments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Why Conduct Tabletop Exercises?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incident response plans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 executive preparedness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Strengthen cross-functional collaboration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Test communication processes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Identify policy gaps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Increase organizational resilience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Meet regulatory expectations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Support cyber insurance requirements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Characteristics of an Effective TTX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Essential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Scenario-driven · Facilitator-led · Objective-based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Realistic · Interactive · Collaborative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Time-bound · Documented · Evaluated · Action-oriented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Success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participation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Clear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Relevant scenarios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Skilled facilitation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Psychological safety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Tabletop Exercises vs. Other Security Activities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Primary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Typical Output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Tabletop Exercise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Decision-making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Lessons learned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Penetration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Technical vulnerabilities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Technical findings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Red Team Exercise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Adversary emulation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Detection &amp; response assessment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Purple Team Exercise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Collaborative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Enhanced defenses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Vulnerability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Weakness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Remediation plan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Business Continuity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Operational resilience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Continuity improvements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Types of Tabletop Exercises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Common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tabletop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Technical tabletop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Operational tabletop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Crisis management tabletop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response tabletop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Supply chain tabletop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continuity tabletop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Hybrid tabletop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Selection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Organizational maturity · Exercise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 experience · Available time · Desired outcomes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Exercise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Strategic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governance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Assess leadership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 resilience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Enhance coordination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Operational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Test playbooks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escalation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Evaluate communications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Verify decision-making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Assess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SMART Objectives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Core Components of a TTX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Planning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Scope · Objectives · Scenario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Participants · Facilitators · Evaluators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Timeline ·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Execution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Opening brief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Scenario presentation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Inject delivery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Guided discussion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tracking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Debrief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The Tabletop Exercise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Threat Intelligence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Scenario Development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Participant Preparation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Exercise Execution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Evaluation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7. After Action Report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8. Improvement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9.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Continuous Improvement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Plan → Exercise → Evaluate → Improve → Repeat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Key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Participants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Leadership — Strategic oversight, resource allocation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Information Security — Incident coordination, technical expertise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IT Operations — Infrastructure management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Legal — Regulatory guidance, evidence preservation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Communications — Internal updates, external messaging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Human Resources — Employee coordination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Units — Operational impact assessment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Roles During a TTX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Facilitator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Guides discussion · Maintains pace · Encourages participation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Respond to scenarios · Make decisions · Discuss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Evaluators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Observe · Record findings · Assess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Scribes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Document discussions · Capture decisions · Record action items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Ground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Expectations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Respect all participants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Stay engaged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Focus on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Avoid assigning blame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Be honest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Ask questions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Participate actively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Maintain confidentiality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"No-Fault Learning"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Mistakes are opportunities to improve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Open discussion is encouraged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Psychological safety supports better outcomes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Common Tabletop Exercise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Planning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Undefined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Unrealistic scenarios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Poor participant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Facilitation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Dominating discussions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Insufficient time management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Lack of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1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Evaluation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18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Weak documentation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No improvement plan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Failure to follow 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Success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Organizational Success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sponsorship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Cross-functional participation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Skilled facilitation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Realistic scenarios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Effective evaluation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Timely reporting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Actionable recommendations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Continuous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Participation rate · Objective achievement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quality · Communication effectiveness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Improvement implementation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Measuring Exercise Effectiveness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Evaluation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Objectives achieved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 engagement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quality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 effectiveness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Coordination efficiency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Policy adherence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Response timeliness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Lessons 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Data Collection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Observer notes · Participant feedback · Surveys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Debrief discussions · Performance metrics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Module Review: Understanding Tabletop Exercises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Tabletop exercises are discussion-based simulations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They validate people, processes, and governance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Clear objectives drive successful outcomes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Cross-functional participation is essential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Skilled facilitation promotes meaningful discussion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Evaluation and follow-up are critical for continuous improvement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 blame-free environment encourages honest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distinguishes a TTX from a penetration test?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Why is executive participation important?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stakeholders should participate in your next TTX?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can lessons learned be translated into measurable improvements?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Why Tabletop Exercises Matter to Executive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Cybersecurity is an enterprise risk, not just an IT issue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decisions significantly influence incident outcomes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TTXs prepare leaders for high-pressure decision-making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Exercises validate governance and crisis management processes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Board members gain confidence through demonstrated preparedness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Understand the strategic importance of TTXs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Recognize why executive sponsorship is essential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Align cyber preparedness with business strategy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Demonstrating Return on Investment (ROI)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Investment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planning · Facilitator training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Staff participation · Documentation · Continuous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Organizational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Reduced incident response time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Lower recovery costs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Improved regulatory compliance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Better decision-making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Increased stakeholder confidence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Reduced operational disruption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3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Metrics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943599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Before TTX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After TTX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Incident escalation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90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35 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Executive notification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60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15 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Stakeholder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Inconsistent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Standardized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Playbook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Regulatory and Compliance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Common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NIST Cybersecurity Framework (CSF)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NIST SP 800-61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ISO/IEC 27001 · ISO/IEC 27035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PCI DSS · HIPAA · GDPR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NIS2 Directive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Digital Operational Resilience Act (DORA)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Sector-specific regulations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Compliance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Demonstrates due diligence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Validates incident response plans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Supports audit readiness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Improves evidence of governance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Building Organizational Cyber Resilience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Cyber Resilience Includes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Prevention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Detection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Response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Recovery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Adaptation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How TTXs Improve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decision-making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 coordination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Strengthen communication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Enhance recovery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Promote continuous improvement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Governance and Risk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Governance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 ownership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oversight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Policy validation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accountability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Resource allocation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Continuous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Enterprise Risk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Strategic risks · Operational risks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Financial risks · Reputational risks · Legal risks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Improving Cross-Functional Collaboration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Typical Participants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leadership · Information Security · IT Operations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Continuity · Legal · Human Resources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Communications · Compliance · Finance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Procurement · Customer Support · Third-party vendors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Shared understanding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Faster coordination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Clear responsibilities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Improved trust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Strengthening Decision-Making Under Pressure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Common Decision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Incident declaration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Escalation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System shutdown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Public disclosure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reporting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Ransom payment considerations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continuity activation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 notification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Decision-Making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Timeliness · Evidence-based analysis · Risk awareness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Collaboration · Accountability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Measuring Program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Performance Indicators (KPIs)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Number of exercises completed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participation rate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Objective achievement rate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 to decision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 effectiveness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Number of lessons identified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Percentage of remediation actions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Risk Indicators (KRIs)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Unresolved critical findings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Delayed remediation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Outdated playbooks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Low participant engagement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Building a Sustainable TTX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Program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Annual exercise calendar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Risk-based scenario selection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sponsorship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Budget and resources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Facilitator development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 training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Evaluation framework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Improvement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Maturity Stages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1. Ad Hoc → 2. Repeatable → 3. Defined → 4. Managed → 5. Optimized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Module Review: Strategic Value of Tabletop Exercises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leadership is essential for effective cyber incident management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TTXs provide measurable business value and ROI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Exercises support compliance with regulatory and industry frameworks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Cyber resilience depends on preparation, collaboration, and continuous improvement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Governance and enterprise risk management should be integrated into TTX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Cross-functional participation strengthens organizational readiness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Success should be measured using meaningful KPIs and KRIs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Sustainable TTX programs require ongoing investment and executive sponsorship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can you demonstrate ROI to senior leadership?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regulatory requirements apply to your organization?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metrics would best demonstrate TTX program effectiveness?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steps are needed to establish a sustainable exercise program?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