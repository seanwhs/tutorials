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Exercise Governance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Governance ensures consistency, accountability, and alignment with business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Clear roles reduce confusion during planning and execution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sponsorship is essential for organizational commitment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Governance should integrate cybersecurity, business continuity, legal, and executive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Governance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Accountability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Transparency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Risk-based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Collaboration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Continuous improvement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oversight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The Exercise Governance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Governance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Sponsor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Steering Committee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Director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Planning Team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Facilitators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Logistics Support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The Exercise Director coordinates planning and execution, while facilitators guide discussions and evaluators assess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Executive Sponsor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Approve exercise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Secure funding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Provide executive support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Remove organizational barriers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Champion continuous improvement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Review final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Characteristics of an Effective Sponsor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Senior leadership position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Decision-making authority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Commitment to resilience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Cross-functional influence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Success Indicators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Exercise Steering Committee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Provide strategic oversight and governance throughout the exercise lifecycle.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Typical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Chief Information Security Officer (CISO)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Chief Information Officer (CIO)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Continuity Manager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Manager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Legal Counsel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Communications Director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Human Resources Representative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Unit Leaders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Approve scope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Monitor planning progress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Resolve issues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Review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Exercise Director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Primary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Lead the planning process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Coordinate all teams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Manage timelines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Approve exercise materials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Oversee execution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Ensure objectives are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Required Competencies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Project management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Cybersecurity knowledge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Leadership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Decision-making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Facilitation awareness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Exercise Planning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Define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Develop scenarios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Identify participants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Coordinate logistics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Prepare exercise materials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Schedule meetings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Track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Team 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Security specialists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IT representatives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continuity personnel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Project managers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Administrative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Facilitators and Moderators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Facilitator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Guide discussions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Deliver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Encourage participation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Manage time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Maintain neutrality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Keep the exercise 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Moderator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Active listening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Conflict resolution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Questioning techniques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 management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Adaptability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Evaluators and Observers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Evaluator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Observe participant actions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Assess performance against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Record strengths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Identify improvement areas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Contribute to the After Action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Observer Responsibilities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Capture notes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Monitor discussions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Document decisions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Identify communication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Evaluation Focus Areas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Defining Exercise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Characteristics of Effective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Specific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Measurable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Achievable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Relevant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Time-bound (SMART)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 ransomware response procedures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Test executive communication protocols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Assess regulatory notification processes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Evaluate business continuity activation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Measure decision-making timelines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Defining Exercise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Scope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units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Geographic locations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Systems and applications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Third-party providers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types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Timeframe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Assumptions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Scope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Organizational priorities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Available resources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profile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Identifying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Internal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Leadership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Information Security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IT Operations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Legal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Human Resources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Compliance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Finance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Procurement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External 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Law Enforcement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 Insurance Providers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Vendors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Industry Partners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Developing the Exercise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Planning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Project Initiation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Governance Approval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Scenario Development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Material Preparation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Participant Briefing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Exercise Delivery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7. Evaluation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8. After Action Report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9. Improvement Plan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10. Follow-Up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Milestones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Charter approval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Scenario approval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Logistics confirmation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Final rehearsal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completion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Budget and Resource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Budget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Facilitator fees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Venue or virtual platform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materials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Technology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Catering (if applicable)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Travel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Documentation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Contingency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Resource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Personnel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Meeting rooms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Collaboration tools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Audio-visual equipment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Printing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Administrative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Exercise Planning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sponsor identified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Steering Committee established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Roles assigned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Objectives approved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Scope defined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Scenario selected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 confirmed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Logistics arranged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3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5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Plan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Agenda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 Guide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Facilitator Guide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Evaluation Forms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Module Review: Exercise Governance and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Governance provides structure and accountability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sponsorship is critical for success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Clearly defined roles improve coordination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SMART objectives guide planning and evaluation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Scope should be risk-based and manageable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Stakeholder engagement strengthens realism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Detailed planning reduces execution risks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Comprehensive documentation supports consistency and repeatability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Who should serve as the Executive Sponsor for your organization's TTX program?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departments are essential participants?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can governance improve exercise outcomes?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planning challenges has your organization experienced?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Risk-Based Exercise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Every tabletop exercise should be driven by organizational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High-impact, high-likelihood threats should receive priority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objectives should guide scenario selection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assessments provide evidence for exercise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Risk-Based Planning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Identify business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Identify critical assets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Assess threats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Assess vulnerabilities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Evaluate business impact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Prioritize scenarios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7. Define exercise scope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Understanding Enterprise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Enterprise Risk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Strategic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Operational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Financial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Compliance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Legal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Technology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Supply Chain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Reputational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Cyber Risk Impacts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Revenue loss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Operational downtime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penalties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dissatisfaction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Loss of intellectual property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Brand damage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Business Impact Analysis (BIA)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BIA Identifies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Critical business processes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Maximum tolerable downtime (MTD)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Recovery Time Objective (RTO)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Recovery Point Objective (RPO)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Critical dependencies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Financial impacts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impacts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Questions to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business services are mission critical?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quickly must services be restored?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customers are affected?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legal obligations exist?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Identifying Critical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Asset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Critical applications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Identity systems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Active Directory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platforms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ERP systems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Payment systems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Manufacturing systems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Operational Technology (OT)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Sensitive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Asset Inventory Should Include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Owner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function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Criticality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Dependencies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Recovery priority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Crown Jewels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Crown Jewels May Include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databases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Intellectual property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Source code repositories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Financial systems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Identity infrastructure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Industrial control systems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communications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Encryption key management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Selection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value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importance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Operational dependency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Sensitivity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attractiveness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Understanding the Threat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Threat 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Cybercriminal groups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Ransomware operators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Nation-state actors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Hacktivists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Insider threats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Third-party vendors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Organized crime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Opportunistic attackers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Threat Intelligence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CISA advisories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MITRE ATT&amp;CK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ISACs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Vendor intelligence reports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Commercial intelligence feeds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Open-source intelligence (OSINT)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Attack Surface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Internal Attack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Servers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Endpoints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Active Directory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Internal applications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Wireless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External Attack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Internet-facing applications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VPN gateways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Email services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platforms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APIs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Remote access solutions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Risk Assessment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NIST Risk Management Framework (RMF)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ISO 31000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ISO/IEC 27005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FAIR (Factor Analysis of Information Risk)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OCTAVE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CIS Risk Assessment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Assessment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Likelihood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Impact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Existing controls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Residual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appetite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Risk Matrix and Prioritization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Risk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Prioritization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impact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likelihood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exposure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Operational dependency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Public visibility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Selecting Exercise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Scenario Selection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Aligns with business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Reflects current threats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Tests critical processes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Challenges participants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Fits available time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Supports 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Ransomware attack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email compromise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account compromise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Data exfiltration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Insider threat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Supply chain compromise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DDoS attack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Industrial control system attack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Defining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Common Exercise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response plan exists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Contact information is current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Backup systems function correctly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Participants act according to assigned roles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Required technical resources are available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External agencies respond as expected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Why Assumptions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Clarify exercise boundaries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Prevent unnecessary debates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Maintain scenario consistency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Support fair evaluation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Identifying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Potential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Limited exercise duration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Budget restrictions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Staff availability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Confidential information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limitations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Technology constraints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Physical location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Remote participation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Managing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Prioritize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Simplify scope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Use realistic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Communicate limitations early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Defining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Success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Objectives achieved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Active participation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Effective communication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Timely decisions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Correct escalation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Policy compliance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Lessons identified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Action items documented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Evaluation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Were objectives met?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Were roles understood?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Were decisions appropriate?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Were communications effective?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Planning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Essential Planning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Charter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Project Plan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Assessment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Scenario Outline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Participant List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Communication Plan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Evaluation Plan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Logistics Checklist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Schedule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Approval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Documentation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Consistency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Accountability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Audit readiness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Knowledge transfer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Repeatability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Module Review: Defining Exercise Scope and Risk-Based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assessments should drive scenario selection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Impact Analyses identify critical priorities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Crown jewels deserve focused attention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intelligence improves realism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Attack surface analysis reveals likely entry points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matrices support objective prioritization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Clear assumptions and constraints improve exercise quality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Well-defined success criteria enable meaningful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are your organization's most critical business assets?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threat actors are most relevant to your industry?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does your organization prioritize cyber risks?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assumptions should be documented before conducting a TTX?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Introduction to Cyber Threat Intelligence (CTI)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What is Cyber Threat Intelligence?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Evidence-based information about cyber threats, threat actors, motivations, capabilities, tactics, techniques, and procedures (TTPs) that enables informed security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Why CTI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Improves situational awareness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Enables proactive defense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Prioritizes security investments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Supports realistic tabletop scenarios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Enhances incident response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Informs executive decision-making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CTI vs. Data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5669279"/>
          <a:ext cx="10972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Intelligence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Raw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Organized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Actionable insight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The Threat Intelligence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Intelligence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Planning — Define intelligence requirements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Collection — Collect relevant data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Processing — Normalize and enrich data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Analysis — Analyze findings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Dissemination — Share intelligence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Feedback — Improve based on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During exercise planning, this lifecycle helps identify which threats are most applicable to the organization and how scenarios should evolve over time.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Types of Threat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Strategic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Audience: Board, Executives, Risk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Focus: Business risk, industry trends, emerging threats, investment priorities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Operational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Audience: Incident Response, SOC Managers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Focus: Active campaigns, threat groups, current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Tactical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Audience: SOC Analysts, Threat Hunters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Focus: MITRE ATT&amp;CK techniques, malware families, adversary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Technical Intelligence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Intelligence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Government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CISA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NSA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FBI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ENISA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NCSC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CERT organizations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Industry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ISACs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Vendor advisories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providers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MSSPs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Commercial Sources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Understanding MITRE ATT&amp;CK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MITRE ATT&amp;CK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ATT&amp;CK stands for: Adversarial Tactics, Techniques, and Common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Framework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Tactics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Techniques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Sub-techniques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Procedures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Mitigations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Data Sources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Detection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1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1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Common language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modeling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Scenario development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Detection improvement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Control assessment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MITRE ATT&amp;CK Tactics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Enterprise ATT&amp;CK Tactics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Reconnaissance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Resource Development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Initial Access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Execution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Persistence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Privilege Escalation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7. Defense Evasion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8. Credential Access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9. Discovery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10. Lateral Movement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11. Collection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12. Command and Control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13. Exfiltration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14.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Reconnaissance → Initial Access → Lateral Movement → Exfiltration → Impact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Techniques and Procedures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Tactic — The adversary's objective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Technique — How the objective is achieved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Procedure — A specific implementation of a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Tactic: Credential Access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Technique: Credential Dumping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Procedure: Using Mimikatz against Active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1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Why TTPs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18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Repeatable adversary behaviors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Better scenario realism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Improved detection planning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Threat Actor Profiling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Threat Actor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Nation-state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Cybercriminal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Hacktivist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Insider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Competitor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Terrorist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Script Kiddie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Threat Profile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Motivation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Capability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Resources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Target selection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Preferred techniques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Mapping Threat Intelligence to Business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Mapping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Actor → Attack Technique → Business Asset → Business Process → Business Impact → Exercise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Phishing → Credential Theft → Microsoft 365 → Finance Department → Payroll Fraud → Tabletop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Threat intelligence becomes actionable when linked to business assets and processes.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ATT&amp;CK Navigator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Navigator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Technique mapping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Coverage analysis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modeling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Detection gaps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Scenario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Visual representation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Easy comparison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Collaboration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Prioritization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Intelligence-Driven Scenario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Scenario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reports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Industry attacks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Organizational risks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Known vulnerabilities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ATT&amp;CK techniques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Scenario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Attack timeline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Inject sequence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Decision points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Learning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Rather than inventing fictional attacks, planners should use current intelligence to model scenarios after real-world incidents.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Mapping Exercise Injects to ATT&amp;CK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Mapping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Inject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ATT&amp;CK Tactic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Phishing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Initial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Spearphishing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Malicious macro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User Execution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Credential theft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Credential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OS Credential Dumping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VPN compromise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Initial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Valid Accounts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Database theft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Exfiltration Over C2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57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15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Realistic progression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Measurable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Better evaluator guidance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Threat Intelligence Briefing for Participants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Pre-Exercise Briefing Should Include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Current threat landscape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Relevant adversaries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Industry attack trends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risks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assumptions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Intelligence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Avoid Revealing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5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Full scenario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Future injects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Expected responses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Hidden objectives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Common Threat Intelligence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Using outdated intelligence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Overcomplicating scenarios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Ignoring business context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Focusing only on technical details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Not validating intelligence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Selecting irrelevant threat actors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Excessive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Use current intelligence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Keep scenarios realistic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Align with organizational risk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Review intelligence regularly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Module Review: Threat Intelligence and MITRE ATT&amp;CK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Cyber Threat Intelligence enables realistic, risk-informed exercises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The intelligence lifecycle supports continuous improvement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Different stakeholders require different intelligence products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MITRE ATT&amp;CK provides a common language for adversary behavior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actor profiling improves scenario relevance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ATT&amp;CK Navigator helps visualize attack techniques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Intelligence-driven scenarios better prepare organizations for real-world threats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Mapping injects to ATT&amp;CK enhances exercise consistency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threat actors are most relevant to your industry?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does your organization currently use threat intelligence?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ATT&amp;CK tactics would you prioritize in your next tabletop exercise?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can intelligence improve the realism of your scenarios?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Introduction to Threat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What is Threat Modeling?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A structured methodology for identifying critical assets, threat actors, attack vectors, vulnerabilities, security controls, business impacts, and mitigation strategies.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Why Threat Modeling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Creates realistic scenarios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Prioritizes organizational risks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Improves defensive planning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Supports executive decision-making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Identifies security gaps before incidents occur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Threat Modeling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Business Objectives → Critical Assets → Threat Actors → Attack Vectors → Business Impact → Exercise Scenario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Identifying Critical Assets and Business Processes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Critical Asset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Identity and Access Management (IAM)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Active Directory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Enterprise Resource Planning (ERP)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Relationship Management (CRM)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Email and Collaboration Platforms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Financial Systems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Cloud Infrastructure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Operational Technology (OT)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Intellectual Property Repositories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Business Process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owner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Criticality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Dependencies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Data classification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Recovery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Regulatory obligations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STRIDE Threat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STRIDE Categories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Threat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Spoofing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Pretending to be another user or system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Tampering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Unauthorized modification of data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Repudiation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Denying performed actions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Information Disclosure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Unauthorized exposure of information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Denial of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Disrupting availability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Elevation of Privilege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Gaining unauthorized permissions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Example: Customer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Spoofed administrator login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Database tampering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Customer data leakage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DDoS attack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Privilege escalation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Fraudulent transactions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PASTA: Process for Attack Simulation and Threat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Seven Stages of PASTA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Define business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Define technical scope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Decompose the application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Analyze threats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Identify vulnerabilities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Simulate attacks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7. Assess business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19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Business-focused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Risk-driven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Supports executive decision-making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Aligns security with organizational goals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OCTAVE Threat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OCTAVE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Asset-based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Risk-driven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Organization-focused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Self-directed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Assessment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Organizational practices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Technology infrastructure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Operational vulnerabilities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Information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profile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Critical assets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Security requirements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Mitigation priorities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Attack Trees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Attack Tree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Steal Customer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├── Phishing → Credential Compromise → Database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└── Cloud Misconfiguration → Public Storage Bucket → Database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Visual representation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Multiple attack paths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Improved scenario realism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Better prioritization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The Cyber Kill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Kill Chain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Reconnaissance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Weaponization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Delivery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Exploitation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Installation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Command and Control (C2)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7. Actions on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19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Mapping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5029199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Kill Chain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66666"/>
                          </a:solidFill>
                        </a:defRPr>
                      </a:pPr>
                      <a:r>
                        <a:t>Exercise Inject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Reconnaissance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Public scanning detected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Phishing email received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Exploitation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Malicious attachment opened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Malware beacon observed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Outbound traffic detected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Sensitive data encrypted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Building Realistic Attack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Example Attack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1. Spear-phishing email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2. Credential theft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3. VPN access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4. Multi-factor authentication bypass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5. Privilege escalation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6. Lateral movement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7. Data exfiltration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8. Ransomware deployment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9. Public extortion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10. Regulatory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Design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Progressive escalation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Multiple decision points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consequences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Technical realism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involvement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Validating the Threat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Validation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objectives addressed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Critical assets included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Relevant threat actors identified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Current threat intelligence incorporated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Attack paths realistic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Controls considered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Exercise objectives supported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Stakeholders consulted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Validation 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Security architects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SOC analysts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Incident responders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Business owners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Risk managers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Legal advisors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Executive sponsors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SLIDE 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Module Review: Threat Modeling for Tabletop Exercises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54864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Threat modeling provides a structured foundation for realistic tabletop exercises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Critical assets and business processes should drive scenario development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STRIDE helps identify common threat categories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PASTA links technical risks to business objectives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OCTAVE emphasizes organizational risk management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Attack trees visualize alternative attack paths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The Cyber Kill Chain illustrates attack progression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Validated threat models produce more effective and actionable exercises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Calibri"/>
              </a:defRPr>
            </a:pPr>
            <a:r>
              <a:t>Discussion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threat modeling methodology best fits your organization?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What are your organization's most critical assets?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How can attack trees improve your exercise planning?</a:t>
            </a:r>
          </a:p>
          <a:p>
            <a:pPr>
              <a:spcAft>
                <a:spcPts val="5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—  Which attack paths should be tested in your next tabletop exercise?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