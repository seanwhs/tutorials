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Threat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88888"/>
                </a:solidFill>
                <a:latin typeface="Arial"/>
              </a:defRPr>
            </a:pPr>
            <a:r>
              <a:t>Masterclass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Course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Why threat modeling matters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Shift-left security integration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Cost of vulnerability discovery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Learning outcomes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STRIDE methodology proficiency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DREAD risk scoring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Enterprise threat register creation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Expected deliverables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Data Flow Diagrams (DFD)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Risk matrices &amp; security controls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Executive-ready threat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Who Should Attend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Developers &amp; Software Engineers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Writing code that needs threat analysis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Architects &amp; Enterprise Architects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Designing systems with security by design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Security Engineers &amp; Consultants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Formalizing threat assessment workflows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DevSecOps &amp; Technical Leads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Embedding security into CI/CD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Fundamentals → Frameworks → Architecture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STRIDE, DREAD, PASTA methodologies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Data Flow Diagrams &amp; System Decomposition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Context, Level 0–2 DFD construction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STRIDE Workshop &amp; Risk Assessment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Hands-on threat identification &amp; scoring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Cloud, API, Kubernetes &amp; AI Threat Modeling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Modern platform-specific attack surfaces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Enterprise Case Study &amp; Capstone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Full banking platform threat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Tools &amp;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Microsoft Threat Modeling Tool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STRIDE-based automated analysis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OWASP Threat Dragon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Open-source collaborative threat modeling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Diagramming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draw.io  •  Visio  •  Miro  •  Lucidchart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Integration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Jira, Azure DevOps, GitHub Projects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Threat Modeling Fundamentals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What is Threat Modeling?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 structured approach to identifying, quantifying,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and addressing security threats in a system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Security by Design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Embed security at architecture phase, not after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Fix vulnerabilities before code is written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Shift Left Security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Discover threats during design, not in production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100x cheaper to fix in design vs. post-release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Threat Modeling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Requirements  →  Architecture  →  DFD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   ↓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Threat Analysis  →  Risk Assessment  →  Mitigation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   ↓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Review  →  Continuous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Security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Least Privilege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Grant minimum access necessary for function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Defense in Depth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Multiple independent security controls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Fail Securely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Default to safe state on failure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Zero Trust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Never trust, always verify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Complete Mediation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Check every access, every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Real-World Breaches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Equifax (2017)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Unpatched Apache Struts → 147M records exposed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SolarWinds (2020)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Supply chain compromise → 18,000 organizations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Capital One (2019)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SSRF + IAM misconfiguration → 100M records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MOVEit (2023)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Zero-day in file transfer → 600+ organizations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Threat Modeling Frameworks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STRIDE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Developed by Microsoft (1999)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Classification model for security threats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Six Threat Categories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S  —  Spoofing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T  —  Tampering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R  —  Repudiation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I  —  Information Disclosure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D  —  Denial of Service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E  —  Elevation of Privilege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Maps threats to security properties: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Authentication | Integrity | Non-repudiation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Confidentiality | Availability | Authorization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STRIDE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Spoofing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Pretending to be someone/something else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Attacks: Phishing, session hijacking, DNS spoofing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Tampering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Modifying data or code without authorization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Attacks: MITM, file modification, parameter tampering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Repudiation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Denying an action was performed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Attacks: Log deletion, false denial of transactions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Information Disclosure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Exposing information to unauthorized parties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Attacks: Data leaks, side-channel attacks, verbose errors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STRIDE Deep Dive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Denial of Service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Disrupting service availability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Attacks: DDoS, resource exhaustion, application crashes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Elevation of Privilege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Gaining unauthorized access levels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Attacks: Privilege escalation, bypassing auth checks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Mitigation Strategy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Each category maps to specific controls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Defense in depth across all six vectors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DREAD Risk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Five Dimensions (1–10 scale)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D  —  Damage Potential    (impact if exploited)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R  —  Reproducibility      (ease of repeat attack)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E  —  Exploitability       (skill/resources needed)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A  —  Affected Users       (scope of impact)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D  —  Discoverability      (ease of finding flaw)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Risk Score = Average of 5 dimensions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0–3  Low  |  4–6  Medium  |  7–10  High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Limitations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Subjective scoring, deprecated by Microsoft in favor of CVSS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PASTA &amp; Other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PASTA (Process for Attack Simulation)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7-stage risk-centric methodology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Business objectives → Threat analysis → Simulation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Trike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Risk-centric, asset-focused approach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OCTAVE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Organizational risk, self-directed assessment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VAST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Scalable for enterprise DevOps environments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Framework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STRIDE  →  Best for: Design-phase threat categorization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Easy to learn, widely adopted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DREAD  →  Best for: Quick risk prioritization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Lightweight, good for agile teams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PASTA  →  Best for: Enterprise risk management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Business-aligned, simulation-driven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VAST  →  Best for: Large-scale DevSecOps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Automation-friendly, scalable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Understanding Architecture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Architecture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Logical View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Components, services, data flows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Physical View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Hardware, networks, infrastructure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Deployment View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Runtime topology, cloud regions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Cloud View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Serverless, containers, managed services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SECURITY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Trust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Boundary where trust level changes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Every crossing is a potential attack surface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Common Boundaries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Internal ↔ External network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Corporate ↔ Cloud environment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Production ↔ Development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User space ↔ Kernel space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Rule: Authenticate &amp; authorize at every boundary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Data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Public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No restrictions, minimal controls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Internal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Business use only, basic access controls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Confidential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Encryption at rest &amp; in transit required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Need-to-know access, audit logging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Restricted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Highest protection, strict need-to-know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Segregated environments, DLP enforced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Data Flow Diagrams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DFD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Process (Circle)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Transforms data — application, service, function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Data Store (Two horizontal lines)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Persistent storage — database, cache, file system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External Entity (Rectangle)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Outside the system — user, third-party API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Data Flow (Arrow)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Movement of data between elements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Trust Boundary (Dashed line)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Where security controls must be enforced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DFD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Context Diagram (Level 0)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System as single process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External entities and high-level flows only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Level 1 DFD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Major subsystems and their interactions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First trust boundaries appear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Level 2 DFD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Individual processes within subsystems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Detailed data stores and flows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Level 3+ DFD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Rarely needed — excessive detail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Use for critical/high-risk components only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DFD Example: Online Shopping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Context (Level 0)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Customer → [Shopping System] → Payment Gateway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Admin → [Shopping System] → Inventory System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Level 1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[Web App] → [Order Service] → [Payment Service]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[Order Service] → [Product DB]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[Payment Service] → [Payment Gateway]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Trust Boundaries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Internet ↔ DMZ ↔ Internal ↔ Database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STRIDE Workshop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Spoofing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Pretending to be another user, device, or system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Common Attacks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Credential stuffing, phishing, session hijacking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IP spoofing, certificate forgery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Mitigations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Multi-factor authentication (MFA)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Token-based session management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Certificate pinning, mutual TLS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MITRE ATT&amp;CK: T1078 Valid Accounts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T1566 Phishing  |  T1550 Use Alternate Auth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Tampering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Unauthorized modification of data or code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Common Attacks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Man-in-the-middle, parameter tampering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File modification, supply chain poisoning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Mitigations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Input validation &amp; parameterized queries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Code signing, checksum verification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TLS/encryption for data in transit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MITRE ATT&amp;CK: T1556 Modify Auth Process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T1565 Data Manipulation  |  T1195 Supply Chain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Repudiation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Denying that an action was performed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Common Attacks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Log deletion, log injection, clock skew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Transaction denial, audit trail gaps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Mitigations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Immutable audit logs (WORM storage)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Digital signatures on transactions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Centralized SIEM with tamper detection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MITRE ATT&amp;CK: T1070 Indicator Removal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T1562 Impair Defenses  |  T1657 Financial Theft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Information 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Exposing information to unauthorized parties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Common Attacks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Verbose error messages, directory listing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Side-channel attacks, insecure logging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Memory dumps, cloud misconfigurations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Mitigations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Encryption at rest &amp; in transit (AES-256, TLS 1.3)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Least privilege access to data stores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Data loss prevention (DLP) policies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MITRE ATT&amp;CK: T1213 Data from Info Repos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T1530 Data from Cloud Storage  |  T1005 Data from Local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Denial of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Disrupting service availability for legitimate users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Common Attacks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DDoS (volumetric, protocol, application layer)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Resource exhaustion, slowloris, amplification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Mitigations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Rate limiting &amp; traffic shaping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CDN + WAF + DDoS protection (Cloudflare, AWS Shield)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Auto-scaling, circuit breakers, redundancy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MITRE ATT&amp;CK: T1498 Network DoS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T1499 Endpoint DoS  |  T1496 Resource Hijacking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Elevation of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Gaining unauthorized access to elevated permissions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Common Attacks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Privilege escalation (vertical &amp; horizontal)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Bypassing authorization checks, token manipulation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Sudo/su misconfigurations, container escape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Mitigations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Role-based access control (RBAC) with least privilege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Privileged access management (PAM)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Regular entitlement reviews, just-in-time access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MITRE ATT&amp;CK: T1078 Valid Accounts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T1134 Access Token Manipulation  |  T1611 Escape to Host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Risk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Risk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Risk = Likelihood × Impact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Likelihood Factors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Threat actor capability &amp; motivation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Vulnerability exploitability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Existing control effectiveness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Impact Factors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Financial loss, regulatory fines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Reputational damage, operational disruption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Data breach scope &amp; sensitivity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5×5 Matrix: Likelihood × Impact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       Negligible  Low  Medium  High  Critical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Almost Certain    Medium  High  Critical  Critical  Critical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Likely            Low  Medium  High  Critical  Critical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Possible          Low  Medium  Medium  High  Critical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Unlikely          Low  Low  Medium  Medium  High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Rare              Low  Low  Low  Medium  Medium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Action thresholds: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Critical → Immediate action  |  High → 30 days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Medium → 90 days  |  Low → Monitor/Accept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CVSS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Common Vulnerability Scoring System v3.1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Base Score (0–10)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Attack Vector (Network/Adjacent/Local/Physical)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Attack Complexity (Low/High)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Privileges Required (None/Low/High)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User Interaction (None/Required)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Severity Ratings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0.0       None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0.1–3.9   Low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4.0–6.9   Medium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7.0–8.9   High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9.0–10.0  Critical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Residual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Risk remaining after controls are implemented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Risk Treatment Options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Mitigate  —  Reduce likelihood or impact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Transfer  —  Insurance, third-party liability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Avoid     —  Remove the risk entirely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Accept    —  Document and monitor residual risk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Executive Sign-off Required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Residual risk above appetite threshold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Documented in risk register with justification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Security Controls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Control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Preventive Controls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Stop threats before they succeed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Firewalls, encryption, input validation, MFA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Detective Controls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Identify threats in progress or after occurrence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SIEM, IDS/IPS, log monitoring, anomaly detection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Corrective Controls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Remediate damage after incident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Backups, incident response, patch management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Defense in Depth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Layer all three categories across trust boundaries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IAM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Identity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Authentication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Password policies, MFA, biometric, FIDO2/WebAuthn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Authorization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RBAC — Role-based access control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ABAC — Attribute-based access control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PBAC — Policy-based access control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Privileged Access Management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Just-in-time (JIT) elevation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Privileged session recording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Break-glass procedures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Encryption &amp; Key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Encryption at Rest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AES-256 for databases, files, backups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Transparent Data Encryption (TDE)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Encryption in Transit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TLS 1.3 minimum, perfect forward secrecy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Certificate pinning for mobile apps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Key Management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HSM / Cloud KMS (AWS KMS, Azure Key Vault)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Key rotation policies, separation of duties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Never hardcode keys in source code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Monitoring &amp;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Logging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Centralized structured logging (JSON)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Retention: 1 year hot, 7 years cold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Immutable, tamper-evident storage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SIEM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Real-time correlation &amp; alerting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User &amp; Entity Behavior Analytics (UEBA)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SOAR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Automated incident response playbooks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Threat intelligence integration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Security Testing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SAST, DAST, IAST, penetration testing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Cloud Threat Modeling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Cloud Provider Responsibility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Physical security, hypervisor, network fabric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Managed service patching (PaaS/SaaS)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Customer Responsibility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Data classification &amp; encryption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Identity &amp; access management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Application security, OS patching (IaaS)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Gray Areas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Container orchestration (managed vs. self-hosted)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Network segmentation, logging configuration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Cloud Attack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Identity &amp; Access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IAM policies, service accounts, cross-account roles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Federation, SSO misconfigurations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Networking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VPC peering, security groups, NACLs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Exposed endpoints, DNS hijacking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Storage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S3/Azure Blob/GCS bucket misconfigurations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Public access, lack of encryption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Compute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EC2/VM instance profiles, container escape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Serverless function permissions, cold start attacks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Kubernetes Threat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Cluster Architecture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API Server → etcd → Controller Manager → Scheduler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Kubelet → Container Runtime → Pods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Key Threats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Compromised kubeconfig → cluster takeover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etcd unencrypted → all secrets exposed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Privileged containers → host escape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Default network policy → lateral movement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Mitigations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RBAC with least privilege, Pod Security Standards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Network policies, admission controllers (OPA/Kyverno)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etcd encryption, secrets management (Vault/External Secrets)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AI Threat Modeling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AI/ML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LLM Architecture &amp;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LLM System Components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User interface → API Gateway → LLM inference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RAG pipeline → Vector DB → Knowledge base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Agent framework → Tool integrations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OWASP LLM Top 10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1. Prompt Injection  2. Insecure Output Handling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3. Training Data Poisoning  4. Model Denial of Service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5. Supply Chain Vulnerabilities  6. Sensitive Info Disclosure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7. Insecure Plugin Design  8. Excessive Agency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9. Overreliance  10. Model Theft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Unique Attack Vectors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Jailbreaking, prompt leaking, model extraction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Data poisoning, embedding inversion attacks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LLM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Input Controls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Prompt sanitization, input validation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Rate limiting, context window management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Output Controls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Output filtering, PII detection, content moderation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Response validation before downstream action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Model Security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Model watermarking, access controls on weights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Supply chain verification (SBOM for models)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RAG-Specific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Vector DB access controls, chunk isolation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Source attribution, retrieval validation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Secure SDLC &amp; DevSecOps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Threat Modeling in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Requirements Phase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Define security requirements &amp; compliance needs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Identify high-value assets &amp; trust boundaries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Design Phase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Create DFD, perform STRIDE analysis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Document security decisions in ADRs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Implementation Phase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SAST, secure coding standards, peer review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Testing Phase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DAST, penetration testing, threat model validation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Deployment &amp; Operations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Security gates in CI/CD, continuous monitoring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Continuous Threat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Shift Left → Shift Everywhere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Threat model at design, validate at build,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  monitor at runtime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Automation Opportunities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Auto-generate DFD from IaC (Terraform, CloudFormation)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SAST integration with threat patterns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Runtime threat detection via eBPF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Security Gates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Block merge if high-risk threats unmitigated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Auto-create Jira tickets from threat register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Dashboard: open threats vs. SLA compliance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Enterprise Governance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Governance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Architecture Review Board (ARB)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Security architecture approval gate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Threat model review for new systems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Security Review Board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Risk acceptance decisions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Exception handling &amp; waivers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Risk Committee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Enterprise risk appetite definition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Quarterly threat landscape review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Architecture Decision Records (ADRs)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Document security trade-offs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Link threats to accepted risks &amp; controls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Compliance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Frameworks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NIST SSDF / CSF, ISO 27001, PCI DSS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SOC 2, GDPR, HIPAA security requirements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Evidence Collection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Threat models linked to compliance controls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Audit trail of risk acceptance decisions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Penetration test results vs. threat register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Reporting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Executive dashboard: risk posture trends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Board-level: material risks &amp; mitigation status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Professional Templates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Deliverable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Project Charter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Scope, stakeholders, assets, boundaries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Threat Register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ID, STRIDE category, description, likelihood,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  impact, risk score, owner, status, mitigation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Risk Matrix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Visual heat map with threat distribution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Executive Report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Top 10 risks, mitigation roadmap, residual risk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Business impact &amp; compliance alignment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Enterprise Case Study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Banking Platform Threat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Business Requirements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Retail banking, mobile app, open banking APIs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PCI DSS compliance, PSD2 Strong Customer Auth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Architecture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Mobile → API Gateway → Microservices → Core Banking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Kafka event bus, Redis cache, PostgreSQL cluster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DFD &amp; Trust Boundaries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Internet → WAF → DMZ → Internal → Database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Third-party fintech integrations (OAuth 2.0 + mTLS)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STRIDE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Banking: Threat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Spoofing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Stolen credentials → MFA + behavioral biometrics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Tampering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API parameter tampering → input validation + signing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Information Disclosure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Verbose API errors → generic responses + correlation IDs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Elevation of Privilege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JWT manipulation → RS256 + strict scope validation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Denial of Service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API abuse → rate limiting + WAF + circuit breakers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Banking: Risk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Risk Prioritization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47 threats identified, 12 critical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Top risk: Core Banking API unauthorized access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Controls Implemented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Zero Trust network segmentation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PAM for database access, token vaulting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Real-time fraud detection pipeline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Residual Risk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3 accepted risks with board sign-off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Quarterly re-assessment scheduled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Roadmap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Q1: MFA rollout  |  Q2: API security hardening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Q3: SIEM integration  |  Q4: Red team exercise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4D4D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Threat modeling is a design-time discipline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Find vulnerabilities before attackers do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STRIDE provides a systematic threat taxonomy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Every component, every trust boundary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Risk scoring enables prioritization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Focus resources on what matters most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Security is continuous, not a checkpoint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Integrate into SDLC, automate where possible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Governance turns analysis into action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ADRs, risk registers, executive reporting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ACTIONABLE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Threat Modeling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Define system scope &amp; stakeholders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Identify assets &amp; data classification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Create DFD (Context → Level 1 → Level 2)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Map trust boundaries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Apply STRIDE to each component/flow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Score risks (DREAD or CVSS)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Define &amp; implement controls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Document residual risk &amp; acceptance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Create threat register &amp; track to closure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  <a:r>
              <a:t>  □  Review &amp; update quarterly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D4D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Arial"/>
              </a:defRPr>
            </a:pPr>
            <a: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Books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Threat Modeling by Adam Shostack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Designing Secure Software by Loren Kohnfelder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Standards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NIST SSDF SP 800-218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OWASP Threat Modeling Cheat Sheet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MITRE ATT&amp;CK Framework</a:t>
            </a:r>
          </a:p>
          <a:p>
            <a:pPr>
              <a:spcAft>
                <a:spcPts val="1000"/>
              </a:spcAft>
              <a:defRPr sz="1500">
                <a:solidFill>
                  <a:srgbClr val="888888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  <a:defRPr sz="1600" b="1">
                <a:solidFill>
                  <a:srgbClr val="F5F5F5"/>
                </a:solidFill>
                <a:latin typeface="Arial"/>
              </a:defRPr>
            </a:pPr>
            <a:r>
              <a:t>Tools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Microsoft Threat Modeling Tool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OWASP Threat Dragon</a:t>
            </a:r>
          </a:p>
          <a:p>
            <a:pPr lvl="1">
              <a:spcAft>
                <a:spcPts val="600"/>
              </a:spcAft>
              <a:defRPr sz="1400">
                <a:solidFill>
                  <a:srgbClr val="888888"/>
                </a:solidFill>
                <a:latin typeface="Arial"/>
              </a:defRPr>
            </a:pPr>
            <a:r>
              <a:t>pytm, ThreatSpec (open-source)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