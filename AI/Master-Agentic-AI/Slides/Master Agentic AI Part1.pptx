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6A1817-1DBD-4973-990B-5C79981C13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5141CC-D36A-4806-A38F-4A7D84371B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DDC955-A17D-4617-BA88-BAC9CC006E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711292-421B-4EF5-97FF-FEA83449B0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FBBDD4-B163-4540-9896-136EA3099A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848D3E-54F1-48ED-868A-8736514770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153DD8-EA18-46D3-9B51-A820F3043B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C2E4A5-AEC5-4E42-A325-58533F165F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C9C1DF-C1A9-4528-9583-CFF46DB9E2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B59637-4BA1-439E-937F-081A06F412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5A945E-A6F2-43DC-B401-E228E2CCE3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3962520" y="1575360"/>
            <a:ext cx="42663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5063"/>
              </a:lnSpc>
            </a:pPr>
            <a:r>
              <a:rPr lang="en-US" sz="4050" b="0" u="none" strike="noStrike">
                <a:solidFill>
                  <a:srgbClr val="000000"/>
                </a:solidFill>
                <a:effectLst/>
                <a:uFillTx/>
                <a:latin typeface="Lora"/>
              </a:rPr>
              <a:t>Master Agentic AI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148280" y="3212280"/>
            <a:ext cx="3895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6666"/>
                </a:solidFill>
                <a:effectLst/>
                <a:uFillTx/>
                <a:latin typeface="Inter Medium"/>
              </a:rPr>
              <a:t>NEXT.JS 16 ENTERPRISE UPGRADE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5619600" y="3660120"/>
            <a:ext cx="952200" cy="9000"/>
          </a:xfrm>
          <a:prstGeom prst="rect">
            <a:avLst/>
          </a:prstGeom>
          <a:solidFill>
            <a:srgbClr val="BEBE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843440" y="3955320"/>
            <a:ext cx="2504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777777"/>
                </a:solidFill>
                <a:effectLst/>
                <a:uFillTx/>
                <a:latin typeface="Inter"/>
              </a:rPr>
              <a:t>A Complete Hands-On Build Series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MASTER AGENTIC AI SLIDE 02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Course Overview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Beyond chatbots: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Moves systematically beyond simple Chatbot API wrappers into pure software engineering patterns.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First-principles execution: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Builds highly autonomous agentic web architectures from basic foundational components.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Zero framework lock-in: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Written entirely in plain JavaScript with no LangChain or external black-box wrappers.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Modern web infrastructure: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Leverages the performance of Next.js 16 App Router paired with serverless scaling.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1038240" y="381168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Democratized access: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Built entirely around free-tier AI endpoints including Groq, Gemini, and DeepSeek.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2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3"/>
          <p:cNvSpPr/>
          <p:nvPr/>
        </p:nvSpPr>
        <p:spPr>
          <a:xfrm>
            <a:off x="771480" y="381168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MASTER AGENTIC AI SLIDE 03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Core Learning Objectives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Systems 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10666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Deconstruct the cognitive ReAct loop and implement vectorless retrieval alongside rigorous token tracking and context optimization under strict serverless resource boundaries.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Production Readiness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65818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Build enterprise-grade input/output safety guardrails, design standardized multi-agent topologies, and deploy highly resilient, fault-tolerant async worker endpoints.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MASTER AGENTIC AI SLIDE 04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Who This Course Is For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1038240" y="2028960"/>
            <a:ext cx="1038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Intermediate JavaScript developers: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Comfortable writing modern asynchronous JS code, working with arrays, objects, and promises.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1038240" y="2748960"/>
            <a:ext cx="1038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Pragmatic software engineers: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Looking to build custom cognitive systems rather than assembling brittle third-party prompt wrappers.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1038240" y="346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No AI/ML background required: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Designed specifically for web application developers to bridge the gap into AI architectures.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1038240" y="391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Low initial barriers: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No prior complex Next.js development experience or agent framework exposure needed.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771480" y="274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771480" y="346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771480" y="391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9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90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MASTER AGENTIC AI SLIDE 05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The Target Architecture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Ingress &amp; Gateway Layers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1066680" y="2695680"/>
            <a:ext cx="454320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Incoming client requests transit through a secure middleware pipeline, directly triggering deep input safety guardrails and matching against a uniform LLM provider orchestration routing gateway.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Cognitive Execution &amp; Storage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65818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The processing core drives a state-aware ReAct execution loop, backed by vectorless context retrieval networks, cascading down into multi-agent systems before strict output schema verification.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MASTER AGENTIC AI SLIDE 06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Technical Stack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Primary Framework: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Next.js 16 leveraging structural App Router directories for API and route configurations.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Runtime Target: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Node.js 22+ with full support for modern asynchronous modules and runtime syntax.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Validation Mechanism: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Zod schemas to enforce strict data sanitization, API routing compliance, and model output shape.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LLM Provider Tier: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Scaled performance endpoints via Groq (llama-3.3-70b), Gemini (2.5-flash), and DeepSeek APIs.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5672160" y="2619360"/>
            <a:ext cx="847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Inter SemiBold"/>
              </a:rPr>
              <a:t>PHASE 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2"/>
          <p:cNvSpPr/>
          <p:nvPr/>
        </p:nvSpPr>
        <p:spPr>
          <a:xfrm>
            <a:off x="5715000" y="3000240"/>
            <a:ext cx="761760" cy="9000"/>
          </a:xfrm>
          <a:prstGeom prst="rect">
            <a:avLst/>
          </a:prstGeom>
          <a:solidFill>
            <a:srgbClr val="D2D2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3001680" y="3247920"/>
            <a:ext cx="61884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00000"/>
                </a:solidFill>
                <a:effectLst/>
                <a:uFillTx/>
                <a:latin typeface="Lora"/>
              </a:rPr>
              <a:t>Asynchronous Loop Foundations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08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The Paradigm Shift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Interactive Execution: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Shifting the paradigm away from brittle, single-turn text inference toward active execution loops.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1038240" y="2474640"/>
            <a:ext cx="1038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Unified Action Cycle: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Defining agent cycles as structured repeating patterns of environment perception, planning, and execution.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1038240" y="319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Self-Correction Mechanics: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Enabling runtime self-correction and loop redirection to recover gracefully from logical errors.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1038240" y="3640320"/>
            <a:ext cx="1038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Structured Observability: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Treating every step as a clear, traceable transaction containing reasoning traces and raw observations.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771480" y="319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771480" y="364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09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Project Scaffolding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Project Initialization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10666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Configure a pristine, minimal Next.js 16 installation using JavaScript, ESLint integration, and clean Tailwind layout definitions to handle future application components.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Dependency Minimization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65818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Maintain total architectural transparency by avoiding fat abstractions; the entire multi-phase system runs reliably using only zod, groq-sdk, @google/genai, and openai.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10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Environment Variables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Dynamic API Ingress: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Storing provider-specific developer tokens inside local environmental configurations.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Strict Directory Sandboxing: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Restricting secrets through automatic, root-level ignores to block git leakage.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Local Isolation Pattern: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Avoiding dangerous hardcoded string values inside repository source structures.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Runtime State Hydration: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Changes to system env values require full development server resets to take effect.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11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The First Route Handler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Structural Routing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10666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In Next.js 16, directory naming structures directly map to operational API URLs. Creating deep subdirectories handles clean, logical separation of endpoints.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Uniform Ingress Contracts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9"/>
          <p:cNvSpPr/>
          <p:nvPr/>
        </p:nvSpPr>
        <p:spPr>
          <a:xfrm>
            <a:off x="65818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Standardize application interface boundaries by exposing strict, asynchronous HTTP verbs returning typed JSON payloads directly to caller systems.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12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The ReAct Pattern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1038240" y="2028960"/>
            <a:ext cx="1038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Interleaved Logic Phases: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Deconstructing the cognitive loop into strict cycles of reasoning, execution, and environment feedback.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1038240" y="274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Explicit Planning (Reason):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Forcing models to declare explicit internal thinking lines before committing to external operations.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1038240" y="319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Siloed Tool Operations (Act):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Ensuring that actions target exactly one tool at a time, limiting wild computational runs.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1038240" y="364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Reflective Capture (Observe):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Passing exact outcomes back as context, making sure the model reacts to real runtime data.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9"/>
          <p:cNvSpPr/>
          <p:nvPr/>
        </p:nvSpPr>
        <p:spPr>
          <a:xfrm>
            <a:off x="771480" y="274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0"/>
          <p:cNvSpPr/>
          <p:nvPr/>
        </p:nvSpPr>
        <p:spPr>
          <a:xfrm>
            <a:off x="771480" y="319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1"/>
          <p:cNvSpPr/>
          <p:nvPr/>
        </p:nvSpPr>
        <p:spPr>
          <a:xfrm>
            <a:off x="771480" y="364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13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Why Structured JSON, Not Regex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Brittle Parser Deficiencies: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Standard regular expressions break immediately upon slight structural changes in LLM outputs.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Guaranteed Output Contracts: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Forcing providers to output verified, parsing-friendly JSON structures natively.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Deterministic Type Parsing: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Minimizing structural interpretation runtime errors by using simple, native JSON decodes.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Validation Boundaries: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Creating clear, predictable interfaces that enforce strict schemas before logic executions.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14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Building the Tool Registry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Unified Function Interfaces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7"/>
          <p:cNvSpPr/>
          <p:nvPr/>
        </p:nvSpPr>
        <p:spPr>
          <a:xfrm>
            <a:off x="10666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Every tool in the system matches a standardized async signature. Universal inputs and outputs allow easy registration and automatic invocation.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Exposed Capabilities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9"/>
          <p:cNvSpPr/>
          <p:nvPr/>
        </p:nvSpPr>
        <p:spPr>
          <a:xfrm>
            <a:off x="65818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Register strict atomic actions like Calculator utilities or UTC timestamps, allowing the agent to fetch external data or run deterministic actions.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15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Security in the Calculator Tool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Dangerous Execution Surfaces: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Blindly running raw, unsanitized text evaluations creates severe security vulnerabilities.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Strict Regex Isolation: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Restricting inputs via regex to validate that only digits, decimals, and basic math tokens pass.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Deterministic Sanitization: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Explicitly sanitizing inputs at the tool level rather than relying on LLM self-policing.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Granular Error Isolation: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Unsafe characters immediately fail the tool call before hitting critical system resources.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16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The System Prompt Contract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Cognitive Alignment Rules: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Setting baseline behavioral patterns, expected payload structures, and operational boundaries.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Rigid Format Enforcement: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Defining clear schemas for tool usage blocks and terminal output structures.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Strict Operational Limits: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Prohibiting hallucinatory reasoning turns, unassigned tool usage, and fake state data.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State Loop Consistency: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Ensuring the engine processes exactly one plan/action cycle per operational turn.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17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Deterministic Termination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Step Ceiling Guards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7"/>
          <p:cNvSpPr/>
          <p:nvPr/>
        </p:nvSpPr>
        <p:spPr>
          <a:xfrm>
            <a:off x="10666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Prevent runaway loops by enforcing hard limits on maximum step runs. Breaking loops immediately stops resource drain and saves api costs.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Execution Safety Checks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9"/>
          <p:cNvSpPr/>
          <p:nvPr/>
        </p:nvSpPr>
        <p:spPr>
          <a:xfrm>
            <a:off x="65818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Establish strict timeouts and trap infinite operational loops by automatically detecting repeating tool calls and structural stagnation.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18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The Fallback Route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Resilient Recovery Plans: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Engaging structured recovery handlers when core reasoning systems fail to find optimal routes.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Direct Output Compilation: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Bypassing active tools on final fallback passes to produce structured, best-effort replies.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Avoiding Blank Outputs: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Guaranteeing the client receives a structured response, even if the primary agent loop breaks down.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Graceful Service Degradation: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Gracefully managing system exceptions internally instead of throwing raw server errors.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19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Whole-Loop Safety Guarantees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Maximum Iteration Ceilings: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Hard execution halts limit total model requests, safeguarding developer APIs.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Turn-Based Expiry Limits: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Individual steps are timed out, keeping long-running threads from blocking user processes.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Loop Repetition Intercepts: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Stoppage handlers trigger when identical sequential actions are detected.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Defense-in-Depth Patterns: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Layering several distinct guards together ensures high-reliability performance profiles.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1: FOUNDATIONS SLIDE 20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Phase 1 Reference Highlights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Scientific Research Roots: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ReAct system models build directly on validated autonomous agent loops.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Direct Framework Control: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Handling schema structures in code provides much better stability than black-box libraries.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Overlapping Defense Rules: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Using multiple protection filters is key to defending high-volume production APIs.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Simplifying Debugging Steps: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Minimal external tooling dependencies make tracking logical run errors straightforward.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1"/>
          <p:cNvSpPr/>
          <p:nvPr/>
        </p:nvSpPr>
        <p:spPr>
          <a:xfrm>
            <a:off x="5662440" y="2619360"/>
            <a:ext cx="866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Inter SemiBold"/>
              </a:rPr>
              <a:t>PHASE 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2"/>
          <p:cNvSpPr/>
          <p:nvPr/>
        </p:nvSpPr>
        <p:spPr>
          <a:xfrm>
            <a:off x="5715000" y="3000240"/>
            <a:ext cx="761760" cy="9000"/>
          </a:xfrm>
          <a:prstGeom prst="rect">
            <a:avLst/>
          </a:prstGeom>
          <a:solidFill>
            <a:srgbClr val="D2D2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3"/>
          <p:cNvSpPr/>
          <p:nvPr/>
        </p:nvSpPr>
        <p:spPr>
          <a:xfrm>
            <a:off x="3463560" y="3247920"/>
            <a:ext cx="5264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00000"/>
                </a:solidFill>
                <a:effectLst/>
                <a:uFillTx/>
                <a:latin typeface="Lora"/>
              </a:rPr>
              <a:t>State Persistence &amp; Caching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2: STATE &amp; MEMORY SLIDE 22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The Serverless Memory Problem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Ephemeral Instances: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Serverless cloud architectures completely tear down environment states between distinct requests.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Unpredictable Ingress Targets: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Successive API calls frequently land on different servers, clearing any local memory variables.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Stateless Infrastructure: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Native Node processes cannot hold historical transaction data reliably across calls.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Required State Offloading: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State storage must be moved into highly available external stores to keep session data intact.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2: STATE &amp; MEMORY SLIDE 23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Caching the System Prompt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The "use cache" Directive: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 powerful Next.js experimental compiler optimization that speeds up complex rendering.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Minimizing Compute Redundancy: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Heavy, dynamic prompt generations run once and cache across multiple client interactions.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6"/>
          <p:cNvSpPr/>
          <p:nvPr/>
        </p:nvSpPr>
        <p:spPr>
          <a:xfrm>
            <a:off x="1038240" y="2920320"/>
            <a:ext cx="1038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Dramatically Reduced Latency: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Cuts down processing overhead by storing common baseline instruction blocks close to the engine.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1038240" y="364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Clean Configuration Controls: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Configured via straightforward next.config settings to manage global caching.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1"/>
          <p:cNvSpPr/>
          <p:nvPr/>
        </p:nvSpPr>
        <p:spPr>
          <a:xfrm>
            <a:off x="771480" y="364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2: STATE &amp; MEMORY SLIDE 24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Understanding Tokens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Structural Building Blocks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7"/>
          <p:cNvSpPr/>
          <p:nvPr/>
        </p:nvSpPr>
        <p:spPr>
          <a:xfrm>
            <a:off x="10666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Models process text via parsed semantic tokens rather than raw character strings. On average, a standard English word translates to about 1.3 individual tokens.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Context Limits &amp; Failures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9"/>
          <p:cNvSpPr/>
          <p:nvPr/>
        </p:nvSpPr>
        <p:spPr>
          <a:xfrm>
            <a:off x="65818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Every language model enforces a strict maximum ceiling on its context capacity. Exceeding this limits triggers catastrophic execution halts.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2: STATE &amp; MEMORY SLIDE 25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Token Budget Enforcement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Token Usage Estimation: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Running fast, local approximation checks prior to making external model calls.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Dynamic Message Pruning: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Automatically trimming the oldest elements of a conversation to fit budget rules.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Core Instruction Protection: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Ensuring original goals and baseline system contracts are never deleted.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Context Symmetry Rules: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Trimming message sequences in full prompt-and-response pairs to avoid orphan outputs.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2: STATE &amp; MEMORY SLIDE 26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Cross-Request Memory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Persistent Session IDs: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Storing unique user session tracking identifiers directly inside HTTP cookies.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Securing Storage Channels: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Applying httpOnly and secure flags to prevent browser-side cross-site scripting risks.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Async Cookies Retrieval: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Next.js 16 cookies() calls return Promises, demanding explicit await patterns.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Stateless to Stateful: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Reconstructing historical timelines on demand from external databases using session keys.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2: STATE &amp; MEMORY SLIDE 27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Session Store Design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Interface-Driven Store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7"/>
          <p:cNvSpPr/>
          <p:nvPr/>
        </p:nvSpPr>
        <p:spPr>
          <a:xfrm>
            <a:off x="10666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Define a clean, isolated boundary for managing sessions. Using distinct, simple actions allows developers to swap backend databases without changing any application code.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Development In-Memory Store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9"/>
          <p:cNvSpPr/>
          <p:nvPr/>
        </p:nvSpPr>
        <p:spPr>
          <a:xfrm>
            <a:off x="65818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An in-memory Map structure caches active runtime arrays locally. Keep key expirations on active maps to clean up older, inactive sessions.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2: STATE &amp; MEMORY SLIDE 28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Async cookies() in Next.js 16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Unified Streaming Ingress: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Asynchronous cookies help next-gen frameworks optimize static build performance.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Required Promise Resolves: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Missing an await on cookies() blocks variable lookups and breaks handler paths.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Strict Structural Checks: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Transitioning to async methods prevents dangerous thread blocks in performance routing.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Static Performance Benefits: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Developers can dynamically render page components while keeping core files highly cached.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2: STATE &amp; MEMORY SLIDE 29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Real-Time Cost Tracking Setup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Provider Usage Capture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7"/>
          <p:cNvSpPr/>
          <p:nvPr/>
        </p:nvSpPr>
        <p:spPr>
          <a:xfrm>
            <a:off x="10666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Every response payload from major providers includes detailed tracking parameters outlining exact token metrics consumed in the run.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Tracking Accumulator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Aggregate total transaction metrics sequentially inside the session storage object to feed financial auditing layers in Phase 3.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2: STATE &amp; MEMORY SLIDE 30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Phase 2 Reference Highlights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Safe Prompt Cache Rules: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Dynamic session data must never leak into shared application-wide cached memory.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Token Count Heuristics: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Fast character calculations work well as cheap local estimation filters.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Storage Architecture Realities: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Local in-memory session arrays are strictly meant for local developer sandbox setups.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Multi-Instance Databases: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Production deployments must leverage shared database stores to maintain reliable session sync.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Box 1"/>
          <p:cNvSpPr/>
          <p:nvPr/>
        </p:nvSpPr>
        <p:spPr>
          <a:xfrm>
            <a:off x="5657760" y="2619360"/>
            <a:ext cx="875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Inter SemiBold"/>
              </a:rPr>
              <a:t>PHASE 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2"/>
          <p:cNvSpPr/>
          <p:nvPr/>
        </p:nvSpPr>
        <p:spPr>
          <a:xfrm>
            <a:off x="5715000" y="3000240"/>
            <a:ext cx="761760" cy="9000"/>
          </a:xfrm>
          <a:prstGeom prst="rect">
            <a:avLst/>
          </a:prstGeom>
          <a:solidFill>
            <a:srgbClr val="D2D2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3"/>
          <p:cNvSpPr/>
          <p:nvPr/>
        </p:nvSpPr>
        <p:spPr>
          <a:xfrm>
            <a:off x="2973600" y="3247920"/>
            <a:ext cx="62445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00000"/>
                </a:solidFill>
                <a:effectLst/>
                <a:uFillTx/>
                <a:latin typeface="Lora"/>
              </a:rPr>
              <a:t>Advanced Retrieval Architectures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3: RETRIEVAL SLIDE 32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Retrieval-Augmented Generation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Context Deficiencies: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Models are inherently bounded by strict historical training cutoffs and lack internal private data access.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Context Augmentation: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Dynamically retrieving real-world documents and feeding them directly into prompt structures.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Standard Linear RAG: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Simple one-shot searches pull data, inject it as context, and complete without checking quality.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No Retrospective Analysis: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Traditional configurations blindly accept low-quality source results without any real-time validation.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3: RETRIEVAL SLIDE 33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Vectorless Retrieval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Lightweight Alternatives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Skip expensive vector database hosting for structured datasets that fit well in standard relational schemas.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Lower Infrastructure Debt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Avoid the operational complexity and pricing burdens of multi-tiered embedding sync systems.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3: RETRIEVAL SLIDE 34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Keyword and Tag Scoring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Tokenized Queries: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Breaking incoming questions into clean, matching words while dropping structural fluff.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Layered Weight Scales: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Prioritizing tags and metadata, followed by titles, then deep body paragraph text.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Fully Traceable Matches: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Matches are fully explainable, allowing clear debugging of search result selections.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Zero External Footprints: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Run matching scoring steps completely inside native JavaScript filters without any database calls.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7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3: RETRIEVAL SLIDE 35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Agentic RAG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Intelligent Evaluation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A secondary logic check grades the search results to see if they actually answer the question.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Self-Corrective Loops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Failing grade results trigger automatic query rewrites and retry searches inside strict loops.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3: RETRIEVAL SLIDE 36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The Retrieval Judge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Low Temperature Settings: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Running grading requests with low temperature rules to ensure steady, clinical evaluations.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Strict Assessment Goals: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Evaluating context quality solely on its ability to answer the client request.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Fail-Open Implementations: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System fails open on internal judge issues, passing whatever search data exists to avoid blocks.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Balancing Service Access: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Prioritizing service availability over excessively strict context grading layers.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3: RETRIEVAL SLIDE 37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Vectorless Beyond Documents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Direct Database Lookups: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Pulling target system entities directly by key ID queries (e.g., retrieving specific order records).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No High-Dimensional Ranking: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Exact database matching skips complex similarity checks for transactional values.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Real-Time API Fetching: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Pulling fresh context states directly from live APIs when needed.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Optimizing Retrieval Shapes: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Designing custom extraction tools for each unique data structure in the system.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3: RETRIEVAL SLIDE 38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Tool Disambiguation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Refining Descriptions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7"/>
          <p:cNvSpPr/>
          <p:nvPr/>
        </p:nvSpPr>
        <p:spPr>
          <a:xfrm>
            <a:off x="10666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Since tool descriptions are the only routing map models have, keeping descriptions clean is key to ensuring correct tool selection.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Adding Exclusions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Explicitly document what a tool is NOT designed to do to keep models from taking incorrect action paths.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3: RETRIEVAL SLIDE 39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Real-Time Cost Auditing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Provider Tier Pricing: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Keep pricing tables up to date with exact costs for every million tokens used.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Separating Token Categories: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Tracking input and output usage separately to ensure exact billing data.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Output Cost Premiums: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Tracking output tokens closely as they cost significantly more than input context.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Unidentified Model Safeties: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Applying generic fallback pricing policies so unknown models never read as free.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8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3: RETRIEVAL SLIDE 40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The Cost Ledger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Interactive Session Tracking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Maintain historical session objects to log active turn counts, token metrics, and real-time dollar totals in detail.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Financial Auditing Layers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Providing direct financial transparency per user interaction, letting developers spot cost anomalies immediately.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3: RETRIEVAL SLIDE 41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Phase 3 Reference Highlights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Scale Boundaries: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Traditional vector storage pipelines are still very useful when working with massive unstructured archives.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Security and Stability Settings: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Choosing fail-open configurations balances usability against strict context limits.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Nuanced Pricing Structures: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Provider pricing models have deep variations that go far beyond basic flat fees.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Smarter Integration Matches: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Pairing the correct search tool to the raw structure of your source data is essential.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Box 1"/>
          <p:cNvSpPr/>
          <p:nvPr/>
        </p:nvSpPr>
        <p:spPr>
          <a:xfrm>
            <a:off x="5657760" y="2619360"/>
            <a:ext cx="875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Inter SemiBold"/>
              </a:rPr>
              <a:t>PHASE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2"/>
          <p:cNvSpPr/>
          <p:nvPr/>
        </p:nvSpPr>
        <p:spPr>
          <a:xfrm>
            <a:off x="5715000" y="3000240"/>
            <a:ext cx="761760" cy="9000"/>
          </a:xfrm>
          <a:prstGeom prst="rect">
            <a:avLst/>
          </a:prstGeom>
          <a:solidFill>
            <a:srgbClr val="D2D2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3"/>
          <p:cNvSpPr/>
          <p:nvPr/>
        </p:nvSpPr>
        <p:spPr>
          <a:xfrm>
            <a:off x="3048480" y="3247920"/>
            <a:ext cx="60944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00000"/>
                </a:solidFill>
                <a:effectLst/>
                <a:uFillTx/>
                <a:latin typeface="Lora"/>
              </a:rPr>
              <a:t>Enterprise Guardrails &amp; Security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1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4: GUARDRAILS SLIDE 43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Two Distinct Threat Categories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PII Exposure Risks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7"/>
          <p:cNvSpPr/>
          <p:nvPr/>
        </p:nvSpPr>
        <p:spPr>
          <a:xfrm>
            <a:off x="10666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Protecting user privacy by blocking sensitive, private identifiers (like SSNs, emails, and credit cards) from leaking to third-party endpoints.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Prompt Injection Attacks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Defending system integrity by blocking malicious user prompts designed to bypass instructions and hijack model behavior.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4: GUARDRAILS SLIDE 44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PII Redaction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Regex Extraction Layers: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Scanning inputs with regex rules to spot emails, phone numbers, and credit cards instantly.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Generic Token Replacement: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Replacing sensitive user strings with harmless, generic labels before sending API calls.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Non-Negotiable Processing: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Running validation filters on all incoming client payloads without exception.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Data Protection Focus: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Minimizing the amount of personal user data shared with third-party LLM providers.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4: GUARDRAILS SLIDE 45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Why Redact, Don't Just Trust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No Data Privacy Guarantees: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Developers have zero control over how third parties process or store payload logs.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Permanent Data Trails: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Critical database logging often captures private transaction strings during system runs.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Smarter Privacy Defenses: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The most reliable way to protect sensitive data is simply to never send it to begin with.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No Impact on Reasoning: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Models rarely need the actual sensitive literal value to execute reasoning steps.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2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4: GUARDRAILS SLIDE 46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Jailbreak &amp; Injection Detection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Heuristic Match Scanning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Deploying regex patterns to intercept standard override phrases, like "ignore previous instructions", right at ingress.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Blocking System Exfiltration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Blocking requests designed to extract internal prompt files or hijack predefined system persona structures.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4: GUARDRAILS SLIDE 47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Fail Closed by Design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Enforcing Strict Security: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Any internal errors within safety modules trigger immediate request blocks.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No Free Passes on Failures: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System prevents standard fallback responses if active security filters go offline.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Contrasting Safety Rules: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Choosing a secure, fail-closed posture here, unlike the looser retrieval judge rules.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Proactive Risk Defenses: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Selecting strong security defaults to protect the integrity of parent runtime servers.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4: GUARDRAILS SLIDE 48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Structured Output with Zod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Zod Integration: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Building robust, typed run-time schemas to define expected API output shapes.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Safe Parsing Methods: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Using safeParse interfaces to catch issues cleanly instead of throwing uncaught exceptions.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Data Integrity Assurances: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Validating that return payloads conform to exact property types and allowed array structures.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Semantic Structure Checks: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JSON parsing only confirms string validity; Zod guarantees real data structure types.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3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4: GUARDRAILS SLIDE 49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Validate and Retry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Actionable Error Feedback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When validation checks fail, feed raw validation error logs directly back to the model as context to trigger correction runs.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Strict Iteration Ceilings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Place a firm cap on maximum retry counts to prevent model calls from spinning endlessly on hard parsing failures.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4: GUARDRAILS SLIDE 50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The Full Guardrail Pipeline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First Layer: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Running schema checks first as they are highly cost-efficient and provide instant feedback.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Second Layer: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Injection filters run next to halt suspicious traffic before hitting any models.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Third Layer: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PII scrubbing transforms payload strings without blocking the request flow.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Cost-Conscious Ordering: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Placing the fastest and cheapest checks at the very front of the ingress stack.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4: GUARDRAILS SLIDE 51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Phase 4 Reference Highlights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Heuristic Safety Limits: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Simple regex filters provide a solid first line of defense but are not complete silver bullets.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Paraphrasing Vulnerabilities: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Creative, indirect phrasing bypasses simple pattern-matching layers.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Zod Control Flow Benefits: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Using safeParse lets developers manage invalid responses with explicit fallback logic.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Dynamic Self-Correction: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Dynamic feedback loops significantly improve processing success rates for edge cases.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Box 1"/>
          <p:cNvSpPr/>
          <p:nvPr/>
        </p:nvSpPr>
        <p:spPr>
          <a:xfrm>
            <a:off x="5662440" y="2619360"/>
            <a:ext cx="866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Inter SemiBold"/>
              </a:rPr>
              <a:t>PHASE 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Rectangle 2"/>
          <p:cNvSpPr/>
          <p:nvPr/>
        </p:nvSpPr>
        <p:spPr>
          <a:xfrm>
            <a:off x="5715000" y="3000240"/>
            <a:ext cx="761760" cy="9000"/>
          </a:xfrm>
          <a:prstGeom prst="rect">
            <a:avLst/>
          </a:prstGeom>
          <a:solidFill>
            <a:srgbClr val="D2D2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3"/>
          <p:cNvSpPr/>
          <p:nvPr/>
        </p:nvSpPr>
        <p:spPr>
          <a:xfrm>
            <a:off x="3443760" y="3247920"/>
            <a:ext cx="53042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00000"/>
                </a:solidFill>
                <a:effectLst/>
                <a:uFillTx/>
                <a:latin typeface="Lora"/>
              </a:rPr>
              <a:t>Tool Architecture Standards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5: TOOL ARCHITECTURES SLIDE 53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Model Context Protocol (MCP)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Unified Connectivity: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Introducing a standardized protocol to connect LLMs to external data and tools seamlessly.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Architecture Decoupling: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Isolating tool definitions from the core model routing logic using transport layers.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Bidirectional Streaming: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Enabling bidirectional messaging interfaces for continuous context updates during execution.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Open Integration Standards: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Eliminating proprietary SDK dependencies across custom client applications.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66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9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5: TOOL ARCHITECTURES SLIDE 54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1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The Tool Schema Contract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Strict Structural Definitions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7"/>
          <p:cNvSpPr/>
          <p:nvPr/>
        </p:nvSpPr>
        <p:spPr>
          <a:xfrm>
            <a:off x="10666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Define tool interfaces using JSON schema standards. Enforce required parameters, explicit types, and detailed descriptions to assist model planning.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Self-Documenting Code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9"/>
          <p:cNvSpPr/>
          <p:nvPr/>
        </p:nvSpPr>
        <p:spPr>
          <a:xfrm>
            <a:off x="6581880" y="2695680"/>
            <a:ext cx="45432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Maintain parameter contracts directly within tool configuration blocks, ensuring models automatically adapt to new parameter sets.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5: TOOL ARCHITECTURES SLIDE 55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Dynamic Tool Discovery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On-Demand Capabilities: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Allowing agents to query a dynamic index of available tools based on user intent.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Lazy Initialization: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Loading heavy tool runtimes only when explicitly invoked by the ReAct reasoning engine.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Context Minimization: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Injecting only highly relevant tool schemas into system prompts to conserve token budgets.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Extensible Registries: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Registering new actions dynamically without redeploying the core application loop.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8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5: TOOL ARCHITECTURES SLIDE 56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1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Tool Execution Isolation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Process Sandboxing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Execute dynamic third-party integrations inside isolated, lightweight container environments to protect system processes.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Resource Constraint Controls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Establish strict runtime limits for disk access, network connections, and CPU usage on active tool worker processes.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5: TOOL ARCHITECTURES SLIDE 57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Asynchronous Tool Handlers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Non-Blocking Pipelines: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Leveraging modern Promise-based architectures to execute tool tasks in parallel background loops.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Concurrency Management: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Managing high-volume tool execution streams using unified Promise pooling layers.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Active State Streaming: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Pushing immediate, partial execution feedback back to client listening sockets.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Graceful Interrupt Control: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Implementing AbortController primitives to terminate hanging tool tasks instantly.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8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9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5: TOOL ARCHITECTURES SLIDE 58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1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Tool Parameter Validation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Ingress Type Verification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Run explicit validation passes on incoming parameters using schemas before executing tool-specific code blocks.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Self-Healing System Traces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Provide highly descriptive parameter validation error outputs, allowing models to instantly correct parameters on retries.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5: TOOL ARCHITECTURES SLIDE 59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Handling Long-Running Tools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Decoupled Job Handlers: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Offloading heavy processes (like system scraping) to background messaging queues.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Immediate Acknowledgment: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Returning immediate transactional job IDs to caller models to free execution loops.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Polling &amp; Webhook Handlers: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Allowing cognitive engines to query status endpoints when checking run completions.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State Preservation Rules: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Persisting partial results sequentially to safe database engines during steps.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5: TOOL ARCHITECTURES SLIDE 60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9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Phase 5 Reference Highlights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Protocol Portability: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Standardizing on MCP allows dynamic transitions between multiple model runtimes.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Defensive Schema Designs: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Clear schema boundaries minimize incorrect parameters from language models.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Compute Sandbox Mandates: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Production environments require clean sandboxing to prevent server compromise.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Event Streams: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Leveraging unified asynchronous patterns is critical for managing slow external API integrations.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TextBox 1"/>
          <p:cNvSpPr/>
          <p:nvPr/>
        </p:nvSpPr>
        <p:spPr>
          <a:xfrm>
            <a:off x="5657760" y="2619360"/>
            <a:ext cx="875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Inter SemiBold"/>
              </a:rPr>
              <a:t>PHASE 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Rectangle 2"/>
          <p:cNvSpPr/>
          <p:nvPr/>
        </p:nvSpPr>
        <p:spPr>
          <a:xfrm>
            <a:off x="5715000" y="3000240"/>
            <a:ext cx="761760" cy="9000"/>
          </a:xfrm>
          <a:prstGeom prst="rect">
            <a:avLst/>
          </a:prstGeom>
          <a:solidFill>
            <a:srgbClr val="D2D2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Box 3"/>
          <p:cNvSpPr/>
          <p:nvPr/>
        </p:nvSpPr>
        <p:spPr>
          <a:xfrm>
            <a:off x="3646800" y="3247920"/>
            <a:ext cx="48985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00000"/>
                </a:solidFill>
                <a:effectLst/>
                <a:uFillTx/>
                <a:latin typeface="Lora"/>
              </a:rPr>
              <a:t>Multi-Agent Coordination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6: COORDINATION SLIDE 62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Beyond Single Agent Systems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Cognitive Bottlenecks: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Single agent systems degrade quickly when attempting to process diverse or competing rules.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Specialized Capabilities: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Dividing complex goals among distinct agents containing targeted system instructions.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Context Minimization: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Limiting agent-specific scopes to significantly reduce overall prompt token sizes.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Modular Scalability: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Scaling independent worker components separately without redeploying the main orchestrator.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3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6: COORDINATION SLIDE 63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6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Agent Coordination Topologies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Hierarchical Control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Deploy central orchestrators that manage child worker loops. The coordinator plans workflows and routes outputs explicitly.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Choreographed Assemblies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Connect agents in sequential, event-driven pipelines, where each agent processes output from the previous block directly.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6: COORDINATION SLIDE 64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Orchestrator-Worker Pattern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Strategic Central Planning: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The supervising model evaluates incoming user instructions and maps tasks to child profiles.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Parallel Task Dispatches: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Distributing execution across concurrent worker processes to reduce waiting times.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Dynamic Consensus Validation: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Aggregating and cross-checking worker outputs to ensure accurate results.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Step-by-Step Task Delegation: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Retaining total control over tool invocations via deterministic routing scripts.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3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4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6: COORDINATION SLIDE 65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6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Routing &amp; Dispatching Logic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Deterministic State Tables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Run clean router code paths to route messages immediately when task targets are highly predictable.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Semantic Classifier Models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Leverage extremely fast, low-latency classification runs to evaluate task destinations based on user input intent.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6: COORDINATION SLIDE 66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Sharing Context Safely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Immutable State Ledgers: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Treating shared session histories as append-only records to avoid historical distortion.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Dynamic Context Pruning: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Injecting only task-relevant execution history when dispatching subtasks.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Strict Structural Schemas: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Enforcing strong data schemas for all inter-agent messages using Zod filters.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Context Leak Safeguards: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Blocking the sharing of raw, unredacted security tokens between system modules.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6: COORDINATION SLIDE 67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4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Preventing Cascade Failures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Isolated Error Catchers: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Wrapping agent invocations in strict try/catch loops to contain issues immediately.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Active Circuit Breakers: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Halting downstream agent processes if a prerequisite service returns repeated failures.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Default Fail-Safe Outlines: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Providing structured fallback responses instead of forwarding raw execution trace errors.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Maximum Network Depths: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Restricting the maximum call depth between agents to stop infinite cascades.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4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5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6: COORDINATION SLIDE 68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7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Multi-Agent Testing Strategies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Mocking Downstream Nodes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Isolate agent testing by stubbing downstream models with predictable, pre-validated mock responses in test suites.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Deterministic E2E Verification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Track entire conversation executions in continuous integration runs to confirm agents reach expected target endpoints.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6: COORDINATION SLIDE 69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4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Phase 6 Reference Highlights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Orchestrated Routing Controls: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Maintaining human-in-the-loop triggers is essential for multi-agent updates.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The Power of Isolation: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Fine-tuned single-task agents consistently outperform all-in-one execution scripts.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Shared State Consistency: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Shared storage engines are mandatory to synchronize states across worker groups.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Minimizing Token Redundancy: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Strategic history pruning is vital to control scaling billing costs.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TextBox 1"/>
          <p:cNvSpPr/>
          <p:nvPr/>
        </p:nvSpPr>
        <p:spPr>
          <a:xfrm>
            <a:off x="5662440" y="2619360"/>
            <a:ext cx="866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Inter SemiBold"/>
              </a:rPr>
              <a:t>PHASE 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Rectangle 2"/>
          <p:cNvSpPr/>
          <p:nvPr/>
        </p:nvSpPr>
        <p:spPr>
          <a:xfrm>
            <a:off x="5715000" y="3000240"/>
            <a:ext cx="761760" cy="9000"/>
          </a:xfrm>
          <a:prstGeom prst="rect">
            <a:avLst/>
          </a:prstGeom>
          <a:solidFill>
            <a:srgbClr val="D2D2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5" name="TextBox 3"/>
          <p:cNvSpPr/>
          <p:nvPr/>
        </p:nvSpPr>
        <p:spPr>
          <a:xfrm>
            <a:off x="3158640" y="3247920"/>
            <a:ext cx="5874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00000"/>
                </a:solidFill>
                <a:effectLst/>
                <a:uFillTx/>
                <a:latin typeface="Lora"/>
              </a:rPr>
              <a:t>Production Scaling &amp; Reliability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7: PRODUCTION SCALING SLIDE 71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High-Availability Deployment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Global Load Distribution: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Spreading agent traffic across multiple geographic server locations globally.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Multi-Region Resilience: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Routing incoming client requests dynamically if an entire cloud zone goes offline.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Stateless Compute Layers: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Keeping processing engines decoupled from session data to enable instant scaling.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Automated Scaling Triggers: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Scaling infrastructure automatically based on CPU and request volume patterns.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8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9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7: PRODUCTION SCALING SLIDE 72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1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Rate Limiting &amp; API Quotas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Ingress Request Throttle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Deploy token-bucket rate limiting at your gateway endpoints to prevent user traffic from overloading backend systems.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Provider Quota Shielding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Implement smart local queue systems to space model requests, avoiding hitting upstream provider rate limits.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7: PRODUCTION SCALING SLIDE 73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Fault-Tolerant Async Queues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Decoupled Ingress Queues: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Buffering client requests in persistent message brokers (like Redis or SQS).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Automatic Retry Backoff: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Running failed execution requests automatically with exponential backoff timers.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Dead Letter Queuing: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Moving repeatedly failing jobs to dead-letter storage for hands-on developer audits.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State Snapshot Backups: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Capturing execution states before every step to recover from runtime errors.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8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9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7: PRODUCTION SCALING SLIDE 74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1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Dynamic Fallback Providers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Active Health Probes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Run automated checks on provider availability, flagging instances instantly if error rates rise.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Seamless Model Swapping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Reroute failing runs dynamically to alternative providers (e.g., swapping Groq with Gemini) to maintain uptime.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7: PRODUCTION SCALING SLIDE 75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Telemetry, Logs, &amp; Monitoring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Unified Tracing Standards: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Formatting all runtime trace points under standard OpenTelemetry protocols.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Visualizing Execution Paths: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Exporting agent traces to analytical tools to monitor process durations.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Aggregating Error Rates: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Centralizing exceptions to catch prompt drift and API failures early.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Automated Pager Alerts: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Routing critical alerts to operations teams when execution failures spike.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8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9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7: PRODUCTION SCALING SLIDE 76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1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CI/CD Pipeline for Agents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Automated Pull Requests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Run automated linting, schema validation, and complete unit testing sequences on every incoming branch change.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Shadow Run Deployments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Deploy updates in shadow mode, sending real traffic copies to new agent builds to compare output consistency.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7: PRODUCTION SCALING SLIDE 77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Continuous Evaluation (Evals)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Standard Assertions: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Running structured regression tests on a set of reference questions to verify responses.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Automated Judges: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Deploying evaluator models to grade response relevance and accuracy continuously.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Tracking Quality Drift: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Identifying changes in model response quality across provider updates.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Dataset Curation: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Building evaluation datasets continuously from curated production user interactions.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8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9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7: PRODUCTION SCALING SLIDE 78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1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Optimizing Serverless Starts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Minimizing Bundle Sizes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Keep serverless bundles small by using tree-shaking and avoiding heavy external library dependencies.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Global Edge Runtimes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Run lightweight routing tasks on edge runtime workers to minimize connection latency for global users.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7: PRODUCTION SCALING SLIDE 79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8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Phase 7 Reference Highlights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Planning for Failure: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Production environments require treating upstream API failures as regular occurrences.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Dynamic Model Failover: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Multi-provider failover is the most reliable way to maintain continuous uptime.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Continuous Quality Evals: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Automated testing pipelines are essential to confidently deploy agent updates.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Serverless Cost Control: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Monitoring execution times is critical to prevent runaway cloud billing.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TextBox 1"/>
          <p:cNvSpPr/>
          <p:nvPr/>
        </p:nvSpPr>
        <p:spPr>
          <a:xfrm>
            <a:off x="5657760" y="2619360"/>
            <a:ext cx="875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Inter SemiBold"/>
              </a:rPr>
              <a:t>PHASE 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Rectangle 2"/>
          <p:cNvSpPr/>
          <p:nvPr/>
        </p:nvSpPr>
        <p:spPr>
          <a:xfrm>
            <a:off x="5715000" y="3000240"/>
            <a:ext cx="761760" cy="9000"/>
          </a:xfrm>
          <a:prstGeom prst="rect">
            <a:avLst/>
          </a:prstGeom>
          <a:solidFill>
            <a:srgbClr val="D2D2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9" name="TextBox 3"/>
          <p:cNvSpPr/>
          <p:nvPr/>
        </p:nvSpPr>
        <p:spPr>
          <a:xfrm>
            <a:off x="2903400" y="3247920"/>
            <a:ext cx="63846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150" b="0" u="none" strike="noStrike">
                <a:solidFill>
                  <a:srgbClr val="000000"/>
                </a:solidFill>
                <a:effectLst/>
                <a:uFillTx/>
                <a:latin typeface="Lora"/>
              </a:rPr>
              <a:t>Enterprise Compliance &amp; Security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8: SECURITY SLIDE 81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2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Security Threat Modeling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Adversarial Analysis: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Mapping out system attack vectors to proactively design robust technical guardrails.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Privilege Escalation Risks: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Restricting tool authorization layers to prevent agents from exceeding original bounds.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Indirect Prompt Injections: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Securing data retrieval ingestion pathways against malicious, hidden prompts.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Denial of Service Limits: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Establishing resource constraints to prevent agents from executing infinite loops.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1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2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3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8: SECURITY SLIDE 82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5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Compliance &amp; Data Sovereignty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Data Locality Rules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Ensure sensitive transaction variables and customer history files are processed strictly within regional cloud boundaries.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Zero Retention Contracts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Establish enterprise compliance standards by using model endpoints that guarantee zero data retention policies.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8: SECURITY SLIDE 83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2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Audit Logs &amp; Accountability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Immutable Activity Records: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Logging all agent planning traces, tool executions, and client responses securely.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Strict Cryptographic Hashes: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Protecting logs with secure hashes to verify data integrity during audits.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Granular Trace Auditing: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Recording complete transaction details, including exact tool inputs and raw outputs.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Secure Data Lifecycle: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Maintaining logs under strict lifecycle policies to meet regulatory requirements.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2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3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8: SECURITY SLIDE 84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5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Securing Tool Access Control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User-Scoped Permissions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Verify user access tokens dynamically at the tool execution level before allowing data modifications.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Strict Cryptographic Tokens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Sign all outbound tool requests with secure, expiring cryptographic keys to prevent message tampering.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8: SECURITY SLIDE 85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2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Automated Vulnerability Scans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Static Code Security: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Scanning repository files continuously in CI/CD pipelines to catch secrets and bugs early.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Dynamic Vulnerability Tests: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Running automated payload injection tests against live endpoints to test defenses.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Dependency Risk Monitoring: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Monitoring third-party libraries automatically for newly disclosed security issues.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Secure Base Container Images: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Rebuilding container environments using minimal, verified base images regularly.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1" name="Picture 1" descr="image.png"/>
          <p:cNvPicPr/>
          <p:nvPr/>
        </p:nvPicPr>
        <p:blipFill>
          <a:blip r:embed="rId1"/>
          <a:stretch/>
        </p:blipFill>
        <p:spPr>
          <a:xfrm>
            <a:off x="7714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2" name="Picture 2" descr="image.png"/>
          <p:cNvPicPr/>
          <p:nvPr/>
        </p:nvPicPr>
        <p:blipFill>
          <a:blip r:embed="rId2"/>
          <a:stretch/>
        </p:blipFill>
        <p:spPr>
          <a:xfrm>
            <a:off x="6286680" y="2028960"/>
            <a:ext cx="5133600" cy="14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3" name="TextBox 3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8: SECURITY SLIDE 86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Rectangle 4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5" name="TextBox 5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Incident Response Playbooks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Box 6"/>
          <p:cNvSpPr/>
          <p:nvPr/>
        </p:nvSpPr>
        <p:spPr>
          <a:xfrm>
            <a:off x="10666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Instant System Kill-Switches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Box 7"/>
          <p:cNvSpPr/>
          <p:nvPr/>
        </p:nvSpPr>
        <p:spPr>
          <a:xfrm>
            <a:off x="10666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Deploy immediate control mechanisms to pause specific agent loops or tool categories during active incidents.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Box 8"/>
          <p:cNvSpPr/>
          <p:nvPr/>
        </p:nvSpPr>
        <p:spPr>
          <a:xfrm>
            <a:off x="6581880" y="2324160"/>
            <a:ext cx="4770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Post-Incident Forensic Audits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Box 9"/>
          <p:cNvSpPr/>
          <p:nvPr/>
        </p:nvSpPr>
        <p:spPr>
          <a:xfrm>
            <a:off x="6581880" y="2695680"/>
            <a:ext cx="45432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57"/>
              </a:lnSpc>
            </a:pPr>
            <a:r>
              <a:rPr lang="en-US" sz="1130" b="0" u="none" strike="noStrike">
                <a:solidFill>
                  <a:srgbClr val="444444"/>
                </a:solidFill>
                <a:effectLst/>
                <a:uFillTx/>
                <a:latin typeface="Inter"/>
              </a:rPr>
              <a:t>Analyze immutable trace logs to trace compromise sources and quickly update security regex patterns.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PHASE 8: SECURITY SLIDE 87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2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Phase 8 Reference Highlights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Layered Security Controls: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Defensive structures must span from gateway inputs down to the tool runtimes.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Explicit Principle of Least Privilege: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Tools must only be granted the minimum resources needed to execute.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Comprehensive Audit Trails: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Trace accountability is essential for regulatory compliance and debugging.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Proactive Thread Prevention: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Automated testing is critical to identify and block emerging exploits.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TextBox 1"/>
          <p:cNvSpPr/>
          <p:nvPr/>
        </p:nvSpPr>
        <p:spPr>
          <a:xfrm>
            <a:off x="771480" y="581040"/>
            <a:ext cx="10648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0" u="none" strike="noStrike">
                <a:solidFill>
                  <a:srgbClr val="777777"/>
                </a:solidFill>
                <a:effectLst/>
                <a:uFillTx/>
                <a:latin typeface="Inter Medium"/>
              </a:rPr>
              <a:t>SUMMARY SLIDE 88 / 89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Rectangle 2"/>
          <p:cNvSpPr/>
          <p:nvPr/>
        </p:nvSpPr>
        <p:spPr>
          <a:xfrm>
            <a:off x="771480" y="828720"/>
            <a:ext cx="10648440" cy="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3" name="TextBox 3"/>
          <p:cNvSpPr/>
          <p:nvPr/>
        </p:nvSpPr>
        <p:spPr>
          <a:xfrm>
            <a:off x="771480" y="1266840"/>
            <a:ext cx="11180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3376"/>
              </a:lnSpc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Lora Medium"/>
              </a:rPr>
              <a:t>Final Summary and Resources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Box 4"/>
          <p:cNvSpPr/>
          <p:nvPr/>
        </p:nvSpPr>
        <p:spPr>
          <a:xfrm>
            <a:off x="1038240" y="202896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Production Architecture: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A complete, robust, multi-phase system built on next-gen serverless performance.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Box 5"/>
          <p:cNvSpPr/>
          <p:nvPr/>
        </p:nvSpPr>
        <p:spPr>
          <a:xfrm>
            <a:off x="1038240" y="247464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Open Protocols: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Leveraging open MCP standards eliminates vendor lock-in and simplifies scaling.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Box 6"/>
          <p:cNvSpPr/>
          <p:nvPr/>
        </p:nvSpPr>
        <p:spPr>
          <a:xfrm>
            <a:off x="1038240" y="292032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Comprehensive Safety: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Multilayered guardrails ensure highly reliable execution in enterprise environments.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Box 7"/>
          <p:cNvSpPr/>
          <p:nvPr/>
        </p:nvSpPr>
        <p:spPr>
          <a:xfrm>
            <a:off x="1038240" y="3366000"/>
            <a:ext cx="1038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Inter SemiBold"/>
              </a:rPr>
              <a:t>Ongoing Growth: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Inter"/>
              </a:rPr>
              <a:t> Continue updating system components as new models and patterns emerge in production.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Box 8"/>
          <p:cNvSpPr/>
          <p:nvPr/>
        </p:nvSpPr>
        <p:spPr>
          <a:xfrm>
            <a:off x="771480" y="202896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Box 9"/>
          <p:cNvSpPr/>
          <p:nvPr/>
        </p:nvSpPr>
        <p:spPr>
          <a:xfrm>
            <a:off x="771480" y="247464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Box 10"/>
          <p:cNvSpPr/>
          <p:nvPr/>
        </p:nvSpPr>
        <p:spPr>
          <a:xfrm>
            <a:off x="771480" y="292032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Box 11"/>
          <p:cNvSpPr/>
          <p:nvPr/>
        </p:nvSpPr>
        <p:spPr>
          <a:xfrm>
            <a:off x="771480" y="3366000"/>
            <a:ext cx="17100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999999"/>
                </a:solidFill>
                <a:effectLst/>
                <a:uFillTx/>
                <a:latin typeface="Inter Light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TextBox 1"/>
          <p:cNvSpPr/>
          <p:nvPr/>
        </p:nvSpPr>
        <p:spPr>
          <a:xfrm>
            <a:off x="3267360" y="2331360"/>
            <a:ext cx="56563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5063"/>
              </a:lnSpc>
            </a:pPr>
            <a:r>
              <a:rPr lang="en-US" sz="4050" b="0" u="none" strike="noStrike">
                <a:solidFill>
                  <a:srgbClr val="000000"/>
                </a:solidFill>
                <a:effectLst/>
                <a:uFillTx/>
                <a:latin typeface="Lora"/>
              </a:rPr>
              <a:t>Questions &amp; Discussion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Box 2"/>
          <p:cNvSpPr/>
          <p:nvPr/>
        </p:nvSpPr>
        <p:spPr>
          <a:xfrm>
            <a:off x="4452840" y="3212280"/>
            <a:ext cx="3285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6666"/>
                </a:solidFill>
                <a:effectLst/>
                <a:uFillTx/>
                <a:latin typeface="Inter Medium"/>
              </a:rPr>
              <a:t>THANK YOU FOR YOUR TIME.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Rectangle 3"/>
          <p:cNvSpPr/>
          <p:nvPr/>
        </p:nvSpPr>
        <p:spPr>
          <a:xfrm>
            <a:off x="5619600" y="3660120"/>
            <a:ext cx="952200" cy="9000"/>
          </a:xfrm>
          <a:prstGeom prst="rect">
            <a:avLst/>
          </a:prstGeom>
          <a:solidFill>
            <a:srgbClr val="BEBE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5" name="TextBox 4"/>
          <p:cNvSpPr/>
          <p:nvPr/>
        </p:nvSpPr>
        <p:spPr>
          <a:xfrm>
            <a:off x="4338720" y="3955320"/>
            <a:ext cx="3514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Inter"/>
              </a:rPr>
              <a:t>Master Agentic AI: Next.js 16 Enterprise Upgrade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LibreOffice/26.2.4.2$Windows_X86_64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2026-07-20T08:59:04Z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