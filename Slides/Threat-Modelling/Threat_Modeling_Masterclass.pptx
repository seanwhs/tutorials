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Threat Modeling Masterclass</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A Comprehensive Guide to Identifying, Quantifying, and Addressing Security Threats</a:t>
            </a:r>
            <a:br/>
            <a:br/>
            <a:r>
              <a:t>2026 Edition — Expanded with AI, Cloud-Native, Zero Trust, and DevSecOps Integration</a:t>
            </a:r>
            <a:br/>
            <a:br/>
            <a:r>
              <a:t>Shift-Left Security | STRIDE | DREAD | PASTA | CVSS | MITRE ATT&amp;CK | NIST SSDF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01  Why Threat Modeling Matters</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Threat modeling is a structured, repeatable process for identifying, quantifying, and addressing security threats before a single line of production code is written. It forces teams to think like attackers, mapping assets, entry points, and abuse cases during the design phase rather than reacting after a breach.</a:t>
            </a:r>
            <a:br/>
            <a:br/>
            <a:r>
              <a:t>The Business Case for Shift-Left Security:</a:t>
            </a:r>
            <a:br/>
            <a:r>
              <a:t>  • Vulnerabilities discovered in design cost approximately 100x less to fix than those found in production.</a:t>
            </a:r>
            <a:br/>
            <a:r>
              <a:t>  • The average cost of a data breach in 2024 exceeded $4.88 million (IBM Cost of a Data Breach Report).</a:t>
            </a:r>
            <a:br/>
            <a:r>
              <a:t>  • Regulatory pressure is intensifying: NIST SSDF (SP 800-218), PCI DSS 4.0, GDPR Article 32, and EO 14028 all mandate proactive risk assessment.</a:t>
            </a:r>
            <a:br/>
            <a:br/>
            <a:r>
              <a:t>Real-World Breaches That Could Have Been Prevented:</a:t>
            </a:r>
            <a:br/>
            <a:r>
              <a:t>  • Equifax (2017): Unpatched Apache Struts vulnerability exposed 147 million records. A design-phase threat model would have flagged dependency management and patch-SLA gaps.</a:t>
            </a:r>
            <a:br/>
            <a:r>
              <a:t>  • SolarWinds (2020): Supply chain compromise affected 18,000 organizations. Threat modeling the CI/CD pipeline would have exposed build-system trust boundaries.</a:t>
            </a:r>
            <a:br/>
            <a:r>
              <a:t>  • Capital One (2019): SSRF combined with IAM misconfiguration exposed 100 million records. A DFD with trust boundaries would have highlighted the SSRF attack surface.</a:t>
            </a:r>
            <a:br/>
            <a:r>
              <a:t>  • MOVEit (2023): Zero-day in file transfer software compromised 600+ organizations. Threat modeling would have identified the file-transfer layer as a critical trust boundary.</a:t>
            </a:r>
            <a:br/>
            <a:br/>
            <a:r>
              <a:t>Core Principle: Security is not a checkpoint. It is a continuous discipline embedded into the DNA of every system, workload, and process.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02  The Threat Modeling Lifecycle</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A mature threat modeling practice follows a continuous, iterative lifecycle that mirrors modern DevOps feedback loops. It is not a one-time exercise but a living artifact that evolves with every architecture change.</a:t>
            </a:r>
            <a:br/>
            <a:br/>
            <a:r>
              <a:t>Phase 1 — Requirements &amp; Asset Discovery:</a:t>
            </a:r>
            <a:br/>
            <a:r>
              <a:t>  • Define system scope, stakeholders, and business objectives.</a:t>
            </a:r>
            <a:br/>
            <a:r>
              <a:t>  • Identify high-value assets: customer PII, payment data, API keys, intellectual property, secrets.</a:t>
            </a:r>
            <a:br/>
            <a:r>
              <a:t>  • Classify data sensitivity: Public, Internal, Confidential, Restricted.</a:t>
            </a:r>
            <a:br/>
            <a:r>
              <a:t>  • Map compliance obligations: PCI DSS, GDPR, HIPAA, SOC 2, NIST CSF.</a:t>
            </a:r>
            <a:br/>
            <a:br/>
            <a:r>
              <a:t>Phase 2 — Architecture &amp; DFD Construction:</a:t>
            </a:r>
            <a:br/>
            <a:r>
              <a:t>  • Build Context Diagram (Level 0): System as a single process with external entities.</a:t>
            </a:r>
            <a:br/>
            <a:r>
              <a:t>  • Decompose to Level 1: Major subsystems, trust boundaries, and data stores.</a:t>
            </a:r>
            <a:br/>
            <a:r>
              <a:t>  • Drill to Level 2: Individual processes, APIs, message queues, caches, and databases.</a:t>
            </a:r>
            <a:br/>
            <a:r>
              <a:t>  • Level 3+ is reserved for critical/high-risk components only.</a:t>
            </a:r>
            <a:br/>
            <a:br/>
            <a:r>
              <a:t>Phase 3 — Threat Analysis (STRIDE per Element):</a:t>
            </a:r>
            <a:br/>
            <a:r>
              <a:t>  • Apply STRIDE to every process, data store, data flow, and external entity.</a:t>
            </a:r>
            <a:br/>
            <a:r>
              <a:t>  • Cross-reference with MITRE ATT&amp;CK techniques for real-world attack mapping.</a:t>
            </a:r>
            <a:br/>
            <a:r>
              <a:t>  • Use threat libraries: CAPEC, OWASP Top 10, OWASP API Security Top 10.</a:t>
            </a:r>
            <a:br/>
            <a:br/>
            <a:r>
              <a:t>Phase 4 — Risk Assessment &amp; Prioritization:</a:t>
            </a:r>
            <a:br/>
            <a:r>
              <a:t>  • Score each threat using DREAD, CVSS v3.1, or organizational risk matrices.</a:t>
            </a:r>
            <a:br/>
            <a:r>
              <a:t>  • Map likelihood and impact to business context, not just technical severity.</a:t>
            </a:r>
            <a:br/>
            <a:r>
              <a:t>  • Prioritize based on exploitability, affected users, and control gaps.</a:t>
            </a:r>
            <a:br/>
            <a:br/>
            <a:r>
              <a:t>Phase 5 — Mitigation &amp; Control Design:</a:t>
            </a:r>
            <a:br/>
            <a:r>
              <a:t>  • Design preventive, detective, and corrective controls.</a:t>
            </a:r>
            <a:br/>
            <a:r>
              <a:t>  • Apply defense-in-depth across every trust boundary.</a:t>
            </a:r>
            <a:br/>
            <a:r>
              <a:t>  • Document decisions in Architecture Decision Records (ADRs).</a:t>
            </a:r>
            <a:br/>
            <a:br/>
            <a:r>
              <a:t>Phase 6 — Validation &amp; Continuous Monitoring:</a:t>
            </a:r>
            <a:br/>
            <a:r>
              <a:t>  • Validate mitigations through SAST, DAST, IAST, and penetration testing.</a:t>
            </a:r>
            <a:br/>
            <a:r>
              <a:t>  • Integrate threat model updates into CI/CD pipelines.</a:t>
            </a:r>
            <a:br/>
            <a:r>
              <a:t>  • Re-assess quarterly or upon every significant architecture change.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03  Security Design Principles</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These foundational principles guide every threat modeling decision. They are not optional add-ons; they are the bedrock of resilient architecture.</a:t>
            </a:r>
            <a:br/>
            <a:br/>
            <a:r>
              <a:t>Least Privilege:</a:t>
            </a:r>
            <a:br/>
            <a:r>
              <a:t>  • Grant the minimum access necessary for a function to operate.</a:t>
            </a:r>
            <a:br/>
            <a:r>
              <a:t>  • Apply to users, service accounts, containers, serverless functions, and CI/CD pipelines.</a:t>
            </a:r>
            <a:br/>
            <a:r>
              <a:t>  • Implement just-in-time (JIT) elevation with time-boxed sessions and full audit logging.</a:t>
            </a:r>
            <a:br/>
            <a:r>
              <a:t>  • Review entitlements quarterly; revoke dormant permissions automatically.</a:t>
            </a:r>
            <a:br/>
            <a:br/>
            <a:r>
              <a:t>Defense in Depth:</a:t>
            </a:r>
            <a:br/>
            <a:r>
              <a:t>  • Layer multiple independent security controls so that the failure of one does not compromise the entire system.</a:t>
            </a:r>
            <a:br/>
            <a:r>
              <a:t>  • Example: WAF + input validation + parameterized queries + database access controls for SQL injection defense.</a:t>
            </a:r>
            <a:br/>
            <a:r>
              <a:t>  • Combine network segmentation, identity controls, encryption, and monitoring at every layer.</a:t>
            </a:r>
            <a:br/>
            <a:br/>
            <a:r>
              <a:t>Fail Securely:</a:t>
            </a:r>
            <a:br/>
            <a:r>
              <a:t>  • Default to the safest possible state when a component fails.</a:t>
            </a:r>
            <a:br/>
            <a:r>
              <a:t>  • Example: Firewall rules should deny-all by default; authentication failures should not leak user enumeration.</a:t>
            </a:r>
            <a:br/>
            <a:r>
              <a:t>  • Circuit breakers should open (fail-safe) rather than allow unvalidated traffic through.</a:t>
            </a:r>
            <a:br/>
            <a:br/>
            <a:r>
              <a:t>Zero Trust:</a:t>
            </a:r>
            <a:br/>
            <a:r>
              <a:t>  • Never trust, always verify. Every request is treated as untrusted regardless of origin.</a:t>
            </a:r>
            <a:br/>
            <a:r>
              <a:t>  • Continuously authenticate and authorize every user, device, and workload.</a:t>
            </a:r>
            <a:br/>
            <a:r>
              <a:t>  • Microsegment networks to prevent lateral movement. Assume breach is inevitable.</a:t>
            </a:r>
            <a:br/>
            <a:br/>
            <a:r>
              <a:t>Complete Mediation:</a:t>
            </a:r>
            <a:br/>
            <a:r>
              <a:t>  • Check every access, every time. Do not cache authorization decisions that could be revoked.</a:t>
            </a:r>
            <a:br/>
            <a:r>
              <a:t>  • Re-verify permissions at each trust boundary crossing.</a:t>
            </a:r>
            <a:br/>
            <a:r>
              <a:t>  • Centralize policy enforcement with policy-as-code engines (OPA, Kyverno, Azure Policy).</a:t>
            </a:r>
            <a:br/>
            <a:br/>
            <a:r>
              <a:t>Economy of Mechanism:</a:t>
            </a:r>
            <a:br/>
            <a:r>
              <a:t>  • Simplify design. Fewer components mean fewer attack surfaces.</a:t>
            </a:r>
            <a:br/>
            <a:r>
              <a:t>  • Avoid unnecessary features, libraries, and dependencies that expand the vulnerability surface.</a:t>
            </a:r>
            <a:br/>
            <a:br/>
            <a:r>
              <a:t>Open Design:</a:t>
            </a:r>
            <a:br/>
            <a:r>
              <a:t>  • Security should not depend on secrecy of design. Assume attackers have full knowledge.</a:t>
            </a:r>
            <a:br/>
            <a:r>
              <a:t>  • Rely on strong cryptography and well-vetted protocols, not obscurity.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04  STRIDE Framework — Deep Dive</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Developed by Microsoft in 1999, STRIDE is the most widely adopted threat classification model. It maps threats to six security properties and provides a systematic taxonomy for threat enumeration.</a:t>
            </a:r>
            <a:br/>
            <a:br/>
            <a:r>
              <a:t>S — Spoofing (Authentication Violation):</a:t>
            </a:r>
            <a:br/>
            <a:r>
              <a:t>  • Pretending to be another user, device, or system.</a:t>
            </a:r>
            <a:br/>
            <a:r>
              <a:t>  • Attacks: Credential stuffing, phishing, session hijacking, IP spoofing, certificate forgery, OAuth consent phishing.</a:t>
            </a:r>
            <a:br/>
            <a:r>
              <a:t>  • Mitigations: MFA (FIDO2/WebAuthn), token-based session management, mutual TLS, certificate pinning, behavioral biometrics.</a:t>
            </a:r>
            <a:br/>
            <a:r>
              <a:t>  • MITRE ATT&amp;CK: T1078 Valid Accounts, T1566 Phishing, T1550 Use Alternate Authentication Material.</a:t>
            </a:r>
            <a:br/>
            <a:br/>
            <a:r>
              <a:t>T — Tampering (Integrity Violation):</a:t>
            </a:r>
            <a:br/>
            <a:r>
              <a:t>  • Unauthorized modification of data, code, or configuration.</a:t>
            </a:r>
            <a:br/>
            <a:r>
              <a:t>  • Attacks: Man-in-the-middle, parameter tampering, file modification, supply chain poisoning, container image tampering.</a:t>
            </a:r>
            <a:br/>
            <a:r>
              <a:t>  • Mitigations: Input validation, parameterized queries, code signing, checksum verification, TLS 1.3, supply chain SBOM verification.</a:t>
            </a:r>
            <a:br/>
            <a:r>
              <a:t>  • MITRE ATT&amp;CK: T1556 Modify Authentication Process, T1565 Data Manipulation, T1195 Supply Chain Compromise.</a:t>
            </a:r>
            <a:br/>
            <a:br/>
            <a:r>
              <a:t>R — Repudiation (Non-Repudiation Violation):</a:t>
            </a:r>
            <a:br/>
            <a:r>
              <a:t>  • Denying that an action was performed.</a:t>
            </a:r>
            <a:br/>
            <a:r>
              <a:t>  • Attacks: Log deletion, log injection, clock skew, transaction denial, audit trail gaps, evidence destruction.</a:t>
            </a:r>
            <a:br/>
            <a:r>
              <a:t>  • Mitigations: Immutable audit logs (WORM storage), digital signatures on transactions, centralized SIEM with tamper detection, blockchain-based audit trails.</a:t>
            </a:r>
            <a:br/>
            <a:r>
              <a:t>  • MITRE ATT&amp;CK: T1070 Indicator Removal, T1562 Impair Defenses, T1657 Financial Theft.</a:t>
            </a:r>
            <a:br/>
            <a:br/>
            <a:r>
              <a:t>I — Information Disclosure (Confidentiality Violation):</a:t>
            </a:r>
            <a:br/>
            <a:r>
              <a:t>  • Exposing information to unauthorized parties.</a:t>
            </a:r>
            <a:br/>
            <a:r>
              <a:t>  • Attacks: Verbose error messages, directory listing, side-channel attacks, insecure logging, memory dumps, cloud misconfigurations, embedding inversion.</a:t>
            </a:r>
            <a:br/>
            <a:r>
              <a:t>  • Mitigations: AES-256 encryption at rest, TLS 1.3 in transit, least privilege to data stores, DLP policies, field-level encryption, token vaulting.</a:t>
            </a:r>
            <a:br/>
            <a:r>
              <a:t>  • MITRE ATT&amp;CK: T1213 Data from Information Repositories, T1530 Data from Cloud Storage, T1005 Data from Local System.</a:t>
            </a:r>
            <a:br/>
            <a:br/>
            <a:r>
              <a:t>D — Denial of Service (Availability Violation):</a:t>
            </a:r>
            <a:br/>
            <a:r>
              <a:t>  • Disrupting service availability for legitimate users.</a:t>
            </a:r>
            <a:br/>
            <a:r>
              <a:t>  • Attacks: DDoS (volumetric, protocol, application layer), resource exhaustion, Slowloris, amplification, model denial of service (LLM context window abuse).</a:t>
            </a:r>
            <a:br/>
            <a:r>
              <a:t>  • Mitigations: Rate limiting, traffic shaping, CDN + WAF + DDoS protection (Cloudflare, AWS Shield), auto-scaling, circuit breakers, redundancy, chaos engineering.</a:t>
            </a:r>
            <a:br/>
            <a:r>
              <a:t>  • MITRE ATT&amp;CK: T1498 Network DoS, T1499 Endpoint DoS, T1496 Resource Hijacking.</a:t>
            </a:r>
            <a:br/>
            <a:br/>
            <a:r>
              <a:t>E — Elevation of Privilege (Authorization Violation):</a:t>
            </a:r>
            <a:br/>
            <a:r>
              <a:t>  • Gaining unauthorized access to elevated permissions.</a:t>
            </a:r>
            <a:br/>
            <a:r>
              <a:t>  • Attacks: Vertical/horizontal privilege escalation, bypassing authorization checks, token manipulation, sudo misconfigurations, container escape, Kubernetes RBAC abuse.</a:t>
            </a:r>
            <a:br/>
            <a:r>
              <a:t>  • Mitigations: RBAC with least privilege, ABAC/PBAC, PAM, regular entitlement reviews, JIT access, admission controllers (OPA/Kyverno), seccomp/AppArmor.</a:t>
            </a:r>
            <a:br/>
            <a:r>
              <a:t>  • MITRE ATT&amp;CK: T1078 Valid Accounts, T1134 Access Token Manipulation, T1611 Escape to Host.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05  DREAD Risk Scoring</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DREAD provides a lightweight, qualitative framework for prioritizing threats. Each dimension is scored 1–10, and the average yields the overall risk score.</a:t>
            </a:r>
            <a:br/>
            <a:br/>
            <a:r>
              <a:t>D — Damage Potential (Impact if Exploited):</a:t>
            </a:r>
            <a:br/>
            <a:r>
              <a:t>  • 1–3: Minimal impact, limited to non-sensitive data or temporary inconvenience.</a:t>
            </a:r>
            <a:br/>
            <a:r>
              <a:t>  • 4–6: Moderate impact, affects some users or internal systems.</a:t>
            </a:r>
            <a:br/>
            <a:r>
              <a:t>  • 7–10: Critical impact, full system compromise, regulatory breach, or massive data exfiltration.</a:t>
            </a:r>
            <a:br/>
            <a:br/>
            <a:r>
              <a:t>R — Reproducibility (Ease of Repeat Attack):</a:t>
            </a:r>
            <a:br/>
            <a:r>
              <a:t>  • 1–3: Complex conditions required; race conditions or specific timing needed.</a:t>
            </a:r>
            <a:br/>
            <a:r>
              <a:t>  • 4–6: Reproducible with moderate effort; requires some insider knowledge.</a:t>
            </a:r>
            <a:br/>
            <a:r>
              <a:t>  • 7–10: Trivially reproducible with public tools or a simple script.</a:t>
            </a:r>
            <a:br/>
            <a:br/>
            <a:r>
              <a:t>E — Exploitability (Skill and Resources Needed):</a:t>
            </a:r>
            <a:br/>
            <a:r>
              <a:t>  • 1–3: Requires nation-state resources, zero-day development, or physical access.</a:t>
            </a:r>
            <a:br/>
            <a:r>
              <a:t>  • 4–6: Requires moderate skill; available exploit frameworks may need customization.</a:t>
            </a:r>
            <a:br/>
            <a:r>
              <a:t>  • 7–10: Script-kiddie level; Metasploit module or copy-paste payload available.</a:t>
            </a:r>
            <a:br/>
            <a:br/>
            <a:r>
              <a:t>A — Affected Users (Scope of Impact):</a:t>
            </a:r>
            <a:br/>
            <a:r>
              <a:t>  • 1–3: Single user or isolated test environment.</a:t>
            </a:r>
            <a:br/>
            <a:r>
              <a:t>  • 4–6: Department or regional impact.</a:t>
            </a:r>
            <a:br/>
            <a:r>
              <a:t>  • 7–10: Global user base, all customers, or entire enterprise infrastructure.</a:t>
            </a:r>
            <a:br/>
            <a:br/>
            <a:r>
              <a:t>D — Discoverability (Ease of Finding the Flaw):</a:t>
            </a:r>
            <a:br/>
            <a:r>
              <a:t>  • 1–3: Deeply embedded logic flaw requiring source code review or reverse engineering.</a:t>
            </a:r>
            <a:br/>
            <a:r>
              <a:t>  • 4–6: Visible through API fuzzing or configuration analysis.</a:t>
            </a:r>
            <a:br/>
            <a:r>
              <a:t>  • 7–10: Obvious from public documentation, error messages, or URL patterns.</a:t>
            </a:r>
            <a:br/>
            <a:br/>
            <a:r>
              <a:t>Risk Score Interpretation:</a:t>
            </a:r>
            <a:br/>
            <a:r>
              <a:t>  • 0–3: Low risk — monitor and accept.</a:t>
            </a:r>
            <a:br/>
            <a:r>
              <a:t>  • 4–6: Medium risk — remediate within 90 days.</a:t>
            </a:r>
            <a:br/>
            <a:r>
              <a:t>  • 7–10: High risk — immediate action required.</a:t>
            </a:r>
            <a:br/>
            <a:br/>
            <a:r>
              <a:t>Limitations &amp; Modern Alternatives:</a:t>
            </a:r>
            <a:br/>
            <a:r>
              <a:t>  • Subjective scoring varies between analysts. Microsoft deprecated DREAD in favor of CVSS and contextual risk matrices.</a:t>
            </a:r>
            <a:br/>
            <a:r>
              <a:t>  • For enterprise use, combine DREAD with EPSS (Exploit Prediction Scoring System) and threat intelligence to ground scores in real-world exploitability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06  CVSS v3.1 Scoring</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The Common Vulnerability Scoring System (CVSS) v3.1 provides a standardized, quantitative method for assessing vulnerability severity. It is the industry standard for vulnerability management and is required by most compliance frameworks.</a:t>
            </a:r>
            <a:br/>
            <a:br/>
            <a:r>
              <a:t>Base Score Components (0–10):</a:t>
            </a:r>
            <a:br/>
            <a:r>
              <a:t>  • Attack Vector (AV): Network / Adjacent / Local / Physical — how remotely exploitable is the vulnerability?</a:t>
            </a:r>
            <a:br/>
            <a:r>
              <a:t>  • Attack Complexity (AC): Low / High — are there special conditions beyond the attacker's control?</a:t>
            </a:r>
            <a:br/>
            <a:r>
              <a:t>  • Privileges Required (PR): None / Low / High — what level of access does the attacker need?</a:t>
            </a:r>
            <a:br/>
            <a:r>
              <a:t>  • User Interaction (UI): None / Required — does a legitimate user need to perform an action?</a:t>
            </a:r>
            <a:br/>
            <a:r>
              <a:t>  • Scope (S): Unchanged / Changed — can the vulnerability affect resources beyond its original security scope?</a:t>
            </a:r>
            <a:br/>
            <a:r>
              <a:t>  • Confidentiality Impact (C): None / Low / High — does it expose data?</a:t>
            </a:r>
            <a:br/>
            <a:r>
              <a:t>  • Integrity Impact (I): None / Low / High — can data or code be modified?</a:t>
            </a:r>
            <a:br/>
            <a:r>
              <a:t>  • Availability Impact (A): None / Low / High — does it disrupt service?</a:t>
            </a:r>
            <a:br/>
            <a:br/>
            <a:r>
              <a:t>Severity Ratings:</a:t>
            </a:r>
            <a:br/>
            <a:r>
              <a:t>  • 0.0: None</a:t>
            </a:r>
            <a:br/>
            <a:r>
              <a:t>  • 0.1–3.9: Low</a:t>
            </a:r>
            <a:br/>
            <a:r>
              <a:t>  • 4.0–6.9: Medium</a:t>
            </a:r>
            <a:br/>
            <a:r>
              <a:t>  • 7.0–8.9: High</a:t>
            </a:r>
            <a:br/>
            <a:r>
              <a:t>  • 9.0–10.0: Critical</a:t>
            </a:r>
            <a:br/>
            <a:br/>
            <a:r>
              <a:t>Temporal &amp; Environmental Metrics:</a:t>
            </a:r>
            <a:br/>
            <a:r>
              <a:t>  • Temporal: Exploit code maturity, remediation level, report confidence — adjusts base score over time.</a:t>
            </a:r>
            <a:br/>
            <a:r>
              <a:t>  • Environmental: Customizes base metrics to your organization's asset value, control effectiveness, and business impact.</a:t>
            </a:r>
            <a:br/>
            <a:br/>
            <a:r>
              <a:t>Best Practices for Threat Modeling:</a:t>
            </a:r>
            <a:br/>
            <a:r>
              <a:t>  • Do not rely on CVSS Base Score alone. A CVSS 7.5 vulnerability on an internal admin panel is very different from the same score on a public-facing API.</a:t>
            </a:r>
            <a:br/>
            <a:r>
              <a:t>  • Integrate EPSS to predict the probability of exploitation in the wild within 30 days.</a:t>
            </a:r>
            <a:br/>
            <a:r>
              <a:t>  • Map CVSS scores to your organizational risk appetite and remediation SLAs.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07  PASTA &amp; Alternative Frameworks</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While STRIDE excels at design-phase threat categorization, other frameworks address different organizational needs. Selecting the right framework depends on your maturity, scale, and risk context.</a:t>
            </a:r>
            <a:br/>
            <a:br/>
            <a:r>
              <a:t>PASTA — Process for Attack Simulation and Threat Analysis (7 Stages):</a:t>
            </a:r>
            <a:br/>
            <a:r>
              <a:t>  • Stage 1: Define business objectives, compliance drivers, and risk appetite.</a:t>
            </a:r>
            <a:br/>
            <a:r>
              <a:t>  • Stage 2: Define technical scope, assets, data flows, and trust boundaries.</a:t>
            </a:r>
            <a:br/>
            <a:r>
              <a:t>  • Stage 3: Decompose the application and identify vulnerability points.</a:t>
            </a:r>
            <a:br/>
            <a:r>
              <a:t>  • Stage 4: Threat analysis using threat intelligence, attack trees, and abuse cases.</a:t>
            </a:r>
            <a:br/>
            <a:r>
              <a:t>  • Stage 5: Vulnerability and weakness analysis mapped to threat scenarios.</a:t>
            </a:r>
            <a:br/>
            <a:r>
              <a:t>  • Stage 6: Attack simulation and modeling — validate exploitability.</a:t>
            </a:r>
            <a:br/>
            <a:r>
              <a:t>  • Stage 7: Risk and impact analysis — quantify business impact and define mitigations.</a:t>
            </a:r>
            <a:br/>
            <a:r>
              <a:t>  • Best for: Enterprise risk management, business-aligned security, simulation-driven validation.</a:t>
            </a:r>
            <a:br/>
            <a:br/>
            <a:r>
              <a:t>Trike:</a:t>
            </a:r>
            <a:br/>
            <a:r>
              <a:t>  • Risk-centric, asset-focused approach that begins with stakeholder value definition.</a:t>
            </a:r>
            <a:br/>
            <a:r>
              <a:t>  • Uses threat actor profiles and asset-based risk matrices.</a:t>
            </a:r>
            <a:br/>
            <a:r>
              <a:t>  • Best for: Organizations with mature risk management functions and formal asset inventories.</a:t>
            </a:r>
            <a:br/>
            <a:br/>
            <a:r>
              <a:t>OCTAVE — Operationally Critical Threat, Asset, and Vulnerability Evaluation:</a:t>
            </a:r>
            <a:br/>
            <a:r>
              <a:t>  • Self-directed, organizational risk assessment framework.</a:t>
            </a:r>
            <a:br/>
            <a:r>
              <a:t>  • Emphasizes workshop-based collaboration between business and technical teams.</a:t>
            </a:r>
            <a:br/>
            <a:r>
              <a:t>  • Best for: Large enterprises with complex organizational structures and cross-functional risk committees.</a:t>
            </a:r>
            <a:br/>
            <a:br/>
            <a:r>
              <a:t>VAST — Visual, Agile, and Simple Threat Modeling:</a:t>
            </a:r>
            <a:br/>
            <a:r>
              <a:t>  • Scalable for enterprise DevOps and microservices environments.</a:t>
            </a:r>
            <a:br/>
            <a:r>
              <a:t>  • Distinguishes between application threat models and operational threat models.</a:t>
            </a:r>
            <a:br/>
            <a:r>
              <a:t>  • Automation-friendly; integrates with CI/CD and infrastructure-as-code pipelines.</a:t>
            </a:r>
            <a:br/>
            <a:r>
              <a:t>  • Best for: Large-scale DevSecOps, cloud-native architectures, and organizations practicing continuous delivery.</a:t>
            </a:r>
            <a:br/>
            <a:br/>
            <a:r>
              <a:t>LINDDUN — Privacy-Focused Threat Modeling:</a:t>
            </a:r>
            <a:br/>
            <a:r>
              <a:t>  • Linkability, Identifiability, Non-repudiation, Detectability, Disclosure, Unawareness, Non-compliance.</a:t>
            </a:r>
            <a:br/>
            <a:r>
              <a:t>  • Explicitly designed for GDPR, CCPA, and privacy-by-design requirements.</a:t>
            </a:r>
            <a:br/>
            <a:r>
              <a:t>  • Best for: Products handling sensitive personal data, healthcare, finance, and consumer applications.</a:t>
            </a:r>
            <a:br/>
            <a:br/>
            <a:r>
              <a:t>Framework Selection Matrix:</a:t>
            </a:r>
            <a:br/>
            <a:r>
              <a:t>  • STRIDE → Design-phase threat categorization, easy to learn, widely adopted.</a:t>
            </a:r>
            <a:br/>
            <a:r>
              <a:t>  • DREAD → Quick risk prioritization, lightweight, good for agile teams.</a:t>
            </a:r>
            <a:br/>
            <a:r>
              <a:t>  • PASTA → Enterprise risk management, business-aligned, simulation-driven.</a:t>
            </a:r>
            <a:br/>
            <a:r>
              <a:t>  • VAST → Large-scale DevSecOps, automation-friendly, scalable.</a:t>
            </a:r>
            <a:br/>
            <a:r>
              <a:t>  • LINDDUN → Privacy compliance, data protection, regulatory alignment.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08  Data Flow Diagrams (DFD)</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Data Flow Diagrams are the visual backbone of threat modeling. They translate abstract architecture into concrete attack surfaces, making threats tangible and actionable.</a:t>
            </a:r>
            <a:br/>
            <a:br/>
            <a:r>
              <a:t>DFD Notation:</a:t>
            </a:r>
            <a:br/>
            <a:r>
              <a:t>  • Process (Circle): Transforms data — application, service, function, microservice, serverless function.</a:t>
            </a:r>
            <a:br/>
            <a:r>
              <a:t>  • Data Store (Two Horizontal Lines): Persistent storage — database, cache, file system, object storage, vector database.</a:t>
            </a:r>
            <a:br/>
            <a:r>
              <a:t>  • External Entity (Rectangle): Outside the system — user, third-party API, SaaS provider, IoT device.</a:t>
            </a:r>
            <a:br/>
            <a:r>
              <a:t>  • Data Flow (Arrow): Movement of data between elements — API call, message queue, event stream, file transfer.</a:t>
            </a:r>
            <a:br/>
            <a:r>
              <a:t>  • Trust Boundary (Dashed Line): Where security controls must be enforced — every crossing is a potential attack surface.</a:t>
            </a:r>
            <a:br/>
            <a:br/>
            <a:r>
              <a:t>DFD Hierarchy:</a:t>
            </a:r>
            <a:br/>
            <a:r>
              <a:t>  • Context Diagram (Level 0): System as a single process. External entities and high-level flows only. Answers: What does the system do and who interacts with it?</a:t>
            </a:r>
            <a:br/>
            <a:r>
              <a:t>  • Level 1 DFD: Major subsystems and their interactions. First trust boundaries appear. Answers: How is the system decomposed?</a:t>
            </a:r>
            <a:br/>
            <a:r>
              <a:t>  • Level 2 DFD: Individual processes within subsystems. Detailed data stores and flows. Answers: What are the internal mechanics?</a:t>
            </a:r>
            <a:br/>
            <a:r>
              <a:t>  • Level 3+ DFD: Rarely needed. Use only for critical/high-risk components such as payment processing, authentication, or encryption services.</a:t>
            </a:r>
            <a:br/>
            <a:br/>
            <a:r>
              <a:t>Trust Boundary Rules:</a:t>
            </a:r>
            <a:br/>
            <a:r>
              <a:t>  • Authenticate and authorize at every boundary crossing.</a:t>
            </a:r>
            <a:br/>
            <a:r>
              <a:t>  • Encrypt data in transit across every boundary.</a:t>
            </a:r>
            <a:br/>
            <a:r>
              <a:t>  • Log and monitor every boundary crossing for anomaly detection.</a:t>
            </a:r>
            <a:br/>
            <a:r>
              <a:t>  • Apply least privilege at each boundary — no implicit trust.</a:t>
            </a:r>
            <a:br/>
            <a:br/>
            <a:r>
              <a:t>DFD Example: Online Shopping Platform</a:t>
            </a:r>
            <a:br/>
            <a:r>
              <a:t>  Level 0: Customer → [Shopping System] → Payment Gateway | Admin → [Shopping System] → Inventory System</a:t>
            </a:r>
            <a:br/>
            <a:r>
              <a:t>  Level 1: [Web App] → [Order Service] → [Payment Service] → [Payment Gateway] | [Order Service] → [Product DB]</a:t>
            </a:r>
            <a:br/>
            <a:r>
              <a:t>  Trust Boundaries: Internet ↔ DMZ ↔ Internal ↔ Database | Each crossing requires TLS, auth, and logging.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09  Architecture Views &amp; Trust Boundaries</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Effective threat modeling requires examining the system from multiple architectural perspectives. Each view reveals different attack surfaces and control gaps.</a:t>
            </a:r>
            <a:br/>
            <a:br/>
            <a:r>
              <a:t>Logical View:</a:t>
            </a:r>
            <a:br/>
            <a:r>
              <a:t>  • Components, services, APIs, data flows, and domain boundaries.</a:t>
            </a:r>
            <a:br/>
            <a:r>
              <a:t>  • Focus: How does data move through the system? What are the processing steps?</a:t>
            </a:r>
            <a:br/>
            <a:r>
              <a:t>  • Threat focus: API abuse, business logic flaws, data validation gaps, injection attacks.</a:t>
            </a:r>
            <a:br/>
            <a:br/>
            <a:r>
              <a:t>Physical View:</a:t>
            </a:r>
            <a:br/>
            <a:r>
              <a:t>  • Hardware, networks, data centers, cloud regions, edge nodes, IoT gateways.</a:t>
            </a:r>
            <a:br/>
            <a:r>
              <a:t>  • Focus: Where does data physically reside? What network paths does it traverse?</a:t>
            </a:r>
            <a:br/>
            <a:r>
              <a:t>  • Threat focus: Physical tampering, network sniffing, side-channel attacks, supply chain interception.</a:t>
            </a:r>
            <a:br/>
            <a:br/>
            <a:r>
              <a:t>Deployment View:</a:t>
            </a:r>
            <a:br/>
            <a:r>
              <a:t>  • Runtime topology, Kubernetes clusters, serverless functions, VM placement, availability zones.</a:t>
            </a:r>
            <a:br/>
            <a:r>
              <a:t>  • Focus: How is the system instantiated at runtime? What are the scaling behaviors?</a:t>
            </a:r>
            <a:br/>
            <a:r>
              <a:t>  • Threat focus: Container escape, privilege escalation, misconfigured auto-scaling, cold-start attacks.</a:t>
            </a:r>
            <a:br/>
            <a:br/>
            <a:r>
              <a:t>Cloud View:</a:t>
            </a:r>
            <a:br/>
            <a:r>
              <a:t>  • Serverless, containers, managed services, multi-cloud, hybrid environments.</a:t>
            </a:r>
            <a:br/>
            <a:r>
              <a:t>  • Focus: Which cloud services are used? How are they configured and interconnected?</a:t>
            </a:r>
            <a:br/>
            <a:r>
              <a:t>  • Threat focus: IAM misconfiguration, exposed storage buckets, over-permissive security groups, SSRF via metadata services.</a:t>
            </a:r>
            <a:br/>
            <a:br/>
            <a:r>
              <a:t>Trust Boundaries — Definition &amp; Importance:</a:t>
            </a:r>
            <a:br/>
            <a:r>
              <a:t>  • A trust boundary is any point where the trust level changes.</a:t>
            </a:r>
            <a:br/>
            <a:r>
              <a:t>  • Common boundaries: Internal ↔ External network, Corporate ↔ Cloud, Production ↔ Development, User space ↔ Kernel space, Container ↔ Host.</a:t>
            </a:r>
            <a:br/>
            <a:r>
              <a:t>  • Golden Rule: Authenticate, authorize, encrypt, and log at every boundary. Never assume implicit trust within a zone.</a:t>
            </a:r>
            <a:br/>
            <a:br/>
            <a:r>
              <a:t>Data Classification &amp; Sensitivity:</a:t>
            </a:r>
            <a:br/>
            <a:r>
              <a:t>  • Public: No restrictions, minimal controls.</a:t>
            </a:r>
            <a:br/>
            <a:r>
              <a:t>  • Internal: Business use only, basic access controls.</a:t>
            </a:r>
            <a:br/>
            <a:r>
              <a:t>  • Confidential: Encryption at rest and in transit required, need-to-know access, audit logging.</a:t>
            </a:r>
            <a:br/>
            <a:r>
              <a:t>  • Restricted: Highest protection, strict need-to-know, segregated environments, DLP enforced, token vaulting.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10  Security Controls — Defense in Depth</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Security controls must be layered across every trust boundary. A single control category is never sufficient.</a:t>
            </a:r>
            <a:br/>
            <a:br/>
            <a:r>
              <a:t>Preventive Controls (Stop threats before they succeed):</a:t>
            </a:r>
            <a:br/>
            <a:r>
              <a:t>  • Network: Firewalls, WAFs, DDoS protection, network segmentation, microsegmentation.</a:t>
            </a:r>
            <a:br/>
            <a:r>
              <a:t>  • Identity: MFA, password policies, biometric authentication, FIDO2/WebAuthn, certificate-based auth.</a:t>
            </a:r>
            <a:br/>
            <a:r>
              <a:t>  • Application: Input validation, parameterized queries, output encoding, CSRF tokens, secure headers (HSTS, CSP).</a:t>
            </a:r>
            <a:br/>
            <a:r>
              <a:t>  • Data: Encryption at rest (AES-256), encryption in transit (TLS 1.3), field-level encryption, tokenization.</a:t>
            </a:r>
            <a:br/>
            <a:r>
              <a:t>  • Infrastructure: Hardened base images, minimal container images (distroless), seccomp, AppArmor, SELinux.</a:t>
            </a:r>
            <a:br/>
            <a:br/>
            <a:r>
              <a:t>Detective Controls (Identify threats in progress or after occurrence):</a:t>
            </a:r>
            <a:br/>
            <a:r>
              <a:t>  • SIEM: Real-time log correlation, alerting, and dashboarding.</a:t>
            </a:r>
            <a:br/>
            <a:r>
              <a:t>  • IDS/IPS: Network and host-based intrusion detection and prevention.</a:t>
            </a:r>
            <a:br/>
            <a:r>
              <a:t>  • UEBA: User and Entity Behavior Analytics to detect anomalous access patterns.</a:t>
            </a:r>
            <a:br/>
            <a:r>
              <a:t>  • EDR/XDR: Endpoint detection and response, extended detection and response across cloud and on-prem.</a:t>
            </a:r>
            <a:br/>
            <a:r>
              <a:t>  • Deception: Honeypots, honeytokens, canary files to detect lateral movement.</a:t>
            </a:r>
            <a:br/>
            <a:br/>
            <a:r>
              <a:t>Corrective Controls (Remediate damage after incident):</a:t>
            </a:r>
            <a:br/>
            <a:r>
              <a:t>  • Backups: Immutable, air-gapped, regularly tested restore procedures.</a:t>
            </a:r>
            <a:br/>
            <a:r>
              <a:t>  • Incident Response: Playbooks, runbooks, communication plans, forensic readiness.</a:t>
            </a:r>
            <a:br/>
            <a:r>
              <a:t>  • Patch Management: Automated patching pipelines, emergency patch procedures, vulnerability SLAs.</a:t>
            </a:r>
            <a:br/>
            <a:r>
              <a:t>  • Chaos Engineering: Deliberate failure injection to validate resilience and recovery capabilities.</a:t>
            </a:r>
            <a:br/>
            <a:br/>
            <a:r>
              <a:t>IAM Deep Dive:</a:t>
            </a:r>
            <a:br/>
            <a:r>
              <a:t>  • Authentication: Password policies, MFA, biometric, FIDO2/WebAuthn, passkeys, certificate pinning.</a:t>
            </a:r>
            <a:br/>
            <a:r>
              <a:t>  • Authorization: RBAC (Role-Based), ABAC (Attribute-Based), PBAC (Policy-Based), ReBAC (Relationship-Based).</a:t>
            </a:r>
            <a:br/>
            <a:r>
              <a:t>  • Privileged Access Management: Just-in-time elevation, privileged session recording, break-glass procedures, regular entitlement reviews.</a:t>
            </a:r>
            <a:br/>
            <a:br/>
            <a:r>
              <a:t>Cryptography &amp; Key Management:</a:t>
            </a:r>
            <a:br/>
            <a:r>
              <a:t>  • At Rest: AES-256 for databases, files, backups. Transparent Data Encryption (TDE) for managed databases.</a:t>
            </a:r>
            <a:br/>
            <a:r>
              <a:t>  • In Transit: TLS 1.3 minimum, perfect forward secrecy, certificate pinning for mobile apps, mutual TLS for service-to-service.</a:t>
            </a:r>
            <a:br/>
            <a:r>
              <a:t>  • Key Management: HSM / Cloud KMS (AWS KMS, Azure Key Vault, GCP Cloud KMS). Key rotation policies, separation of duties. Never hardcode keys in source code. Use secret management tools (HashiCorp Vault, AWS Secrets Manager, Azure Key Vault).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11  Monitoring, Detection &amp; Response</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Continuous monitoring and rapid response are the operational realization of threat modeling. If you cannot detect a modeled threat, the model is incomplete.</a:t>
            </a:r>
            <a:br/>
            <a:br/>
            <a:r>
              <a:t>Logging Architecture:</a:t>
            </a:r>
            <a:br/>
            <a:r>
              <a:t>  • Centralized structured logging (JSON/CEF) with immutable, tamper-evident storage.</a:t>
            </a:r>
            <a:br/>
            <a:r>
              <a:t>  • Retention: 1 year hot (queryable), 7 years cold (compliance/archive).</a:t>
            </a:r>
            <a:br/>
            <a:r>
              <a:t>  • Log everything: Authentication events, authorization decisions, data access, configuration changes, admin actions, API calls, network flows.</a:t>
            </a:r>
            <a:br/>
            <a:r>
              <a:t>  • Integrity: Write-once-read-many (WORM) storage, cryptographic chaining, blockchain audit trails for high-assurance environments.</a:t>
            </a:r>
            <a:br/>
            <a:br/>
            <a:r>
              <a:t>SIEM &amp; SOAR:</a:t>
            </a:r>
            <a:br/>
            <a:r>
              <a:t>  • SIEM: Real-time correlation, threat intelligence integration, custom detection rules aligned to MITRE ATT&amp;CK.</a:t>
            </a:r>
            <a:br/>
            <a:r>
              <a:t>  • SOAR: Automated incident response playbooks, enrichment, containment, and escalation workflows.</a:t>
            </a:r>
            <a:br/>
            <a:r>
              <a:t>  • Integration: Connect threat model findings directly to SIEM detection rules. If you modeled a threat, you must detect it.</a:t>
            </a:r>
            <a:br/>
            <a:br/>
            <a:r>
              <a:t>Security Testing Integration:</a:t>
            </a:r>
            <a:br/>
            <a:r>
              <a:t>  • SAST (Static Application Security Testing): Source code analysis for known vulnerability patterns.</a:t>
            </a:r>
            <a:br/>
            <a:r>
              <a:t>  • DAST (Dynamic Application Security Testing): Runtime testing for exposed vulnerabilities.</a:t>
            </a:r>
            <a:br/>
            <a:r>
              <a:t>  • IAST (Interactive Application Security Testing): Agent-based real-time vulnerability detection during testing.</a:t>
            </a:r>
            <a:br/>
            <a:r>
              <a:t>  • SCA (Software Composition Analysis): Third-party and open-source dependency scanning.</a:t>
            </a:r>
            <a:br/>
            <a:r>
              <a:t>  • Penetration Testing: Manual adversarial simulation to find logic flaws automated tools miss.</a:t>
            </a:r>
            <a:br/>
            <a:r>
              <a:t>  • Red Team Exercises: Full-spectrum attack simulation against production-like environments.</a:t>
            </a:r>
            <a:br/>
            <a:r>
              <a:t>  • Bug Bounty Programs: Crowdsourced security testing with financial incentives.</a:t>
            </a:r>
            <a:br/>
            <a:br/>
            <a:r>
              <a:t>Metrics &amp; KPIs:</a:t>
            </a:r>
            <a:br/>
            <a:r>
              <a:t>  • Mean Time to Detect (MTTD): How quickly threats are identified.</a:t>
            </a:r>
            <a:br/>
            <a:r>
              <a:t>  • Mean Time to Respond (MTTR): How quickly incidents are contained.</a:t>
            </a:r>
            <a:br/>
            <a:r>
              <a:t>  • Threat Model Coverage: Percentage of systems with current threat models.</a:t>
            </a:r>
            <a:br/>
            <a:r>
              <a:t>  • Control Effectiveness: Percentage of modeled threats with validated detective controls.</a:t>
            </a:r>
            <a:br/>
            <a:r>
              <a:t>  • Open Threat Age: Average age of unmitigated high-risk threats.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12  Risk Assessment &amp; Prioritization</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Risk assessment transforms threat identification into actionable security work. Without prioritization, teams drown in noise.</a:t>
            </a:r>
            <a:br/>
            <a:br/>
            <a:r>
              <a:t>Risk Fundamentals:</a:t>
            </a:r>
            <a:br/>
            <a:r>
              <a:t>  • Risk = Likelihood x Impact</a:t>
            </a:r>
            <a:br/>
            <a:r>
              <a:t>  • Likelihood Factors: Threat actor capability and motivation, vulnerability exploitability, existing control effectiveness, exposure window.</a:t>
            </a:r>
            <a:br/>
            <a:r>
              <a:t>  • Impact Factors: Financial loss, regulatory fines, reputational damage, operational disruption, data breach scope and sensitivity, customer trust erosion.</a:t>
            </a:r>
            <a:br/>
            <a:br/>
            <a:r>
              <a:t>5x5 Risk Matrix:</a:t>
            </a:r>
            <a:br/>
            <a:r>
              <a:t>  • Rows: Likelihood (Rare, Unlikely, Possible, Likely, Almost Certain)</a:t>
            </a:r>
            <a:br/>
            <a:r>
              <a:t>  • Columns: Impact (Negligible, Low, Medium, High, Critical)</a:t>
            </a:r>
            <a:br/>
            <a:r>
              <a:t>  • Critical -&gt; Immediate action (board notification, emergency response)</a:t>
            </a:r>
            <a:br/>
            <a:r>
              <a:t>  • High -&gt; Remediate within 30 days</a:t>
            </a:r>
            <a:br/>
            <a:r>
              <a:t>  • Medium -&gt; Remediate within 90 days</a:t>
            </a:r>
            <a:br/>
            <a:r>
              <a:t>  • Low -&gt; Monitor and accept with documented justification</a:t>
            </a:r>
            <a:br/>
            <a:br/>
            <a:r>
              <a:t>Residual Risk &amp; Treatment Options:</a:t>
            </a:r>
            <a:br/>
            <a:r>
              <a:t>  • Mitigate: Reduce likelihood or impact through controls.</a:t>
            </a:r>
            <a:br/>
            <a:r>
              <a:t>  • Transfer: Insurance, third-party liability, cloud provider shared responsibility.</a:t>
            </a:r>
            <a:br/>
            <a:r>
              <a:t>  • Avoid: Remove the risk entirely by decommissioning the feature or system.</a:t>
            </a:r>
            <a:br/>
            <a:r>
              <a:t>  • Accept: Document and monitor residual risk with executive sign-off.</a:t>
            </a:r>
            <a:br/>
            <a:br/>
            <a:r>
              <a:t>Executive Governance:</a:t>
            </a:r>
            <a:br/>
            <a:r>
              <a:t>  • Residual risk above appetite threshold requires CISO or board sign-off.</a:t>
            </a:r>
            <a:br/>
            <a:r>
              <a:t>  • Document justification, compensating controls, and review dates in the risk register.</a:t>
            </a:r>
            <a:br/>
            <a:r>
              <a:t>  • Quarterly re-assessment is mandatory for accepted risks.</a:t>
            </a:r>
            <a:br/>
            <a:br/>
            <a:r>
              <a:t>Integration with Threat Intelligence:</a:t>
            </a:r>
            <a:br/>
            <a:r>
              <a:t>  • Map threat model findings to active threat actor campaigns.</a:t>
            </a:r>
            <a:br/>
            <a:r>
              <a:t>  • Use EPSS scores to predict which vulnerabilities are most likely to be exploited.</a:t>
            </a:r>
            <a:br/>
            <a:r>
              <a:t>  • Prioritize threats actively targeted by adversaries in your industry vertical.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13  Cloud Threat Modeling</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Cloud-native architectures introduce unique attack surfaces that traditional threat models often miss. The shared responsibility model is the starting point, not the endpoint.</a:t>
            </a:r>
            <a:br/>
            <a:br/>
            <a:r>
              <a:t>Shared Responsibility Model:</a:t>
            </a:r>
            <a:br/>
            <a:r>
              <a:t>  • Cloud Provider: Physical security, hypervisor, network fabric, managed service patching (PaaS/SaaS).</a:t>
            </a:r>
            <a:br/>
            <a:r>
              <a:t>  • Customer: Data classification and encryption, identity and access management, application security, OS patching (IaaS), network segmentation, logging configuration.</a:t>
            </a:r>
            <a:br/>
            <a:r>
              <a:t>  • Gray Areas: Container orchestration (managed vs. self-hosted), service mesh configuration, secrets management, backup responsibility.</a:t>
            </a:r>
            <a:br/>
            <a:br/>
            <a:r>
              <a:t>Cloud Attack Surfaces:</a:t>
            </a:r>
            <a:br/>
            <a:r>
              <a:t>  • Identity &amp; Access: IAM policies, service accounts, cross-account roles, federation, SSO misconfigurations, over-permissive instance profiles.</a:t>
            </a:r>
            <a:br/>
            <a:r>
              <a:t>  • Networking: VPC peering, security groups, NACLs, exposed endpoints, DNS hijacking, SSRF via metadata services (IMDSv1).</a:t>
            </a:r>
            <a:br/>
            <a:r>
              <a:t>  • Storage: S3/Azure Blob/GCS bucket misconfigurations, public access, lack of encryption, versioning abuse, lifecycle policy gaps.</a:t>
            </a:r>
            <a:br/>
            <a:r>
              <a:t>  • Compute: EC2/VM instance profiles, container escape, serverless function permissions, cold start attacks, supply chain poisoning via base images.</a:t>
            </a:r>
            <a:br/>
            <a:r>
              <a:t>  • Serverless: Function timeout abuse, excessive IAM permissions, event source poisoning, dependency vulnerabilities in deployment packages.</a:t>
            </a:r>
            <a:br/>
            <a:br/>
            <a:r>
              <a:t>Cloud-Specific Threat Modeling Practices:</a:t>
            </a:r>
            <a:br/>
            <a:r>
              <a:t>  • Model every managed service as an external entity with its own trust boundary.</a:t>
            </a:r>
            <a:br/>
            <a:r>
              <a:t>  • Verify encryption configurations for every data store — default encryption is not universal.</a:t>
            </a:r>
            <a:br/>
            <a:r>
              <a:t>  • Map cloud-native controls: AWS SCPs, Azure Policy, GCP Organization Policies, IAM Conditions.</a:t>
            </a:r>
            <a:br/>
            <a:r>
              <a:t>  • Include cloud provider APIs and control planes in the DFD — they are attack surfaces too.</a:t>
            </a:r>
            <a:br/>
            <a:r>
              <a:t>  • Model data residency and sovereignty requirements as trust boundaries.</a:t>
            </a:r>
            <a:br/>
            <a:br/>
            <a:r>
              <a:t>Key Mitigations:</a:t>
            </a:r>
            <a:br/>
            <a:r>
              <a:t>  • Enforce IMDSv2 on all EC2 instances to prevent metadata service abuse.</a:t>
            </a:r>
            <a:br/>
            <a:r>
              <a:t>  • Use VPC endpoints and PrivateLink to keep traffic off the public internet.</a:t>
            </a:r>
            <a:br/>
            <a:r>
              <a:t>  • Implement SCPs (Service Control Policies) to prevent privilege escalation at the organization level.</a:t>
            </a:r>
            <a:br/>
            <a:r>
              <a:t>  • Enable CloudTrail/Activity Log/Audit Log in all regions with immutable storage.</a:t>
            </a:r>
            <a:br/>
            <a:r>
              <a:t>  • Use AWS Config/Azure Policy/GCP Asset Inventory for continuous compliance monitoring.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14  Kubernetes Threat Modeling</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Kubernetes is the de facto container orchestration platform, but its complexity creates a vast attack surface. 40% of CNCF users express security concerns. A dedicated threat model is essential.</a:t>
            </a:r>
            <a:br/>
            <a:br/>
            <a:r>
              <a:t>Cluster Architecture &amp; Key Components:</a:t>
            </a:r>
            <a:br/>
            <a:r>
              <a:t>  • Control Plane: API Server -&gt; etcd -&gt; Controller Manager -&gt; Scheduler -&gt; Cloud Controller Manager.</a:t>
            </a:r>
            <a:br/>
            <a:r>
              <a:t>  • Worker Nodes: Kubelet -&gt; Container Runtime -&gt; Pods -&gt; Containers.</a:t>
            </a:r>
            <a:br/>
            <a:r>
              <a:t>  • Add-ons: DNS (CoreDNS), Ingress Controllers, Service Mesh (Istio/Linkerd), CNI plugins.</a:t>
            </a:r>
            <a:br/>
            <a:br/>
            <a:r>
              <a:t>Key Threats:</a:t>
            </a:r>
            <a:br/>
            <a:r>
              <a:t>  • Compromised kubeconfig -&gt; Full cluster takeover. Protect kubeconfig like a domain admin credential.</a:t>
            </a:r>
            <a:br/>
            <a:r>
              <a:t>  • etcd unencrypted -&gt; All secrets exposed. etcd must be encrypted at rest with a dedicated KMS key.</a:t>
            </a:r>
            <a:br/>
            <a:r>
              <a:t>  • Privileged containers -&gt; Host escape. Never run privileged containers in production.</a:t>
            </a:r>
            <a:br/>
            <a:r>
              <a:t>  • Default network policy -&gt; Unrestricted lateral movement. Default-deny network policies are mandatory.</a:t>
            </a:r>
            <a:br/>
            <a:r>
              <a:t>  • Weak RBAC -&gt; Privilege escalation. Principle of least privilege for every service account and user.</a:t>
            </a:r>
            <a:br/>
            <a:r>
              <a:t>  • Admission controller bypass -&gt; Unvalidated workloads. Enforce Pod Security Standards via OPA/Kyverno.</a:t>
            </a:r>
            <a:br/>
            <a:r>
              <a:t>  • Image vulnerabilities -&gt; Container compromise. Scan every image before deployment and continuously in registry.</a:t>
            </a:r>
            <a:br/>
            <a:r>
              <a:t>  • Secrets in environment variables -&gt; Credential exposure. Use external secrets operators or Vault integrations.</a:t>
            </a:r>
            <a:br/>
            <a:br/>
            <a:r>
              <a:t>Mitigation Strategy:</a:t>
            </a:r>
            <a:br/>
            <a:r>
              <a:t>  • RBAC with least privilege: Audit every ClusterRole and Role. Remove wildcard permissions.</a:t>
            </a:r>
            <a:br/>
            <a:r>
              <a:t>  • Pod Security Standards: Enforce Restricted profile. Block privileged, hostPID, hostNetwork, and hostPath.</a:t>
            </a:r>
            <a:br/>
            <a:r>
              <a:t>  • Network Policies: Default-deny all ingress/egress. Explicitly allow only required traffic.</a:t>
            </a:r>
            <a:br/>
            <a:r>
              <a:t>  • Admission Controllers: OPA/Gatekeeper or Kyverno to enforce organizational policies.</a:t>
            </a:r>
            <a:br/>
            <a:r>
              <a:t>  • etcd Encryption: Enable encryption at rest for all secrets in etcd.</a:t>
            </a:r>
            <a:br/>
            <a:r>
              <a:t>  • Secrets Management: External Secrets Operator, HashiCorp Vault, or cloud-native secret managers.</a:t>
            </a:r>
            <a:br/>
            <a:r>
              <a:t>  • Runtime Security: Falco, Tetragon, or eBPF-based monitoring for anomalous container behavior.</a:t>
            </a:r>
            <a:br/>
            <a:r>
              <a:t>  • Supply Chain: Sigstore/cosign for image signing, SLSA provenance attestations, SBOM generation.</a:t>
            </a:r>
            <a:br/>
            <a:br/>
            <a:r>
              <a:t>Threat Modeling Integration:</a:t>
            </a:r>
            <a:br/>
            <a:r>
              <a:t>  • Auto-generate DFDs from Kubernetes manifests and Helm charts.</a:t>
            </a:r>
            <a:br/>
            <a:r>
              <a:t>  • Map every Pod, Service, and Ingress to STRIDE categories.</a:t>
            </a:r>
            <a:br/>
            <a:r>
              <a:t>  • Validate network policies against the threat model before deployment.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15  API Threat Modeling</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APIs are the connective tissue of modern applications. They are also the most attacked surface. OWASP API Security Top 10 provides the threat taxonomy; threat modeling provides the architectural defense.</a:t>
            </a:r>
            <a:br/>
            <a:br/>
            <a:r>
              <a:t>API Architecture Components:</a:t>
            </a:r>
            <a:br/>
            <a:r>
              <a:t>  • Client Layer: Mobile apps, SPAs, IoT devices, third-party integrations.</a:t>
            </a:r>
            <a:br/>
            <a:r>
              <a:t>  • Gateway Layer: API Gateway, WAF, rate limiter, authentication proxy, request transformation.</a:t>
            </a:r>
            <a:br/>
            <a:r>
              <a:t>  • Service Layer: Microservices, serverless functions, backend-for-frontend (BFF) patterns.</a:t>
            </a:r>
            <a:br/>
            <a:r>
              <a:t>  • Data Layer: Databases, caches, message queues, object storage, external APIs.</a:t>
            </a:r>
            <a:br/>
            <a:br/>
            <a:r>
              <a:t>OWASP API Security Top 10 (2023) Mapped to STRIDE:</a:t>
            </a:r>
            <a:br/>
            <a:r>
              <a:t>  • API1:2023 Broken Object Level Authorization (BOLA) -&gt; Elevation of Privilege</a:t>
            </a:r>
            <a:br/>
            <a:r>
              <a:t>  • API2:2023 Broken Authentication -&gt; Spoofing</a:t>
            </a:r>
            <a:br/>
            <a:r>
              <a:t>  • API3:2023 Broken Object Property Level Authorization -&gt; Information Disclosure / Elevation of Privilege</a:t>
            </a:r>
            <a:br/>
            <a:r>
              <a:t>  • API4:2023 Unrestricted Resource Consumption -&gt; Denial of Service</a:t>
            </a:r>
            <a:br/>
            <a:r>
              <a:t>  • API5:2023 Broken Function Level Authorization -&gt; Elevation of Privilege</a:t>
            </a:r>
            <a:br/>
            <a:r>
              <a:t>  • API6:2023 Unrestricted Access to Sensitive Business Flows -&gt; Tampering / Information Disclosure</a:t>
            </a:r>
            <a:br/>
            <a:r>
              <a:t>  • API7:2023 Server Side Request Forgery (SSRF) -&gt; Information Disclosure / Tampering</a:t>
            </a:r>
            <a:br/>
            <a:r>
              <a:t>  • API8:2023 Security Misconfiguration -&gt; Information Disclosure / Elevation of Privilege</a:t>
            </a:r>
            <a:br/>
            <a:r>
              <a:t>  • API9:2023 Improper Inventory Management -&gt; Information Disclosure</a:t>
            </a:r>
            <a:br/>
            <a:r>
              <a:t>  • API10:2023 Unsafe Consumption of APIs -&gt; Tampering / Information Disclosure</a:t>
            </a:r>
            <a:br/>
            <a:br/>
            <a:r>
              <a:t>API-Specific Threats:</a:t>
            </a:r>
            <a:br/>
            <a:r>
              <a:t>  • Mass Assignment: Clients sending unexpected fields that modify server-side state.</a:t>
            </a:r>
            <a:br/>
            <a:r>
              <a:t>  • Injection: NoSQL injection, GraphQL injection, LDAP injection, command injection via API parameters.</a:t>
            </a:r>
            <a:br/>
            <a:r>
              <a:t>  • Replay Attacks: Reuse of captured API requests without freshness validation.</a:t>
            </a:r>
            <a:br/>
            <a:r>
              <a:t>  • Versioning Abuse: Attacking deprecated API versions with known vulnerabilities.</a:t>
            </a:r>
            <a:br/>
            <a:r>
              <a:t>  • Shadow APIs: Undocumented, unmonitored endpoints created by development teams.</a:t>
            </a:r>
            <a:br/>
            <a:r>
              <a:t>  • Third-Party API Abuse: Compromised third-party integrations used as pivot points.</a:t>
            </a:r>
            <a:br/>
            <a:br/>
            <a:r>
              <a:t>Mitigations:</a:t>
            </a:r>
            <a:br/>
            <a:r>
              <a:t>  • Implement OAuth 2.0 + OIDC with PKCE for mobile/SPA clients.</a:t>
            </a:r>
            <a:br/>
            <a:r>
              <a:t>  • Enforce strict scope validation and JWT signature verification (RS256/ES256).</a:t>
            </a:r>
            <a:br/>
            <a:r>
              <a:t>  • Use API gateways with built-in rate limiting, request validation, and anomaly detection.</a:t>
            </a:r>
            <a:br/>
            <a:r>
              <a:t>  • Apply input validation at the gateway and service layers (defense in depth).</a:t>
            </a:r>
            <a:br/>
            <a:r>
              <a:t>  • Maintain an API inventory with automated discovery and documentation (OpenAPI/Swagger).</a:t>
            </a:r>
            <a:br/>
            <a:r>
              <a:t>  • Encrypt all API traffic with TLS 1.3 and enforce certificate pinning for mobile clients.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16  AI &amp; LLM Threat Modeling</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Large Language Models and AI systems introduce entirely new attack surfaces that traditional threat models do not address. The OWASP LLM Top 10 provides the taxonomy; architectural threat modeling provides the defense.</a:t>
            </a:r>
            <a:br/>
            <a:br/>
            <a:r>
              <a:t>LLM System Architecture:</a:t>
            </a:r>
            <a:br/>
            <a:r>
              <a:t>  • User Interface: Chat interface, API, embedded widget, agent framework.</a:t>
            </a:r>
            <a:br/>
            <a:r>
              <a:t>  • API Gateway: Authentication, rate limiting, prompt filtering, request routing.</a:t>
            </a:r>
            <a:br/>
            <a:r>
              <a:t>  • LLM Inference Engine: Model serving, context window management, token limits, fine-tuning pipeline.</a:t>
            </a:r>
            <a:br/>
            <a:r>
              <a:t>  • RAG Pipeline: Document ingestion, chunking, embedding generation, vector database retrieval.</a:t>
            </a:r>
            <a:br/>
            <a:r>
              <a:t>  • Knowledge Base: Vector database, document store, external APIs, tool integrations.</a:t>
            </a:r>
            <a:br/>
            <a:r>
              <a:t>  • Agent Framework: Tool calling, function invocation, autonomous decision loops, memory management.</a:t>
            </a:r>
            <a:br/>
            <a:br/>
            <a:r>
              <a:t>OWASP LLM Top 10 (2025) — Threat Analysis:</a:t>
            </a:r>
            <a:br/>
            <a:r>
              <a:t>  • LLM01: Prompt Injection -&gt; Direct and indirect prompt injection bypass safety guardrails. Mitigation: Input sanitization, prompt hardening, output filtering, context isolation.</a:t>
            </a:r>
            <a:br/>
            <a:r>
              <a:t>  • LLM02: Insecure Output Handling -&gt; LLM output treated as trusted code or commands. Mitigation: Output validation, sandboxing, strict typing, command whitelisting.</a:t>
            </a:r>
            <a:br/>
            <a:r>
              <a:t>  • LLM03: Training Data Poisoning -&gt; Malicious data inserted into training corpus. Mitigation: Data provenance verification, anomaly detection in training data, supply chain validation.</a:t>
            </a:r>
            <a:br/>
            <a:r>
              <a:t>  • LLM04: Model Denial of Service -&gt; Context window abuse, resource exhaustion, recursive tool calls. Mitigation: Rate limiting, context window caps, timeout controls, circuit breakers.</a:t>
            </a:r>
            <a:br/>
            <a:r>
              <a:t>  • LLM05: Supply Chain Vulnerabilities -&gt; Compromised base models, fine-tuning datasets, or inference frameworks. Mitigation: Model signing, SBOM for models, reproducible builds.</a:t>
            </a:r>
            <a:br/>
            <a:r>
              <a:t>  • LLM06: Sensitive Information Disclosure -&gt; PII leakage, training data memorization, prompt leaking. Mitigation: DLP on outputs, differential privacy, data minimization in training.</a:t>
            </a:r>
            <a:br/>
            <a:r>
              <a:t>  • LLM07: Insecure Plugin Design -&gt; Overly permissive tool integrations. Mitigation: Strict authorization scopes, input validation on tool parameters, sandboxed execution.</a:t>
            </a:r>
            <a:br/>
            <a:r>
              <a:t>  • LLM08: Excessive Agency -&gt; Autonomous agents with unbounded capabilities. Mitigation: Human-in-the-loop for high-impact actions, capability whitelisting, approval gates.</a:t>
            </a:r>
            <a:br/>
            <a:r>
              <a:t>  • LLM09: Overreliance -&gt; Users blindly trusting LLM outputs. Mitigation: Output disclaimers, confidence scoring, source attribution, human review workflows.</a:t>
            </a:r>
            <a:br/>
            <a:r>
              <a:t>  • LLM10: Model Theft -&gt; Unauthorized extraction of model weights or architecture. Mitigation: Access controls on weights, API rate limiting, watermarking, model obfuscation.</a:t>
            </a:r>
            <a:br/>
            <a:br/>
            <a:r>
              <a:t>RAG-Specific Threats:</a:t>
            </a:r>
            <a:br/>
            <a:r>
              <a:t>  • Embedding Inversion: Reconstructing source documents from vector embeddings.</a:t>
            </a:r>
            <a:br/>
            <a:r>
              <a:t>  • Vector DB Poisoning: Injecting malicious chunks into the retrieval corpus.</a:t>
            </a:r>
            <a:br/>
            <a:r>
              <a:t>  • Retrieval Manipulation: Forcing the model to retrieve specific poisoned chunks.</a:t>
            </a:r>
            <a:br/>
            <a:r>
              <a:t>  • Source Attribution Bypass: Hiding the true source of retrieved information.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17  Zero Trust Threat Modeling</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Zero Trust Architecture (ZTA) and threat modeling are complementary forces. STRIDE identifies which doors are vulnerable; Zero Trust installs the smart locks, cameras, and alarms that react in real time.</a:t>
            </a:r>
            <a:br/>
            <a:br/>
            <a:r>
              <a:t>Core Principle: Never Trust, Always Verify:</a:t>
            </a:r>
            <a:br/>
            <a:r>
              <a:t>  • Every user, device, and workload is treated as untrusted by default.</a:t>
            </a:r>
            <a:br/>
            <a:r>
              <a:t>  • Continuous authentication and authorization for every access request.</a:t>
            </a:r>
            <a:br/>
            <a:r>
              <a:t>  • Context-aware policies: user identity, device posture, geolocation, time of day, data sensitivity.</a:t>
            </a:r>
            <a:br/>
            <a:br/>
            <a:r>
              <a:t>STRIDE + Zero Trust Mapping:</a:t>
            </a:r>
            <a:br/>
            <a:r>
              <a:t>  • Spoofing -&gt; Rigorous identity verification for human and machine actors. MFA everywhere. Machine identity via mTLS and SPIFFE/SPIRE.</a:t>
            </a:r>
            <a:br/>
            <a:r>
              <a:t>  • Tampering -&gt; Code integrity enforced throughout the CI/CD pipeline. Supply chain verification via SBOM and SLSA.</a:t>
            </a:r>
            <a:br/>
            <a:r>
              <a:t>  • Repudiation -&gt; Immutable, trustworthy logs with cryptographic integrity. Centralized SIEM with tamper detection.</a:t>
            </a:r>
            <a:br/>
            <a:r>
              <a:t>  • Information Disclosure -&gt; Fine-grained data access, encryption everywhere, microsegmentation, DLP.</a:t>
            </a:r>
            <a:br/>
            <a:r>
              <a:t>  • Denial of Service -&gt; Availability treated as critical as confidentiality. Rate limiting, auto-scaling, redundancy, chaos engineering.</a:t>
            </a:r>
            <a:br/>
            <a:r>
              <a:t>  • Elevation of Privilege -&gt; Just-in-time access, time-boxed credentials, regular entitlement reviews, PAM.</a:t>
            </a:r>
            <a:br/>
            <a:br/>
            <a:r>
              <a:t>Microsegmentation:</a:t>
            </a:r>
            <a:br/>
            <a:r>
              <a:t>  • Carve the network and application into small, purpose-built zones.</a:t>
            </a:r>
            <a:br/>
            <a:r>
              <a:t>  • Each zone enforces rules on who or what may communicate — down to protocol, port, and identity.</a:t>
            </a:r>
            <a:br/>
            <a:r>
              <a:t>  • If an attacker breaches one segment, they are boxed in by micro-perimeters.</a:t>
            </a:r>
            <a:br/>
            <a:r>
              <a:t>  • Implement with network policies, service mesh sidecars, and identity-aware proxies.</a:t>
            </a:r>
            <a:br/>
            <a:br/>
            <a:r>
              <a:t>Adaptive Trust &amp; Context:</a:t>
            </a:r>
            <a:br/>
            <a:r>
              <a:t>  • Low-risk action (read-only dashboard from corporate network) -&gt; Password + push MFA.</a:t>
            </a:r>
            <a:br/>
            <a:r>
              <a:t>  • High-risk action (schema change on production DB from public Wi-Fi) -&gt; Hardware token + out-of-band approval.</a:t>
            </a:r>
            <a:br/>
            <a:r>
              <a:t>  • Encode trust tiers into policy engines: Open Policy Agent (OPA), Azure Policy, Google BeyondCorp.</a:t>
            </a:r>
            <a:br/>
            <a:br/>
            <a:r>
              <a:t>Device Management:</a:t>
            </a:r>
            <a:br/>
            <a:r>
              <a:t>  • Extend Zero Trust to endpoints: full-disk encryption, active EDR, compliant OS patch level.</a:t>
            </a:r>
            <a:br/>
            <a:r>
              <a:t>  • Posture checks at login and periodically thereafter. Non-compliant devices are quarantined or denied access.</a:t>
            </a:r>
            <a:br/>
            <a:r>
              <a:t>  • Differentiated access: Corporate laptop -&gt; full access. Contractor tablet -&gt; restricted zone only.</a:t>
            </a:r>
            <a:br/>
            <a:br/>
            <a:r>
              <a:t>Automation &amp; Policy as Code:</a:t>
            </a:r>
            <a:br/>
            <a:r>
              <a:t>  • Express security policies as machine-enforceable code.</a:t>
            </a:r>
            <a:br/>
            <a:r>
              <a:t>  • Block noncompliant changes at commit time. Halt deployments that violate encryption or access rules.</a:t>
            </a:r>
            <a:br/>
            <a:r>
              <a:t>  • Integrate IaC (Terraform, CloudFormation) with continuous compliance scanners.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18  DevSecOps &amp; Continuous Threat Modeling</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Threat modeling must evolve from a periodic workshop to a continuous, automated discipline embedded in every development cycle. The goal: catch risks in the same commit that introduces them.</a:t>
            </a:r>
            <a:br/>
            <a:br/>
            <a:r>
              <a:t>Shift Left -&gt; Shift Everywhere:</a:t>
            </a:r>
            <a:br/>
            <a:r>
              <a:t>  • Threat model at design, validate at build, monitor at runtime.</a:t>
            </a:r>
            <a:br/>
            <a:r>
              <a:t>  • Every architecture change — new microservice, opened port, added dependency — triggers threat model reassessment.</a:t>
            </a:r>
            <a:br/>
            <a:r>
              <a:t>  • Prevent 'threat drift' where the documented model no longer matches production reality.</a:t>
            </a:r>
            <a:br/>
            <a:br/>
            <a:r>
              <a:t>Integration Points in the SDLC:</a:t>
            </a:r>
            <a:br/>
            <a:r>
              <a:t>  • Requirements Phase: Define security requirements and compliance needs. Identify high-value assets and trust boundaries.</a:t>
            </a:r>
            <a:br/>
            <a:r>
              <a:t>  • Design Phase: Create DFD, perform STRIDE analysis, document decisions in ADRs.</a:t>
            </a:r>
            <a:br/>
            <a:r>
              <a:t>  • Implementation Phase: SAST, secure coding standards, peer review, secret scanning.</a:t>
            </a:r>
            <a:br/>
            <a:r>
              <a:t>  • Testing Phase: DAST, IAST, penetration testing, threat model validation.</a:t>
            </a:r>
            <a:br/>
            <a:r>
              <a:t>  • Deployment &amp; Operations: Security gates in CI/CD, continuous monitoring, runtime threat detection.</a:t>
            </a:r>
            <a:br/>
            <a:br/>
            <a:r>
              <a:t>Automation Opportunities:</a:t>
            </a:r>
            <a:br/>
            <a:r>
              <a:t>  • Auto-generate DFDs from Infrastructure-as-Code (Terraform, CloudFormation, Kubernetes manifests).</a:t>
            </a:r>
            <a:br/>
            <a:r>
              <a:t>  • SAST integration with threat pattern libraries — map code findings to modeled threats.</a:t>
            </a:r>
            <a:br/>
            <a:r>
              <a:t>  • Runtime threat detection via eBPF, Falco, or cloud-native security agents.</a:t>
            </a:r>
            <a:br/>
            <a:r>
              <a:t>  • Auto-create Jira/Azure DevOps tickets from threat register findings.</a:t>
            </a:r>
            <a:br/>
            <a:r>
              <a:t>  • Dashboard: Open threats vs. SLA compliance, control effectiveness, MTTD/MTTR.</a:t>
            </a:r>
            <a:br/>
            <a:br/>
            <a:r>
              <a:t>Security Gates:</a:t>
            </a:r>
            <a:br/>
            <a:r>
              <a:t>  • Block merge if high-risk threats are unmitigated.</a:t>
            </a:r>
            <a:br/>
            <a:r>
              <a:t>  • Fail builds if secrets are detected in source code.</a:t>
            </a:r>
            <a:br/>
            <a:r>
              <a:t>  • Halt deployment if container images contain critical vulnerabilities.</a:t>
            </a:r>
            <a:br/>
            <a:r>
              <a:t>  • Require security review approval for changes crossing trust boundaries.</a:t>
            </a:r>
            <a:br/>
            <a:br/>
            <a:r>
              <a:t>AI-Enhanced Threat Modeling (2026 Frontier):</a:t>
            </a:r>
            <a:br/>
            <a:r>
              <a:t>  • LLMs analyze massive attack data logs, infer patterns, and propose novel threats.</a:t>
            </a:r>
            <a:br/>
            <a:r>
              <a:t>  • AI-driven recommendations rank risks by potential business impact, not just technical severity.</a:t>
            </a:r>
            <a:br/>
            <a:r>
              <a:t>  • Automated attack graph generation from system architecture (Kubernetes, cloud-native).</a:t>
            </a:r>
            <a:br/>
            <a:r>
              <a:t>  • Predictive security: spot attack vectors before adversaries exploit them.</a:t>
            </a:r>
            <a:br/>
            <a:r>
              <a:t>  • Gartner predicts by 2029, 60% of organizations will adopt structured exposure validation as part of Continuous Threat Exposure Management (CTEM).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19  NIST SSDF &amp; Compliance Integration</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The NIST Secure Software Development Framework (SP 800-218) mandates threat modeling as a core practice. Compliance is no longer optional — it is a business imperative.</a:t>
            </a:r>
            <a:br/>
            <a:br/>
            <a:r>
              <a:t>NIST SSDF Four Practice Groups:</a:t>
            </a:r>
            <a:br/>
            <a:r>
              <a:t>  • PO — Prepare the Organization: Define roles, implement policies, provide training, define security requirements.</a:t>
            </a:r>
            <a:br/>
            <a:r>
              <a:t>  • PS — Protect the Software: Version control with strong access controls, code signing, artifact repositories with security scanning, secure archival.</a:t>
            </a:r>
            <a:br/>
            <a:r>
              <a:t>  • PW — Produce Well-Secured Software: Threat modeling (PW.1.1), secure design review, secure component reuse, secure coding, code review, security testing, secure configuration.</a:t>
            </a:r>
            <a:br/>
            <a:r>
              <a:t>  • RV — Respond to Vulnerabilities: Identify, assess, prioritize, remediate, root cause analysis.</a:t>
            </a:r>
            <a:br/>
            <a:br/>
            <a:r>
              <a:t>Threat Modeling in SSDF (PW.1):</a:t>
            </a:r>
            <a:br/>
            <a:r>
              <a:t>  • PW.1.1: Use forms of risk modeling — such as threat modeling, attack modeling, or attack surface mapping — to assess security risk.</a:t>
            </a:r>
            <a:br/>
            <a:r>
              <a:t>  • PW.1.2: Track and maintain security requirements, risks, and design decisions.</a:t>
            </a:r>
            <a:br/>
            <a:r>
              <a:t>  • PW.2: Have a qualified person or automated tool review the design to verify compliance with security requirements.</a:t>
            </a:r>
            <a:br/>
            <a:br/>
            <a:r>
              <a:t>Regulatory Alignment:</a:t>
            </a:r>
            <a:br/>
            <a:r>
              <a:t>  • PCI DSS 4.0: Requires threat modeling for custom software and payment processing environments.</a:t>
            </a:r>
            <a:br/>
            <a:r>
              <a:t>  • GDPR Article 32: Mandates technical and organizational measures including risk assessment.</a:t>
            </a:r>
            <a:br/>
            <a:r>
              <a:t>  • HIPAA Security Rule: Requires risk analysis and implementation of security measures.</a:t>
            </a:r>
            <a:br/>
            <a:r>
              <a:t>  • SOC 2 Type II: Expects documented threat assessments and control design.</a:t>
            </a:r>
            <a:br/>
            <a:r>
              <a:t>  • Executive Order 14028: Mandates NIST SSDF compliance for software sold to U.S. federal government.</a:t>
            </a:r>
            <a:br/>
            <a:br/>
            <a:r>
              <a:t>Evidence Collection:</a:t>
            </a:r>
            <a:br/>
            <a:r>
              <a:t>  • Threat models linked to compliance controls with traceability matrices.</a:t>
            </a:r>
            <a:br/>
            <a:r>
              <a:t>  • Audit trail of risk acceptance decisions with executive sign-off.</a:t>
            </a:r>
            <a:br/>
            <a:r>
              <a:t>  • Penetration test results mapped to threat register entries.</a:t>
            </a:r>
            <a:br/>
            <a:r>
              <a:t>  • Architecture Decision Records (ADRs) documenting security trade-offs.</a:t>
            </a:r>
            <a:br/>
            <a:br/>
            <a:r>
              <a:t>Reporting:</a:t>
            </a:r>
            <a:br/>
            <a:r>
              <a:t>  • Executive dashboard: Risk posture trends, open critical threats, control effectiveness.</a:t>
            </a:r>
            <a:br/>
            <a:r>
              <a:t>  • Board-level reporting: Material risks, mitigation status, residual risk with justification.</a:t>
            </a:r>
            <a:br/>
            <a:r>
              <a:t>  • Quarterly threat landscape review with industry-specific threat intelligence.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20  Enterprise Governance Structure</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Governance turns threat modeling analysis into organizational action. Without governance, threat models become shelfware.</a:t>
            </a:r>
            <a:br/>
            <a:br/>
            <a:r>
              <a:t>Architecture Review Board (ARB):</a:t>
            </a:r>
            <a:br/>
            <a:r>
              <a:t>  • Security architecture approval gate for all new systems and major changes.</a:t>
            </a:r>
            <a:br/>
            <a:r>
              <a:t>  • Threat model review is a mandatory checkpoint before design approval.</a:t>
            </a:r>
            <a:br/>
            <a:r>
              <a:t>  • Membership: Enterprise architects, security architects, lead developers, compliance officers.</a:t>
            </a:r>
            <a:br/>
            <a:r>
              <a:t>  • Cadence: Weekly or bi-weekly, with emergency sessions for critical changes.</a:t>
            </a:r>
            <a:br/>
            <a:br/>
            <a:r>
              <a:t>Security Review Board:</a:t>
            </a:r>
            <a:br/>
            <a:r>
              <a:t>  • Risk acceptance decisions and exception handling.</a:t>
            </a:r>
            <a:br/>
            <a:r>
              <a:t>  • Reviews residual risk above appetite threshold.</a:t>
            </a:r>
            <a:br/>
            <a:r>
              <a:t>  • Grants waivers with compensating controls and expiration dates.</a:t>
            </a:r>
            <a:br/>
            <a:r>
              <a:t>  • Membership: CISO, legal counsel, business unit leaders, compliance officers.</a:t>
            </a:r>
            <a:br/>
            <a:br/>
            <a:r>
              <a:t>Risk Committee:</a:t>
            </a:r>
            <a:br/>
            <a:r>
              <a:t>  • Enterprise risk appetite definition and quarterly threat landscape review.</a:t>
            </a:r>
            <a:br/>
            <a:r>
              <a:t>  • Aligns threat modeling priorities with business strategy.</a:t>
            </a:r>
            <a:br/>
            <a:r>
              <a:t>  • Membership: Board members, CISO, CFO, COO, external risk advisors.</a:t>
            </a:r>
            <a:br/>
            <a:r>
              <a:t>  • Outputs: Risk appetite statement, capital allocation for security, strategic security roadmap.</a:t>
            </a:r>
            <a:br/>
            <a:br/>
            <a:r>
              <a:t>Architecture Decision Records (ADRs):</a:t>
            </a:r>
            <a:br/>
            <a:r>
              <a:t>  • Document security trade-offs, accepted risks, and compensating controls.</a:t>
            </a:r>
            <a:br/>
            <a:r>
              <a:t>  • Link threats to accepted risks and implemented controls.</a:t>
            </a:r>
            <a:br/>
            <a:r>
              <a:t>  • Version-controlled, searchable, and auditable.</a:t>
            </a:r>
            <a:br/>
            <a:r>
              <a:t>  • Required for every trust boundary crossing, encryption choice, and authentication mechanism.</a:t>
            </a:r>
            <a:br/>
            <a:br/>
            <a:r>
              <a:t>Threat Modeling Maturity Model:</a:t>
            </a:r>
            <a:br/>
            <a:r>
              <a:t>  • Level 1 — Ad-hoc: Occasional whiteboard sessions, no standard methodology.</a:t>
            </a:r>
            <a:br/>
            <a:r>
              <a:t>  • Level 2 — Defined: Standardized STRIDE process, documented DFDs, risk scoring.</a:t>
            </a:r>
            <a:br/>
            <a:r>
              <a:t>  • Level 3 — Managed: Integrated into SDLC, automated tool support, metrics tracked.</a:t>
            </a:r>
            <a:br/>
            <a:r>
              <a:t>  • Level 4 — Optimized: AI-assisted threat discovery, continuous validation, predictive risk analytics, board-level reporting.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21  Tools &amp; Automation Ecosystem</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The right tools democratize threat modeling expertise and scale security practices across the enterprise.</a:t>
            </a:r>
            <a:br/>
            <a:br/>
            <a:r>
              <a:t>Threat Modeling Platforms:</a:t>
            </a:r>
            <a:br/>
            <a:r>
              <a:t>  • Microsoft Threat Modeling Tool: STRIDE-based automated analysis, DFD generation, threat suggestion engine. Free. Windows only.</a:t>
            </a:r>
            <a:br/>
            <a:r>
              <a:t>  • OWASP Threat Dragon: Open-source, collaborative, web-based. Supports STRIDE and LINDDUN. Integrates with GitHub/Jira.</a:t>
            </a:r>
            <a:br/>
            <a:r>
              <a:t>  • IriusRisk: Enterprise-grade automated threat modeling with risk scoring, control mapping, and compliance alignment.</a:t>
            </a:r>
            <a:br/>
            <a:r>
              <a:t>  • ThreatModeler: Cloud, on-prem, and hybrid environment support. Real-time analysis and CI/CD integration.</a:t>
            </a:r>
            <a:br/>
            <a:r>
              <a:t>  • pytm / ThreatSpec: Open-source Python-based threat modeling for code-centric teams.</a:t>
            </a:r>
            <a:br/>
            <a:r>
              <a:t>  • Devici: Diagrammatic threat modeling with built-in threat libraries and visual workflows.</a:t>
            </a:r>
            <a:br/>
            <a:br/>
            <a:r>
              <a:t>Diagramming Tools:</a:t>
            </a:r>
            <a:br/>
            <a:r>
              <a:t>  • draw.io (diagrams.net): Free, versatile, integrates with Confluence and GitHub.</a:t>
            </a:r>
            <a:br/>
            <a:r>
              <a:t>  • Microsoft Visio: Enterprise standard with threat modeling stencils.</a:t>
            </a:r>
            <a:br/>
            <a:r>
              <a:t>  • Miro / Lucidchart: Collaborative whiteboarding for distributed threat modeling workshops.</a:t>
            </a:r>
            <a:br/>
            <a:r>
              <a:t>  • ArchiMate / Enterprise Architect: For architecture-centric threat modeling in TOGAF environments.</a:t>
            </a:r>
            <a:br/>
            <a:br/>
            <a:r>
              <a:t>Automation &amp; Integration:</a:t>
            </a:r>
            <a:br/>
            <a:r>
              <a:t>  • CI/CD: Jenkins, GitHub Actions, GitLab CI, Azure DevOps — security gates, automated scanning.</a:t>
            </a:r>
            <a:br/>
            <a:r>
              <a:t>  • Ticketing: Jira, Azure DevOps, ServiceNow — auto-create tickets from threat register.</a:t>
            </a:r>
            <a:br/>
            <a:r>
              <a:t>  • Scanning: SAST (SonarQube, Semgrep), DAST (OWASP ZAP, Burp Suite), SCA (Snyk, Mend).</a:t>
            </a:r>
            <a:br/>
            <a:r>
              <a:t>  • Runtime: Falco, Tetragon, eBPF-based monitoring, cloud-native security agents.</a:t>
            </a:r>
            <a:br/>
            <a:r>
              <a:t>  • Policy: Open Policy Agent (OPA), Kyverno, Azure Policy, AWS Config Rules.</a:t>
            </a:r>
            <a:br/>
            <a:br/>
            <a:r>
              <a:t>2026 Gartner Market Guide — Automated Exposure Validation (AEV):</a:t>
            </a:r>
            <a:br/>
            <a:r>
              <a:t>  • AEV consolidates Breach and Attack Simulation (BAS) and automated penetration testing.</a:t>
            </a:r>
            <a:br/>
            <a:r>
              <a:t>  • By 2029, 60% of organizations will adopt structured exposure validation as part of CTEM.</a:t>
            </a:r>
            <a:br/>
            <a:r>
              <a:t>  • By 2029, 30% will link AEV results to automated remediation workflows.</a:t>
            </a:r>
            <a:br/>
            <a:r>
              <a:t>  • AI is becoming part of the AEV control plane for scenario selection and prioritization.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22  Enterprise Case Study: Banking Platform</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A full end-to-end threat model for a modern retail banking platform demonstrates how all concepts converge into practice.</a:t>
            </a:r>
            <a:br/>
            <a:br/>
            <a:r>
              <a:t>Business Requirements:</a:t>
            </a:r>
            <a:br/>
            <a:r>
              <a:t>  • Retail banking with mobile app, web portal, and open banking APIs (PSD2).</a:t>
            </a:r>
            <a:br/>
            <a:r>
              <a:t>  • PCI DSS compliance for cardholder data.</a:t>
            </a:r>
            <a:br/>
            <a:r>
              <a:t>  • PSD2 Strong Customer Authentication (SCA) requirements.</a:t>
            </a:r>
            <a:br/>
            <a:r>
              <a:t>  • Real-time fraud detection and transaction monitoring.</a:t>
            </a:r>
            <a:br/>
            <a:r>
              <a:t>  • 99.999% availability SLA with sub-second API response times.</a:t>
            </a:r>
            <a:br/>
            <a:br/>
            <a:r>
              <a:t>Architecture Overview:</a:t>
            </a:r>
            <a:br/>
            <a:r>
              <a:t>  • Mobile App -&gt; API Gateway (Kong/AWS API Gateway) -&gt; Microservices -&gt; Core Banking System.</a:t>
            </a:r>
            <a:br/>
            <a:r>
              <a:t>  • Event Bus: Apache Kafka for async transaction processing.</a:t>
            </a:r>
            <a:br/>
            <a:r>
              <a:t>  • Cache: Redis Cluster for session and rate-limiting data.</a:t>
            </a:r>
            <a:br/>
            <a:r>
              <a:t>  • Database: PostgreSQL cluster with read replicas, encrypted at rest.</a:t>
            </a:r>
            <a:br/>
            <a:r>
              <a:t>  • Third-party: Fintech integrations via OAuth 2.0 + mTLS.</a:t>
            </a:r>
            <a:br/>
            <a:br/>
            <a:r>
              <a:t>DFD &amp; Trust Boundaries:</a:t>
            </a:r>
            <a:br/>
            <a:r>
              <a:t>  • Internet -&gt; WAF -&gt; DMZ -&gt; Internal Network -&gt; Database Zone.</a:t>
            </a:r>
            <a:br/>
            <a:r>
              <a:t>  • Each crossing requires: TLS 1.3, mutual authentication, request signing, and audit logging.</a:t>
            </a:r>
            <a:br/>
            <a:r>
              <a:t>  • Third-party zone is fully segregated with network policies and API gateway validation.</a:t>
            </a:r>
            <a:br/>
            <a:br/>
            <a:r>
              <a:t>STRIDE Analysis Highlights:</a:t>
            </a:r>
            <a:br/>
            <a:r>
              <a:t>  • Spoofing: Stolen credentials -&gt; MFA + behavioral biometrics + device fingerprinting.</a:t>
            </a:r>
            <a:br/>
            <a:r>
              <a:t>  • Tampering: API parameter tampering -&gt; input validation + request signing + HMAC verification.</a:t>
            </a:r>
            <a:br/>
            <a:r>
              <a:t>  • Repudiation: Transaction denial -&gt; immutable audit logs + digital signatures + blockchain notarization.</a:t>
            </a:r>
            <a:br/>
            <a:r>
              <a:t>  • Information Disclosure: Verbose API errors -&gt; generic responses + correlation IDs + centralized logging.</a:t>
            </a:r>
            <a:br/>
            <a:r>
              <a:t>  • Denial of Service: API abuse -&gt; rate limiting + WAF + circuit breakers + auto-scaling + DDoS protection.</a:t>
            </a:r>
            <a:br/>
            <a:r>
              <a:t>  • Elevation of Privilege: JWT manipulation -&gt; RS256 with strict scope validation + short-lived tokens + token binding.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23  Banking Case Study: Risk &amp; Roadmap</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Outcomes and forward-looking roadmap from the banking platform threat model.</a:t>
            </a:r>
            <a:br/>
            <a:br/>
            <a:r>
              <a:t>Risk Prioritization Results:</a:t>
            </a:r>
            <a:br/>
            <a:r>
              <a:t>  • 47 threats identified across all STRIDE categories.</a:t>
            </a:r>
            <a:br/>
            <a:r>
              <a:t>  • 12 classified as Critical (CVSS 9.0–10.0 or DREAD 8.0+).</a:t>
            </a:r>
            <a:br/>
            <a:r>
              <a:t>  • Top risk: Core Banking API unauthorized access via compromised service account.</a:t>
            </a:r>
            <a:br/>
            <a:r>
              <a:t>  • Second risk: Kafka event bus tampering via unauthenticated producer connections.</a:t>
            </a:r>
            <a:br/>
            <a:r>
              <a:t>  • Third risk: Redis cache information disclosure via unencrypted replication traffic.</a:t>
            </a:r>
            <a:br/>
            <a:br/>
            <a:r>
              <a:t>Controls Implemented:</a:t>
            </a:r>
            <a:br/>
            <a:r>
              <a:t>  • Zero Trust network segmentation with microsegmentation between all service tiers.</a:t>
            </a:r>
            <a:br/>
            <a:r>
              <a:t>  • Privileged Access Management (PAM) for all database and core banking access.</a:t>
            </a:r>
            <a:br/>
            <a:r>
              <a:t>  • Token vaulting with HashiCorp Vault for all API keys and database credentials.</a:t>
            </a:r>
            <a:br/>
            <a:r>
              <a:t>  • Real-time fraud detection pipeline with UEBA and anomaly detection.</a:t>
            </a:r>
            <a:br/>
            <a:r>
              <a:t>  • mTLS everywhere: service-to-service, client-to-gateway, gateway-to-core.</a:t>
            </a:r>
            <a:br/>
            <a:r>
              <a:t>  • Immutable audit logging with WORM storage and 7-year retention.</a:t>
            </a:r>
            <a:br/>
            <a:r>
              <a:t>  • Automated secret rotation every 30 days with zero-downtime key rollover.</a:t>
            </a:r>
            <a:br/>
            <a:br/>
            <a:r>
              <a:t>Residual Risk:</a:t>
            </a:r>
            <a:br/>
            <a:r>
              <a:t>  • 3 risks accepted with board sign-off and documented compensating controls.</a:t>
            </a:r>
            <a:br/>
            <a:r>
              <a:t>  • Quarterly re-assessment scheduled with red team validation.</a:t>
            </a:r>
            <a:br/>
            <a:r>
              <a:t>  • Annual third-party penetration test aligned with threat model findings.</a:t>
            </a:r>
            <a:br/>
            <a:br/>
            <a:r>
              <a:t>12-Month Roadmap:</a:t>
            </a:r>
            <a:br/>
            <a:r>
              <a:t>  • Q1: MFA rollout to 100% of user base (FIDO2/WebAuthn preferred).</a:t>
            </a:r>
            <a:br/>
            <a:r>
              <a:t>  • Q2: API security hardening — schema validation, rate limiting, anomaly detection.</a:t>
            </a:r>
            <a:br/>
            <a:r>
              <a:t>  • Q3: SIEM integration with MITRE ATT&amp;CK mapping and automated alerting.</a:t>
            </a:r>
            <a:br/>
            <a:r>
              <a:t>  • Q4: Red team exercise against the full threat model with adversarial exposure validation.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24  Professional Templates &amp; Deliverables</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Standardized templates ensure consistency, auditability, and executive clarity across all threat modeling engagements.</a:t>
            </a:r>
            <a:br/>
            <a:br/>
            <a:r>
              <a:t>Project Charter Template:</a:t>
            </a:r>
            <a:br/>
            <a:r>
              <a:t>  • Scope: System boundaries, in-scope and out-of-scope components.</a:t>
            </a:r>
            <a:br/>
            <a:r>
              <a:t>  • Stakeholders: Business owners, architects, security team, compliance officers, developers.</a:t>
            </a:r>
            <a:br/>
            <a:r>
              <a:t>  • Assets: High-value data, critical services, crown-jewel systems.</a:t>
            </a:r>
            <a:br/>
            <a:r>
              <a:t>  • Boundaries: Trust boundaries, network zones, third-party integrations.</a:t>
            </a:r>
            <a:br/>
            <a:r>
              <a:t>  • Methodology: STRIDE, DREAD, PASTA, or hybrid approach.</a:t>
            </a:r>
            <a:br/>
            <a:r>
              <a:t>  • Timeline: Workshop schedule, review gates, delivery milestones.</a:t>
            </a:r>
            <a:br/>
            <a:br/>
            <a:r>
              <a:t>Threat Register Template:</a:t>
            </a:r>
            <a:br/>
            <a:r>
              <a:t>  • ID: Unique identifier (e.g., TM-2026-001).</a:t>
            </a:r>
            <a:br/>
            <a:r>
              <a:t>  • STRIDE Category: S, T, R, I, D, or E.</a:t>
            </a:r>
            <a:br/>
            <a:r>
              <a:t>  • Description: Detailed threat scenario with attack vector.</a:t>
            </a:r>
            <a:br/>
            <a:r>
              <a:t>  • Likelihood: Rare / Unlikely / Possible / Likely / Almost Certain.</a:t>
            </a:r>
            <a:br/>
            <a:r>
              <a:t>  • Impact: Negligible / Low / Medium / High / Critical.</a:t>
            </a:r>
            <a:br/>
            <a:r>
              <a:t>  • Risk Score: DREAD average, CVSS base score, or matrix cell.</a:t>
            </a:r>
            <a:br/>
            <a:r>
              <a:t>  • Owner: Assigned engineer or team responsible for mitigation.</a:t>
            </a:r>
            <a:br/>
            <a:r>
              <a:t>  • Status: Open / In Progress / Mitigated / Accepted / Transferred.</a:t>
            </a:r>
            <a:br/>
            <a:r>
              <a:t>  • Mitigation: Control description, implementation date, validation method.</a:t>
            </a:r>
            <a:br/>
            <a:r>
              <a:t>  • Residual Risk: Score after controls, acceptance rationale, sign-off.</a:t>
            </a:r>
            <a:br/>
            <a:br/>
            <a:r>
              <a:t>Risk Matrix Template:</a:t>
            </a:r>
            <a:br/>
            <a:r>
              <a:t>  • 5x5 heat map with threat distribution visualization.</a:t>
            </a:r>
            <a:br/>
            <a:r>
              <a:t>  • Color coding: Green (Low), Yellow (Medium), Orange (High), Red (Critical).</a:t>
            </a:r>
            <a:br/>
            <a:r>
              <a:t>  • Trend arrows: Improving, stable, or worsening over time.</a:t>
            </a:r>
            <a:br/>
            <a:r>
              <a:t>  • Control coverage overlay: Which threats have validated detective controls.</a:t>
            </a:r>
            <a:br/>
            <a:br/>
            <a:r>
              <a:t>Executive Report Template:</a:t>
            </a:r>
            <a:br/>
            <a:r>
              <a:t>  • Executive Summary: Top 10 risks in business language with financial impact.</a:t>
            </a:r>
            <a:br/>
            <a:r>
              <a:t>  • Mitigation Roadmap: Quarterly plan with budget estimates and resource allocation.</a:t>
            </a:r>
            <a:br/>
            <a:r>
              <a:t>  • Residual Risk: Accepted risks with board sign-off and review dates.</a:t>
            </a:r>
            <a:br/>
            <a:r>
              <a:t>  • Compliance Alignment: How threat model findings map to regulatory requirements.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25  Key Takeaways</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Threat modeling is a design-time discipline. Find vulnerabilities before attackers do.</a:t>
            </a:r>
            <a:br/>
            <a:br/>
            <a:r>
              <a:t>Core Principles:</a:t>
            </a:r>
            <a:br/>
            <a:r>
              <a:t>  • STRIDE provides a systematic threat taxonomy. Apply it to every component and every trust boundary.</a:t>
            </a:r>
            <a:br/>
            <a:r>
              <a:t>  • Risk scoring enables prioritization. Focus resources on what matters most to the business.</a:t>
            </a:r>
            <a:br/>
            <a:r>
              <a:t>  • Security is continuous, not a checkpoint. Integrate into SDLC and automate where possible.</a:t>
            </a:r>
            <a:br/>
            <a:r>
              <a:t>  • Governance turns analysis into action. ADRs, risk registers, and executive reporting close the loop.</a:t>
            </a:r>
            <a:br/>
            <a:br/>
            <a:r>
              <a:t>Modern Imperatives (2026):</a:t>
            </a:r>
            <a:br/>
            <a:r>
              <a:t>  • AI/LLM systems require dedicated threat models. OWASP LLM Top 10 is the starting taxonomy.</a:t>
            </a:r>
            <a:br/>
            <a:r>
              <a:t>  • Cloud-native and Kubernetes architectures demand continuous, automated threat modeling.</a:t>
            </a:r>
            <a:br/>
            <a:r>
              <a:t>  • Zero Trust is not a product — it is a mindset that amplifies STRIDE insights with operational rigor.</a:t>
            </a:r>
            <a:br/>
            <a:r>
              <a:t>  • DevSecOps integration prevents threat drift and catches risks at the commit level.</a:t>
            </a:r>
            <a:br/>
            <a:r>
              <a:t>  • NIST SSDF compliance is mandatory for federal suppliers and best practice for all organizations.</a:t>
            </a:r>
            <a:br/>
            <a:br/>
            <a:r>
              <a:t>The Threat Modeling Checklist:</a:t>
            </a:r>
            <a:br/>
            <a:r>
              <a:t>  [ ] Define system scope and stakeholders</a:t>
            </a:r>
            <a:br/>
            <a:r>
              <a:t>  [ ] Identify assets and data classification</a:t>
            </a:r>
            <a:br/>
            <a:r>
              <a:t>  [ ] Create DFD (Context -&gt; Level 1 -&gt; Level 2)</a:t>
            </a:r>
            <a:br/>
            <a:r>
              <a:t>  [ ] Map trust boundaries</a:t>
            </a:r>
            <a:br/>
            <a:r>
              <a:t>  [ ] Apply STRIDE to each component and flow</a:t>
            </a:r>
            <a:br/>
            <a:r>
              <a:t>  [ ] Score risks (DREAD or CVSS)</a:t>
            </a:r>
            <a:br/>
            <a:r>
              <a:t>  [ ] Define and implement controls</a:t>
            </a:r>
            <a:br/>
            <a:r>
              <a:t>  [ ] Document residual risk and acceptance</a:t>
            </a:r>
            <a:br/>
            <a:r>
              <a:t>  [ ] Create threat register and track to closure</a:t>
            </a:r>
            <a:br/>
            <a:r>
              <a:t>  [ ] Review and update quarterly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26  Further Reading &amp; Resources</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Books:</a:t>
            </a:r>
            <a:br/>
            <a:r>
              <a:t>  • Threat Modeling by Adam Shostack</a:t>
            </a:r>
            <a:br/>
            <a:r>
              <a:t>  • Designing Secure Software by Loren Kohnfelder</a:t>
            </a:r>
            <a:br/>
            <a:r>
              <a:t>  • Threat Modeling: A Practical Guide for Defense by Brook Schoenfield</a:t>
            </a:r>
            <a:br/>
            <a:br/>
            <a:r>
              <a:t>Standards &amp; Frameworks:</a:t>
            </a:r>
            <a:br/>
            <a:r>
              <a:t>  • NIST SP 800-218 (SSDF) — Secure Software Development Framework</a:t>
            </a:r>
            <a:br/>
            <a:r>
              <a:t>  • NIST Cybersecurity Framework (CSF) 2.0</a:t>
            </a:r>
            <a:br/>
            <a:r>
              <a:t>  • OWASP Threat Modeling Cheat Sheet</a:t>
            </a:r>
            <a:br/>
            <a:r>
              <a:t>  • OWASP API Security Top 10 (2023)</a:t>
            </a:r>
            <a:br/>
            <a:r>
              <a:t>  • OWASP LLM Top 10 (2025)</a:t>
            </a:r>
            <a:br/>
            <a:r>
              <a:t>  • MITRE ATT&amp;CK Framework (Enterprise, Mobile, ICS matrices)</a:t>
            </a:r>
            <a:br/>
            <a:r>
              <a:t>  • MITRE D3FEND — Countermeasures mapped to ATT&amp;CK</a:t>
            </a:r>
            <a:br/>
            <a:r>
              <a:t>  • ISO/IEC 27001:2022 — Information Security Management</a:t>
            </a:r>
            <a:br/>
            <a:r>
              <a:t>  • PCI DSS 4.0 — Payment Card Industry Data Security Standard</a:t>
            </a:r>
            <a:br/>
            <a:br/>
            <a:r>
              <a:t>Tools:</a:t>
            </a:r>
            <a:br/>
            <a:r>
              <a:t>  • Microsoft Threat Modeling Tool (free, Windows)</a:t>
            </a:r>
            <a:br/>
            <a:r>
              <a:t>  • OWASP Threat Dragon (open-source, collaborative)</a:t>
            </a:r>
            <a:br/>
            <a:r>
              <a:t>  • IriusRisk (enterprise automation)</a:t>
            </a:r>
            <a:br/>
            <a:r>
              <a:t>  • ThreatModeler (cloud/on-prem/hybrid)</a:t>
            </a:r>
            <a:br/>
            <a:r>
              <a:t>  • pytm, ThreatSpec (open-source Python)</a:t>
            </a:r>
            <a:br/>
            <a:r>
              <a:t>  • draw.io, Visio, Miro, Lucidchart (diagramming)</a:t>
            </a:r>
            <a:br/>
            <a:r>
              <a:t>  • Falco, Tetragon (runtime security)</a:t>
            </a:r>
            <a:br/>
            <a:r>
              <a:t>  • Open Policy Agent, Kyverno (policy as code)</a:t>
            </a:r>
            <a:br/>
            <a:br/>
            <a:r>
              <a:t>Communities &amp; Training:</a:t>
            </a:r>
            <a:br/>
            <a:r>
              <a:t>  • OWASP Foundation (owasp.org)</a:t>
            </a:r>
            <a:br/>
            <a:r>
              <a:t>  • MITRE ATT&amp;CK (attack.mitre.org)</a:t>
            </a:r>
            <a:br/>
            <a:r>
              <a:t>  • Cloud Native Computing Foundation Security TAG (github.com/cncf/tag-security)</a:t>
            </a:r>
            <a:br/>
            <a:r>
              <a:t>  • SANS SEC510: Cloud Security Monitoring and Threat Detection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3200" b="1">
                <a:solidFill>
                  <a:srgbClr val="000000"/>
                </a:solidFill>
                <a:latin typeface="Calibri"/>
              </a:defRPr>
            </a:pPr>
            <a:r>
              <a:t>Thank You</a:t>
            </a:r>
          </a:p>
        </p:txBody>
      </p:sp>
      <p:sp>
        <p:nvSpPr>
          <p:cNvPr id="3" name="TextBox 2"/>
          <p:cNvSpPr txBox="1"/>
          <p:nvPr/>
        </p:nvSpPr>
        <p:spPr>
          <a:xfrm>
            <a:off x="457200" y="1188720"/>
            <a:ext cx="11277295" cy="5303520"/>
          </a:xfrm>
          <a:prstGeom prst="rect">
            <a:avLst/>
          </a:prstGeom>
          <a:noFill/>
        </p:spPr>
        <p:txBody>
          <a:bodyPr wrap="square">
            <a:spAutoFit/>
          </a:bodyPr>
          <a:lstStyle/>
          <a:p>
            <a:pPr>
              <a:lnSpc>
                <a:spcPct val="115000"/>
              </a:lnSpc>
              <a:defRPr sz="1700">
                <a:solidFill>
                  <a:srgbClr val="000000"/>
                </a:solidFill>
                <a:latin typeface="Calibri"/>
              </a:defRPr>
            </a:pPr>
            <a:r>
              <a:t>Threat Modeling Masterclass</a:t>
            </a:r>
            <a:br/>
            <a:r>
              <a:t>2026 Expanded Edition</a:t>
            </a:r>
            <a:br/>
            <a:br/>
            <a:r>
              <a:t>Security is not a product. It is a process.</a:t>
            </a:r>
            <a:br/>
            <a:r>
              <a:t>Threat modeling is the process of thinking like an attacker</a:t>
            </a:r>
            <a:br/>
            <a:r>
              <a:t>so you can build like a defender.</a:t>
            </a:r>
            <a:br/>
            <a:br/>
            <a:r>
              <a:t>Questions?</a:t>
            </a:r>
            <a:br/>
            <a:br/>
            <a:r>
              <a:t>References: NIST SP 800-218 | OWASP | MITRE ATT&amp;CK | Gartner AEV 2026 | CNCF Security Whitepaper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