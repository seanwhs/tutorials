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6"/>
  </p:notesMasterIdLst>
  <p:sldIdLst>
    <p:sldId id="257" r:id="rId2"/>
    <p:sldId id="258" r:id="rId3"/>
    <p:sldId id="272" r:id="rId4"/>
    <p:sldId id="259" r:id="rId5"/>
    <p:sldId id="313" r:id="rId6"/>
    <p:sldId id="261" r:id="rId7"/>
    <p:sldId id="264" r:id="rId8"/>
    <p:sldId id="262" r:id="rId9"/>
    <p:sldId id="265" r:id="rId10"/>
    <p:sldId id="421" r:id="rId11"/>
    <p:sldId id="422" r:id="rId12"/>
    <p:sldId id="423" r:id="rId13"/>
    <p:sldId id="426" r:id="rId14"/>
    <p:sldId id="427" r:id="rId15"/>
    <p:sldId id="428" r:id="rId16"/>
    <p:sldId id="358" r:id="rId17"/>
    <p:sldId id="360" r:id="rId18"/>
    <p:sldId id="361" r:id="rId19"/>
    <p:sldId id="362" r:id="rId20"/>
    <p:sldId id="363" r:id="rId21"/>
    <p:sldId id="364" r:id="rId22"/>
    <p:sldId id="365" r:id="rId23"/>
    <p:sldId id="366" r:id="rId24"/>
    <p:sldId id="367" r:id="rId25"/>
    <p:sldId id="368" r:id="rId26"/>
    <p:sldId id="369" r:id="rId27"/>
    <p:sldId id="420" r:id="rId28"/>
    <p:sldId id="314" r:id="rId29"/>
    <p:sldId id="432" r:id="rId30"/>
    <p:sldId id="433" r:id="rId31"/>
    <p:sldId id="434" r:id="rId32"/>
    <p:sldId id="435" r:id="rId33"/>
    <p:sldId id="438" r:id="rId34"/>
    <p:sldId id="439" r:id="rId35"/>
    <p:sldId id="440" r:id="rId36"/>
    <p:sldId id="441" r:id="rId37"/>
    <p:sldId id="448" r:id="rId38"/>
    <p:sldId id="449" r:id="rId39"/>
    <p:sldId id="450" r:id="rId40"/>
    <p:sldId id="451" r:id="rId41"/>
    <p:sldId id="452" r:id="rId42"/>
    <p:sldId id="453" r:id="rId43"/>
    <p:sldId id="454" r:id="rId44"/>
    <p:sldId id="455" r:id="rId45"/>
    <p:sldId id="456" r:id="rId46"/>
    <p:sldId id="457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6" r:id="rId55"/>
    <p:sldId id="387" r:id="rId56"/>
    <p:sldId id="388" r:id="rId57"/>
    <p:sldId id="389" r:id="rId58"/>
    <p:sldId id="390" r:id="rId59"/>
    <p:sldId id="391" r:id="rId60"/>
    <p:sldId id="392" r:id="rId61"/>
    <p:sldId id="393" r:id="rId62"/>
    <p:sldId id="394" r:id="rId63"/>
    <p:sldId id="395" r:id="rId64"/>
    <p:sldId id="396" r:id="rId65"/>
    <p:sldId id="269" r:id="rId66"/>
    <p:sldId id="270" r:id="rId67"/>
    <p:sldId id="271" r:id="rId68"/>
    <p:sldId id="315" r:id="rId69"/>
    <p:sldId id="298" r:id="rId70"/>
    <p:sldId id="316" r:id="rId71"/>
    <p:sldId id="330" r:id="rId72"/>
    <p:sldId id="268" r:id="rId73"/>
    <p:sldId id="299" r:id="rId74"/>
    <p:sldId id="300" r:id="rId75"/>
    <p:sldId id="301" r:id="rId76"/>
    <p:sldId id="302" r:id="rId77"/>
    <p:sldId id="303" r:id="rId78"/>
    <p:sldId id="304" r:id="rId79"/>
    <p:sldId id="305" r:id="rId80"/>
    <p:sldId id="306" r:id="rId81"/>
    <p:sldId id="309" r:id="rId82"/>
    <p:sldId id="308" r:id="rId83"/>
    <p:sldId id="347" r:id="rId84"/>
    <p:sldId id="348" r:id="rId85"/>
    <p:sldId id="458" r:id="rId86"/>
    <p:sldId id="349" r:id="rId87"/>
    <p:sldId id="350" r:id="rId88"/>
    <p:sldId id="459" r:id="rId89"/>
    <p:sldId id="460" r:id="rId90"/>
    <p:sldId id="461" r:id="rId91"/>
    <p:sldId id="462" r:id="rId92"/>
    <p:sldId id="463" r:id="rId93"/>
    <p:sldId id="464" r:id="rId94"/>
    <p:sldId id="465" r:id="rId95"/>
    <p:sldId id="466" r:id="rId96"/>
    <p:sldId id="370" r:id="rId97"/>
    <p:sldId id="371" r:id="rId98"/>
    <p:sldId id="372" r:id="rId99"/>
    <p:sldId id="373" r:id="rId100"/>
    <p:sldId id="374" r:id="rId101"/>
    <p:sldId id="375" r:id="rId102"/>
    <p:sldId id="376" r:id="rId103"/>
    <p:sldId id="377" r:id="rId104"/>
    <p:sldId id="378" r:id="rId105"/>
    <p:sldId id="467" r:id="rId106"/>
    <p:sldId id="468" r:id="rId107"/>
    <p:sldId id="469" r:id="rId108"/>
    <p:sldId id="470" r:id="rId109"/>
    <p:sldId id="471" r:id="rId110"/>
    <p:sldId id="472" r:id="rId111"/>
    <p:sldId id="473" r:id="rId112"/>
    <p:sldId id="474" r:id="rId113"/>
    <p:sldId id="475" r:id="rId114"/>
    <p:sldId id="476" r:id="rId115"/>
    <p:sldId id="310" r:id="rId116"/>
    <p:sldId id="311" r:id="rId117"/>
    <p:sldId id="312" r:id="rId118"/>
    <p:sldId id="276" r:id="rId119"/>
    <p:sldId id="277" r:id="rId120"/>
    <p:sldId id="278" r:id="rId121"/>
    <p:sldId id="279" r:id="rId122"/>
    <p:sldId id="280" r:id="rId123"/>
    <p:sldId id="275" r:id="rId124"/>
    <p:sldId id="281" r:id="rId125"/>
    <p:sldId id="282" r:id="rId126"/>
    <p:sldId id="283" r:id="rId127"/>
    <p:sldId id="284" r:id="rId128"/>
    <p:sldId id="273" r:id="rId129"/>
    <p:sldId id="274" r:id="rId130"/>
    <p:sldId id="285" r:id="rId131"/>
    <p:sldId id="267" r:id="rId132"/>
    <p:sldId id="477" r:id="rId133"/>
    <p:sldId id="478" r:id="rId134"/>
    <p:sldId id="479" r:id="rId135"/>
    <p:sldId id="480" r:id="rId136"/>
    <p:sldId id="481" r:id="rId137"/>
    <p:sldId id="482" r:id="rId138"/>
    <p:sldId id="260" r:id="rId139"/>
    <p:sldId id="483" r:id="rId140"/>
    <p:sldId id="484" r:id="rId141"/>
    <p:sldId id="485" r:id="rId142"/>
    <p:sldId id="263" r:id="rId143"/>
    <p:sldId id="486" r:id="rId144"/>
    <p:sldId id="487" r:id="rId1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heme" Target="theme/theme1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9D8F9-AD03-476A-AEFA-1FF4BE8428E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A7FF6F-B26E-4F75-B809-CA0C1394566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5816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CA64D54-7503-03FC-F98E-5A3D9E751B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84742C-1AEF-41F0-A7A1-C6CADD679923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214018" name="Rectangle 2">
            <a:extLst>
              <a:ext uri="{FF2B5EF4-FFF2-40B4-BE49-F238E27FC236}">
                <a16:creationId xmlns:a16="http://schemas.microsoft.com/office/drawing/2014/main" id="{9A9651FB-4128-EF82-0469-BBB5DCE7D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endParaRPr lang="en-GB" altLang="en-US"/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69E31528-8BAC-BEFA-019B-7B14B3BB53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Reset</a:t>
            </a:r>
            <a:r>
              <a:rPr lang="en-US" baseline="0" dirty="0"/>
              <a:t> is not working here! Debug! test1.html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element on the page has a corresponding DOM object access/modify the attributes of the DOM object with </a:t>
            </a:r>
            <a:r>
              <a:rPr lang="en-US" i="1" dirty="0" err="1"/>
              <a:t>objectName</a:t>
            </a:r>
            <a:r>
              <a:rPr lang="en-US" dirty="0" err="1"/>
              <a:t>.</a:t>
            </a:r>
            <a:r>
              <a:rPr lang="en-US" i="1" dirty="0" err="1"/>
              <a:t>attributeName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span.innerHTML</a:t>
            </a:r>
            <a:r>
              <a:rPr lang="en-US" dirty="0"/>
              <a:t> = </a:t>
            </a:r>
            <a:r>
              <a:rPr lang="en-US" dirty="0" err="1"/>
              <a:t>textBox.value</a:t>
            </a:r>
            <a:r>
              <a:rPr lang="en-US" dirty="0"/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two ways to initialize an array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length property (grows as needed when elements are added)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66D783-408F-4FEA-A2B8-B64AAB5EA06B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74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0B69D5F5-648D-72D7-00AA-35089A6B73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5175666-394E-463C-81DF-7CA4B1136056}" type="slidenum">
              <a:rPr lang="en-US" altLang="en-US"/>
              <a:pPr eaLnBrk="1" hangingPunct="1"/>
              <a:t>131</a:t>
            </a:fld>
            <a:endParaRPr lang="en-US" alt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CC5F315D-CDCE-1A8D-2268-D0A9AA759A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84F1B2BC-A29E-08B7-D697-59A733A8EA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2E87C33B-79F1-0835-5DD8-44F71C4DE4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1D1F002-DEEF-4E12-A9F3-389A675DFED2}" type="slidenum">
              <a:rPr lang="en-US" altLang="en-US"/>
              <a:pPr eaLnBrk="1" hangingPunct="1"/>
              <a:t>132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BD4960A-2C0E-6131-CB34-C40E7749FD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8E324758-14CC-A385-B9F6-D6727038BD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644112BB-4367-2571-66BE-DE99E45144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5297B31-EBE9-4B0C-B424-FDE57CBB9B09}" type="slidenum">
              <a:rPr lang="en-US" altLang="en-US"/>
              <a:pPr eaLnBrk="1" hangingPunct="1"/>
              <a:t>133</a:t>
            </a:fld>
            <a:endParaRPr lang="en-US" altLang="en-US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B5A5AA2D-BB99-48B9-AB4A-73362648AB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DFCF8E55-E45F-5CE1-CCF4-B77E4129FB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D826D20-59FE-C2C8-4318-0792654273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A85BC05-ECD8-4819-BF4C-82A2E1D81D48}" type="slidenum">
              <a:rPr lang="en-US" altLang="en-US"/>
              <a:pPr eaLnBrk="1" hangingPunct="1"/>
              <a:t>134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4BCDEF6A-170F-4619-2A30-1F8269EE47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8B0A89D2-9D29-5616-8F12-A18BEE6A40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4D69C745-CE5E-069F-FA40-E1932F9122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C58A36E-49C9-4222-A26B-AB37833CC311}" type="slidenum">
              <a:rPr lang="en-US" altLang="en-US"/>
              <a:pPr eaLnBrk="1" hangingPunct="1"/>
              <a:t>135</a:t>
            </a:fld>
            <a:endParaRPr lang="en-US" altLang="en-US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3BAA9C47-7AD0-D3B6-56EF-92CD0A6EF6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687FB2F9-051D-51BF-D177-0E310673F9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5AC5B47A-D537-D2F7-893B-70CBD20B5E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1035593-C04A-455B-AD6D-388F07C1C432}" type="slidenum">
              <a:rPr lang="en-US" altLang="en-US"/>
              <a:pPr eaLnBrk="1" hangingPunct="1"/>
              <a:t>136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83CA37B-A418-154A-0E94-8CCC65D561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D2765D93-43CB-5A10-98CC-1F419047DC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D14061A8-C23D-25CE-2E1F-3FA79907E2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5DCBEFB-4585-4A66-990E-8C69AF3F0C38}" type="slidenum">
              <a:rPr lang="en-US" altLang="en-US"/>
              <a:pPr eaLnBrk="1" hangingPunct="1"/>
              <a:t>137</a:t>
            </a:fld>
            <a:endParaRPr lang="en-US" altLang="en-US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8F6F37A2-C536-7052-BC03-B5DB6AC4AA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0789E23-C826-489A-E7C9-258C778F9F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4DF5C9D8-9CF2-5FA1-91A8-86B4C1D0FF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E4D82B2-59F3-4BA6-ABF9-74076118D398}" type="slidenum">
              <a:rPr lang="en-US" altLang="en-US"/>
              <a:pPr eaLnBrk="1" hangingPunct="1"/>
              <a:t>138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AAF41FC-3FA1-CF2C-CA7C-5CBAC95CEF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5BD69240-1001-4ACC-582B-C99588325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8AEBA526-1234-5FE9-DF95-CEB31671A5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786842-F758-458B-B1E5-1DC9584F23D0}" type="slidenum">
              <a:rPr lang="en-US" altLang="en-US"/>
              <a:pPr eaLnBrk="1" hangingPunct="1"/>
              <a:t>139</a:t>
            </a:fld>
            <a:endParaRPr lang="en-US" altLang="en-US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7DC9D3AC-D34F-77EB-90BC-7BFB323BDB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58CB5B5D-B96A-9648-B619-12C7C92AA1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0739B940-6C2C-D261-E687-F6F023F172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4A4D52E-477C-4BA3-A528-179FD8C49696}" type="slidenum">
              <a:rPr lang="en-US" altLang="en-US"/>
              <a:pPr eaLnBrk="1" hangingPunct="1"/>
              <a:t>140</a:t>
            </a:fld>
            <a:endParaRPr lang="en-US" alt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9BB3DB93-E58F-39FE-6058-EF06E41E68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E439CC9D-5A22-5759-D925-6EF2FEDB3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833944A1-E287-2652-CED8-49C831E010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1AF70E5-4EE3-4EC4-BB78-62826BEF1A10}" type="slidenum">
              <a:rPr lang="en-US" altLang="en-US"/>
              <a:pPr eaLnBrk="1" hangingPunct="1"/>
              <a:t>141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599D16DC-EDE2-1326-8E76-DEB2816E1F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41149EDE-6338-EE00-6670-D24C7EA0C1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4C93C7C4-64AE-9430-E0BA-4D157110D6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B45024-6398-4FA9-B5CE-7ECC01752CEC}" type="slidenum">
              <a:rPr lang="en-US" altLang="en-US"/>
              <a:pPr eaLnBrk="1" hangingPunct="1"/>
              <a:t>142</a:t>
            </a:fld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DEE2CD0F-781F-4406-C4FB-284A512B56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DCF5CE19-94B2-6C1F-A92A-E475D9958E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C7F5AD17-635B-BA68-D041-FAEF436BA4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D67FCFD-BA7B-4C68-B8EF-38FEE8CE8427}" type="slidenum">
              <a:rPr lang="en-US" altLang="en-US"/>
              <a:pPr eaLnBrk="1" hangingPunct="1"/>
              <a:t>143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AF37A773-5061-814F-B058-4C043C5A16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D7B00979-18A9-EB2A-E2F3-859FB744D3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AEA8C3F1-90E8-D9A0-C8FE-F2FF3EC31E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F94F34E-50F0-4BA3-9456-092666830BA9}" type="slidenum">
              <a:rPr lang="en-US" altLang="en-US"/>
              <a:pPr eaLnBrk="1" hangingPunct="1"/>
              <a:t>144</a:t>
            </a:fld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F3A6D997-C0AC-0CDA-85D2-F2A0B9AAD1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486C0BF5-8025-B8AF-5408-8D6E4BEB65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CE33-544B-EA18-21A9-A8EE591EE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59C2F-6625-121C-7D40-4C3361E41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A3641-BB7A-B520-55DC-2071B6419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C2CFD-BAFB-F288-F23D-30F231510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922E6-9BF3-A59D-420F-B22175A5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3759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ABBDB-8FC1-02BC-988C-078F27881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D38E0-2C25-F5AE-45DA-5DD5C298A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59A68-1C21-FD7D-9E43-97BDBFCD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8FAD0-63F9-2D32-3E32-0F8391BC3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BB220-0DBF-F52B-CDD4-05B3DA0D4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43700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C5539-1D4D-9213-CFCD-12E14359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5A9A5-0CF3-FE97-9297-EAF1FC2DF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B00AE-1D8D-785F-A372-F3C1DE26C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3580-4EF2-B810-CF24-298DF9296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DBCD1-E9D5-4214-FB43-3023BAD55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491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1F44-DAE9-E323-5BD9-421D0C669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458E6-4933-96E2-E625-E5BDADA04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720E1-9BB7-DB70-4553-083DF6B9E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ECAE2-BE2F-3981-788F-A042E0FBA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3B58F-6FAC-29CF-57ED-6E5E52B84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4E1AB-099E-097C-822B-056CF829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9942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A5B59-D9BC-2AE4-7B06-9658FD50C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53CFA-98BC-15E8-0703-70180ABD2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29BE2-A6C2-8D9E-D32D-B3AC7B76F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1758A-FA30-1237-870B-EF296B8CB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2CD90-91D5-377D-FF68-B2DC9F9A17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FB901-5467-663E-169A-D57286DE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5AF7F3-F0B9-B024-26C0-0A7B5E4D2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8FC7BD-93DE-75ED-9F6A-EB750487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8037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F9AA-B0D3-4D6E-1DDC-727833AE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27722-34C7-60C3-E46E-436C023F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6BDC44-AAB2-837B-CF93-AB1BA6E4F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FA3AB-4E42-19C8-8C05-F0F3C64E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9221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555296-8FFB-9337-A586-152D54597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740954-9112-A5DE-5A08-D9A8C8472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C7C38-BE8B-1667-881F-6801FFE77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2054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BBA54-8DDD-182B-88F3-E7DA9739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C5AB3-FC05-C491-3819-F88D1017E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08B4D-D9D0-1805-A43E-59EDAA5E8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E4B37-E36C-CB5E-5BEA-01A977613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83664-C225-52F9-58DF-0BDFB4CCE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E787B-89D3-412E-9E3F-FC3DF5B91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60376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84FF2-24F9-B3C8-FF8E-9C44171F2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D789CD-34F5-33F7-1BE7-CAF8D0BB7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C1B48-3538-CE3E-DEAF-565096FF1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1A1ED-2778-80B3-41AC-36515C8F2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27855-845E-9F95-1188-A9285AE8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247C5-B290-62F0-3FD7-E6D9625F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8278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E22D0-EFF1-38EA-1532-606723BA9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8FB71A-E3B2-9E4D-BDD3-78B91CAC6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C570C-485D-5DF9-FA85-94201BC18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09ACE-0F6B-7A35-B0E4-E2DD0038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DB568-4A9C-5E84-2EF9-EB46121C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5842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67BBCE-38AB-C3D9-770C-070AF13F20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19CDA5-A527-7872-28F9-90AF0FBC2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AAE7B-DF80-BF44-622C-A95BE208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F3BC3-27CE-344B-8EAE-C9CD7165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B4195-FE62-3B53-91C7-9C2696B83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4528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BF99B4-2F84-53C3-3640-77AFC8A48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E6766-3F94-FD19-81A7-1F207362F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EE705-65A6-06CC-8285-E1EDD49A79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0C2FE-FCA1-737A-5EB4-57C32D2FB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94165-BCBC-56BD-3216-F33732FDB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4070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DOM-Level-2-Core/core.html#ID-1590626202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w3schools.com/htmldom/dom_obj_document.asp" TargetMode="External"/><Relationship Id="rId4" Type="http://schemas.openxmlformats.org/officeDocument/2006/relationships/hyperlink" Target="http://msdn.microsoft.com/library/default.asp?url=/workshop/author/dom/domoverview.asp" TargetMode="Externa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F26395-24FF-AF68-D486-56DCC753B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0: Introduction to JavaScript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9FD57-ED1B-5542-FB3D-48035CA01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0727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41AA98-781B-35AC-754B-18EE9FEE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What is JavaScript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F474C23-7906-D87B-759E-BE857E5191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46807"/>
            <a:ext cx="1079862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Created by Netscape, was </a:t>
            </a:r>
            <a:r>
              <a:rPr lang="en-US" altLang="en-US" sz="2400" b="1" dirty="0" err="1">
                <a:latin typeface="Arial" panose="020B0604020202020204" pitchFamily="34" charset="0"/>
              </a:rPr>
              <a:t>LiveWire</a:t>
            </a:r>
            <a:r>
              <a:rPr lang="en-US" altLang="en-US" sz="2400" b="1" dirty="0">
                <a:latin typeface="Arial" panose="020B0604020202020204" pitchFamily="34" charset="0"/>
              </a:rPr>
              <a:t>, then </a:t>
            </a:r>
            <a:r>
              <a:rPr lang="en-US" altLang="en-US" sz="2400" b="1" dirty="0" err="1">
                <a:latin typeface="Arial" panose="020B0604020202020204" pitchFamily="34" charset="0"/>
              </a:rPr>
              <a:t>LiveScript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A versatile scripting language** primarily used on the **client-side**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Client-side vs Server-side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* Client-side- runs in the software the user is using — usually a browser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* Server-side- runs on a web server (examples: PHP, Python, Node.js)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Key Characteristics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* Interpreted- ‘on-the-fly’ each it loads in the browser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* Can now also be used ‘server-side’ (Node.js) and in other environments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Modern Note</a:t>
            </a:r>
            <a:endParaRPr lang="en-US" altLang="en-US" sz="1800" b="1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* JavaScript is **multi-paradigm**, supporting FP, OOP, and event-driven programming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</a:rPr>
              <a:t>* Integral to modern web development for interactive and dynamic experiences</a:t>
            </a:r>
          </a:p>
        </p:txBody>
      </p:sp>
    </p:spTree>
    <p:extLst>
      <p:ext uri="{BB962C8B-B14F-4D97-AF65-F5344CB8AC3E}">
        <p14:creationId xmlns:p14="http://schemas.microsoft.com/office/powerpoint/2010/main" val="208019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scripting language?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lightweight programming language ("scripting language")</a:t>
            </a:r>
          </a:p>
          <a:p>
            <a:pPr lvl="1"/>
            <a:r>
              <a:rPr lang="en-US" dirty="0"/>
              <a:t>used to make web pages interactive</a:t>
            </a:r>
          </a:p>
          <a:p>
            <a:pPr lvl="1"/>
            <a:r>
              <a:rPr lang="en-US" dirty="0"/>
              <a:t>insert dynamic text into HTML (ex: user name)</a:t>
            </a:r>
          </a:p>
          <a:p>
            <a:pPr lvl="1"/>
            <a:r>
              <a:rPr lang="en-US" b="1" dirty="0"/>
              <a:t>react to events </a:t>
            </a:r>
            <a:r>
              <a:rPr lang="en-US" dirty="0"/>
              <a:t>(ex: page load user click)</a:t>
            </a:r>
          </a:p>
          <a:p>
            <a:pPr lvl="1"/>
            <a:r>
              <a:rPr lang="en-US" dirty="0"/>
              <a:t>get information about a user's computer (ex: browser type)</a:t>
            </a:r>
          </a:p>
          <a:p>
            <a:pPr lvl="1"/>
            <a:r>
              <a:rPr lang="en-US" dirty="0"/>
              <a:t>perform calculations on user's computer (ex: form validation)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03094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88CFBBF-32C8-7751-3B53-7FB17E406F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is not Java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2A4188C-C497-D7CF-7D47-6A9BDF2DBC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Completely different types of languages that just happen to be similarly named</a:t>
            </a:r>
          </a:p>
          <a:p>
            <a:pPr lvl="1"/>
            <a:r>
              <a:rPr lang="en-US" altLang="en-US"/>
              <a:t>JavaScript - programs are interpreted in the browser</a:t>
            </a:r>
          </a:p>
          <a:p>
            <a:pPr lvl="1"/>
            <a:r>
              <a:rPr lang="en-US" altLang="en-US"/>
              <a:t>Java - programs are compiled and can be run as stand alone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6A263D6C-7B17-026A-732A-FCFF0C57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Advantages of JavaScript:</a:t>
            </a:r>
            <a:endParaRPr lang="en-US" altLang="en-US" dirty="0"/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E9372A60-0F18-D7A1-3582-9508856B9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72342"/>
            <a:ext cx="10417629" cy="4299857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2400" dirty="0"/>
              <a:t>The merits of using JavaScript are: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400" b="1" dirty="0"/>
              <a:t>Less server interaction:</a:t>
            </a:r>
            <a:r>
              <a:rPr lang="en-US" altLang="en-US" sz="2400" dirty="0"/>
              <a:t> You can validate user input before sending the page off to the server. This saves server traffic, which means less load on your server.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400" b="1" dirty="0"/>
              <a:t>Immediate feedback to the visitors:</a:t>
            </a:r>
            <a:r>
              <a:rPr lang="en-US" altLang="en-US" sz="2400" dirty="0"/>
              <a:t> They don't have to wait for a page reload to see if they have forgotten to enter something.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400" b="1" dirty="0"/>
              <a:t>Increased interactivity:</a:t>
            </a:r>
            <a:r>
              <a:rPr lang="en-US" altLang="en-US" sz="2400" dirty="0"/>
              <a:t> You can create interfaces that react when the user hovers over them with a mouse or activates them via the keyboard.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400" b="1" dirty="0"/>
              <a:t>Richer interfaces:</a:t>
            </a:r>
            <a:r>
              <a:rPr lang="en-US" altLang="en-US" sz="2400" dirty="0"/>
              <a:t> You can use JavaScript to include such items as drag-and-drop components and sliders to give a Rich Interface to your site visitors.</a:t>
            </a:r>
          </a:p>
          <a:p>
            <a:endParaRPr lang="en-US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4E3CC61-B983-BA66-A6D0-93F8CB2465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Including JavaScript in HTML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1B63486-0C9E-FF6B-448C-C708C096CC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19263"/>
            <a:ext cx="8458200" cy="4411662"/>
          </a:xfrm>
        </p:spPr>
        <p:txBody>
          <a:bodyPr/>
          <a:lstStyle/>
          <a:p>
            <a:r>
              <a:rPr lang="en-US" altLang="en-US"/>
              <a:t>Two ways to add JavaScript to Web pages</a:t>
            </a:r>
          </a:p>
          <a:p>
            <a:pPr lvl="1"/>
            <a:r>
              <a:rPr lang="en-US" altLang="en-US"/>
              <a:t>Use the </a:t>
            </a:r>
            <a:r>
              <a:rPr lang="en-US" altLang="en-US">
                <a:solidFill>
                  <a:schemeClr val="tx2"/>
                </a:solidFill>
              </a:rPr>
              <a:t>&lt;script&gt;…&lt;/script&gt;</a:t>
            </a:r>
            <a:r>
              <a:rPr lang="en-US" altLang="en-US"/>
              <a:t> tag</a:t>
            </a:r>
          </a:p>
          <a:p>
            <a:pPr lvl="1"/>
            <a:r>
              <a:rPr lang="en-US" altLang="en-US"/>
              <a:t>Include the script in an external file -- more about this later in the semester</a:t>
            </a:r>
          </a:p>
          <a:p>
            <a:r>
              <a:rPr lang="en-US" altLang="en-US"/>
              <a:t>Initially, we will only use the </a:t>
            </a:r>
            <a:r>
              <a:rPr lang="en-US" altLang="en-US">
                <a:solidFill>
                  <a:schemeClr val="tx2"/>
                </a:solidFill>
              </a:rPr>
              <a:t>&lt;script&gt;…&lt;/script&gt;</a:t>
            </a:r>
            <a:r>
              <a:rPr lang="en-US" altLang="en-US"/>
              <a:t> tag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2A317CC-C880-F65C-A78B-5AFA7A9410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Hello, World!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10B5268-0953-A9D3-C747-1DAE193DF0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Typically, in any programming language, the first example you learn displays “Hello, World!”</a:t>
            </a:r>
          </a:p>
          <a:p>
            <a:r>
              <a:rPr lang="en-US" altLang="en-US"/>
              <a:t>We are going to take a look at a Hello World example and then examine all of its parts.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FB2819F-EB67-CE38-0550-D1DF52A3AA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82092"/>
            <a:ext cx="10515600" cy="1325563"/>
          </a:xfrm>
        </p:spPr>
        <p:txBody>
          <a:bodyPr/>
          <a:lstStyle/>
          <a:p>
            <a:r>
              <a:rPr lang="en-US" altLang="en-US" dirty="0"/>
              <a:t>Hello World in JavaScript</a:t>
            </a:r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32D97966-1BFE-19E6-0B15-809549B0AB5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1752600" y="1230081"/>
            <a:ext cx="8686800" cy="5257800"/>
          </a:xfrm>
          <a:solidFill>
            <a:schemeClr val="accent2">
              <a:alpha val="39999"/>
            </a:schemeClr>
          </a:solidFill>
          <a:ln w="3175" cap="flat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>
            <a:normAutofit fontScale="92500" lnSpcReduction="10000"/>
          </a:bodyPr>
          <a:lstStyle/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pitchFamily="49" charset="0"/>
              </a:rPr>
              <a:t>&lt;!DOCTYPE html&gt;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pitchFamily="49" charset="0"/>
              </a:rPr>
              <a:t>&lt;html lang="</a:t>
            </a:r>
            <a:r>
              <a:rPr lang="en-US" altLang="en-US" sz="18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en</a:t>
            </a: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pitchFamily="49" charset="0"/>
              </a:rPr>
              <a:t>"&gt;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pitchFamily="49" charset="0"/>
              </a:rPr>
              <a:t>&lt;head&gt;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&lt;meta charset="UTF-8"&gt;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&lt;meta name="viewport" content="width=device-width, initial-scale=1.0"&gt;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&lt;title&gt;Document&lt;/title&gt;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pitchFamily="49" charset="0"/>
              </a:rPr>
              <a:t>&lt;/head&gt;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pitchFamily="49" charset="0"/>
              </a:rPr>
              <a:t>&lt;body&gt;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&lt;h1 id="app"&gt;&lt;/h1&gt;</a:t>
            </a:r>
          </a:p>
          <a:p>
            <a:pPr>
              <a:spcBef>
                <a:spcPct val="50000"/>
              </a:spcBef>
              <a:buNone/>
            </a:pPr>
            <a:endParaRPr lang="en-US" altLang="en-US" sz="1800" b="1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&lt;script&gt;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en-US" sz="18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document.getElementById</a:t>
            </a: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pitchFamily="49" charset="0"/>
              </a:rPr>
              <a:t>('app').</a:t>
            </a:r>
            <a:r>
              <a:rPr lang="en-US" altLang="en-US" sz="18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innerHTML</a:t>
            </a: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pitchFamily="49" charset="0"/>
              </a:rPr>
              <a:t> = 'Oops';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&lt;/script&gt;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pitchFamily="49" charset="0"/>
              </a:rPr>
              <a:t>&lt;/body&gt;</a:t>
            </a:r>
          </a:p>
          <a:p>
            <a:pPr>
              <a:spcBef>
                <a:spcPct val="50000"/>
              </a:spcBef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Courier New" panose="02070309020205020404" pitchFamily="49" charset="0"/>
              </a:rPr>
              <a:t>&lt;/html&gt;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CF63693-6F04-7471-A943-4BFE5AA5C3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&lt;script&gt;…&lt;/script&gt; tag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DC5E517-E26B-76E4-A1DF-7ABB4D10A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52600"/>
            <a:ext cx="8229600" cy="1557338"/>
          </a:xfrm>
        </p:spPr>
        <p:txBody>
          <a:bodyPr/>
          <a:lstStyle/>
          <a:p>
            <a:r>
              <a:rPr lang="en-US" altLang="en-US"/>
              <a:t>The code for the script is contained in the </a:t>
            </a:r>
            <a:r>
              <a:rPr lang="en-US" altLang="en-US">
                <a:solidFill>
                  <a:schemeClr val="tx2"/>
                </a:solidFill>
              </a:rPr>
              <a:t>&lt;script&gt;…&lt;/script&gt;</a:t>
            </a:r>
            <a:r>
              <a:rPr lang="en-US" altLang="en-US"/>
              <a:t> tag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 </a:t>
            </a:r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id="{E7C48125-C0B3-3D39-720F-BE038040F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276600"/>
            <a:ext cx="7620000" cy="3124200"/>
          </a:xfrm>
          <a:prstGeom prst="rect">
            <a:avLst/>
          </a:prstGeom>
          <a:solidFill>
            <a:schemeClr val="accent2">
              <a:alpha val="39999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990000"/>
                </a:solidFill>
                <a:latin typeface="Courier New" panose="02070309020205020404" pitchFamily="49" charset="0"/>
              </a:rPr>
              <a:t>&lt;script type="text/javascript"&gt;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Courier New" panose="02070309020205020404" pitchFamily="49" charset="0"/>
              </a:rPr>
              <a:t>				.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Courier New" panose="02070309020205020404" pitchFamily="49" charset="0"/>
              </a:rPr>
              <a:t>				.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Courier New" panose="02070309020205020404" pitchFamily="49" charset="0"/>
              </a:rPr>
              <a:t>				.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990000"/>
                </a:solidFill>
                <a:latin typeface="Courier New" panose="02070309020205020404" pitchFamily="49" charset="0"/>
              </a:rPr>
              <a:t>&lt;/script&gt;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A426D7F-FCC9-2A3D-19AE-2A2D96DFAB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C9109A4-3CD4-3786-F8EC-7F10CF4A23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F8C9F3-F033-47A2-8A9F-79E2B438BA32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87394" name="Rectangle 2">
            <a:extLst>
              <a:ext uri="{FF2B5EF4-FFF2-40B4-BE49-F238E27FC236}">
                <a16:creationId xmlns:a16="http://schemas.microsoft.com/office/drawing/2014/main" id="{6FE25BF9-DF51-7B32-ECD5-8176F6E410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 b="1" i="1"/>
              <a:t>&lt;script&gt;…&lt;/script&gt;</a:t>
            </a:r>
            <a:r>
              <a:rPr lang="en-US" altLang="en-US"/>
              <a:t> Tags</a:t>
            </a: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3E3BF9B6-BB98-DAFD-AC16-C3431A08F5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i="1"/>
              <a:t>&lt;script&gt;</a:t>
            </a:r>
            <a:r>
              <a:rPr lang="en-US" altLang="en-US"/>
              <a:t>-tag may appear in head or body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The language attribute is optional</a:t>
            </a:r>
          </a:p>
          <a:p>
            <a:pPr lvl="1" algn="l">
              <a:lnSpc>
                <a:spcPct val="90000"/>
              </a:lnSpc>
              <a:buFontTx/>
              <a:buNone/>
            </a:pPr>
            <a:r>
              <a:rPr lang="en-US" altLang="en-US" b="1" i="1"/>
              <a:t>&lt;script language = 	“JavaScript”&gt;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	// JavaScript code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	&lt;/script&gt;</a:t>
            </a:r>
            <a:endParaRPr lang="en-US" altLang="en-US"/>
          </a:p>
          <a:p>
            <a:pPr lvl="1">
              <a:lnSpc>
                <a:spcPct val="90000"/>
              </a:lnSpc>
            </a:pPr>
            <a:r>
              <a:rPr lang="en-US" altLang="en-US"/>
              <a:t>Works for both Navigator 2.0 and Navigator 3.0</a:t>
            </a:r>
          </a:p>
          <a:p>
            <a:pPr lvl="1">
              <a:lnSpc>
                <a:spcPct val="90000"/>
              </a:lnSpc>
            </a:pPr>
            <a:r>
              <a:rPr lang="en-US" altLang="en-US" b="1" i="1"/>
              <a:t>language = “JavaScript1.1”</a:t>
            </a:r>
            <a:r>
              <a:rPr lang="en-US" altLang="en-US"/>
              <a:t> works only for Navigator 3.0</a:t>
            </a:r>
            <a:endParaRPr lang="en-US" altLang="en-US"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D98708B-3E66-E65E-5937-BEB26AC09E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B74B39A-4913-50B5-6FDF-99E94F6DA1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5226BB-0A99-4DE2-8203-86B55539A321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88418" name="Rectangle 2">
            <a:extLst>
              <a:ext uri="{FF2B5EF4-FFF2-40B4-BE49-F238E27FC236}">
                <a16:creationId xmlns:a16="http://schemas.microsoft.com/office/drawing/2014/main" id="{3955FE55-3362-28DC-53E7-84E2CBC534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 b="1" i="1"/>
              <a:t>&lt;script&gt;…&lt;/script&gt;</a:t>
            </a:r>
            <a:r>
              <a:rPr lang="en-US" altLang="en-US"/>
              <a:t> Tags</a:t>
            </a:r>
          </a:p>
        </p:txBody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06C5E024-7FB9-6550-AD86-0E346DCEF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JavaScript is not the only language to use the </a:t>
            </a:r>
            <a:r>
              <a:rPr lang="en-US" altLang="en-US" b="1" i="1"/>
              <a:t>&lt;script&gt;</a:t>
            </a:r>
            <a:r>
              <a:rPr lang="en-US" altLang="en-US"/>
              <a:t>-tag</a:t>
            </a:r>
          </a:p>
          <a:p>
            <a:pPr lvl="1">
              <a:buFontTx/>
              <a:buNone/>
            </a:pPr>
            <a:r>
              <a:rPr lang="en-US" altLang="en-US" sz="3200"/>
              <a:t>	</a:t>
            </a:r>
            <a:r>
              <a:rPr lang="en-US" altLang="en-US" b="1" i="1"/>
              <a:t>&lt;script language = “VBScript”&gt;</a:t>
            </a:r>
          </a:p>
          <a:p>
            <a:pPr lvl="1">
              <a:buFontTx/>
              <a:buNone/>
            </a:pPr>
            <a:r>
              <a:rPr lang="en-US" altLang="en-US" b="1" i="1"/>
              <a:t>	' VBScript code</a:t>
            </a:r>
          </a:p>
          <a:p>
            <a:pPr lvl="1">
              <a:buFontTx/>
              <a:buNone/>
            </a:pPr>
            <a:r>
              <a:rPr lang="en-US" altLang="en-US" b="1" i="1"/>
              <a:t>	&lt;/script&gt;</a:t>
            </a:r>
            <a:endParaRPr lang="en-US" altLang="en-US" sz="3200"/>
          </a:p>
          <a:p>
            <a:r>
              <a:rPr lang="en-US" altLang="en-US"/>
              <a:t>JavaScript is the default scripting language</a:t>
            </a:r>
          </a:p>
          <a:p>
            <a:pPr lvl="1"/>
            <a:r>
              <a:rPr lang="en-US" altLang="en-US"/>
              <a:t>Can leave out the language attribute</a:t>
            </a:r>
            <a:endParaRPr lang="en-US" altLang="en-US"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199FF0D-4331-081A-3A79-FFE0D9D9D9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EB830B9-2B6D-2720-D53C-DABECDB20E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F4C122-B9DB-4DA5-A37A-70E567994317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89442" name="Rectangle 2">
            <a:extLst>
              <a:ext uri="{FF2B5EF4-FFF2-40B4-BE49-F238E27FC236}">
                <a16:creationId xmlns:a16="http://schemas.microsoft.com/office/drawing/2014/main" id="{20E1C66D-A9AB-87DA-4FDA-D56CC78007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 b="1" i="1"/>
              <a:t>&lt;script&gt;…&lt;/script&gt;</a:t>
            </a:r>
            <a:r>
              <a:rPr lang="en-US" altLang="en-US"/>
              <a:t> Tags</a:t>
            </a:r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5085BF82-8D6B-3084-3840-1A3B21B837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An HTML document may contain more than one pair of non-overlapping </a:t>
            </a:r>
            <a:r>
              <a:rPr lang="en-US" altLang="en-US" b="1" i="1"/>
              <a:t>&lt;script&gt;</a:t>
            </a:r>
            <a:r>
              <a:rPr lang="en-US" altLang="en-US"/>
              <a:t> and </a:t>
            </a:r>
            <a:r>
              <a:rPr lang="en-US" altLang="en-US" b="1" i="1"/>
              <a:t>&lt;/script&gt;</a:t>
            </a:r>
            <a:r>
              <a:rPr lang="en-US" altLang="en-US"/>
              <a:t>-tags</a:t>
            </a:r>
          </a:p>
          <a:p>
            <a:pPr lvl="1"/>
            <a:r>
              <a:rPr lang="en-US" altLang="en-US"/>
              <a:t>Statements executed in order of appearance</a:t>
            </a:r>
          </a:p>
          <a:p>
            <a:pPr lvl="1"/>
            <a:r>
              <a:rPr lang="en-US" altLang="en-US"/>
              <a:t>They constitute part of the same JavaScript program, however</a:t>
            </a:r>
          </a:p>
          <a:p>
            <a:pPr lvl="2">
              <a:buFont typeface="Monotype Sorts" pitchFamily="2" charset="2"/>
              <a:buNone/>
            </a:pPr>
            <a:r>
              <a:rPr lang="en-US" altLang="en-US" b="1" i="1"/>
              <a:t>&lt;script&gt; var x = 1; &lt;/script&gt;</a:t>
            </a:r>
          </a:p>
          <a:p>
            <a:pPr lvl="2">
              <a:buFont typeface="Monotype Sorts" pitchFamily="2" charset="2"/>
              <a:buNone/>
            </a:pPr>
            <a:r>
              <a:rPr lang="en-US" altLang="en-US" b="1" i="1"/>
              <a:t>…</a:t>
            </a:r>
          </a:p>
          <a:p>
            <a:pPr lvl="2">
              <a:buFont typeface="Monotype Sorts" pitchFamily="2" charset="2"/>
              <a:buNone/>
            </a:pPr>
            <a:r>
              <a:rPr lang="en-US" altLang="en-US" b="1" i="1"/>
              <a:t>&lt;script&gt; document.write(x); &lt;/script&gt;</a:t>
            </a:r>
            <a:endParaRPr lang="en-US" altLang="en-US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9805945-8707-7E1B-A0AE-9C21FE66C5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33428AC-C171-07E9-FFD6-AC393D8C93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EABDB4-2E3F-41D9-9426-2A2D813A946B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92514" name="Rectangle 2">
            <a:extLst>
              <a:ext uri="{FF2B5EF4-FFF2-40B4-BE49-F238E27FC236}">
                <a16:creationId xmlns:a16="http://schemas.microsoft.com/office/drawing/2014/main" id="{168F8D34-7F41-A577-C811-1C39E9E0C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 b="1" i="1"/>
              <a:t>&lt;script&gt;…&lt;/script&gt;</a:t>
            </a:r>
            <a:r>
              <a:rPr lang="en-US" altLang="en-US"/>
              <a:t> Tags</a:t>
            </a:r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0ADF3115-B5E1-0DF9-4351-6968E8F77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Including JavaScript files</a:t>
            </a:r>
          </a:p>
          <a:p>
            <a:pPr lvl="1" algn="l">
              <a:buFontTx/>
              <a:buNone/>
            </a:pPr>
            <a:r>
              <a:rPr lang="en-US" altLang="en-US" b="1" i="1"/>
              <a:t>&lt;script src = “../../javascript /prog.js”&gt; &lt;/script&gt;</a:t>
            </a:r>
            <a:endParaRPr lang="en-US" altLang="en-US"/>
          </a:p>
          <a:p>
            <a:pPr lvl="1"/>
            <a:r>
              <a:rPr lang="en-US" altLang="en-US"/>
              <a:t>Simplifies your HTML files</a:t>
            </a:r>
          </a:p>
          <a:p>
            <a:pPr lvl="1"/>
            <a:r>
              <a:rPr lang="en-US" altLang="en-US"/>
              <a:t>Can share JavaScript among different HTML files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72B507C-D85E-4684-5AB4-59EF04BED7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D4D02CE-5750-1675-67C0-479B0DF88D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2E3123-1B91-442C-86F5-B45BCE4C191C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93538" name="Rectangle 2">
            <a:extLst>
              <a:ext uri="{FF2B5EF4-FFF2-40B4-BE49-F238E27FC236}">
                <a16:creationId xmlns:a16="http://schemas.microsoft.com/office/drawing/2014/main" id="{7F367FE5-21A0-7B01-7279-EFB70942F8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 b="1" i="1"/>
              <a:t>&lt;script&gt;…&lt;/script&gt;</a:t>
            </a:r>
            <a:r>
              <a:rPr lang="en-US" altLang="en-US"/>
              <a:t> Tags</a:t>
            </a:r>
          </a:p>
        </p:txBody>
      </p:sp>
      <p:sp>
        <p:nvSpPr>
          <p:cNvPr id="193539" name="Rectangle 3">
            <a:extLst>
              <a:ext uri="{FF2B5EF4-FFF2-40B4-BE49-F238E27FC236}">
                <a16:creationId xmlns:a16="http://schemas.microsoft.com/office/drawing/2014/main" id="{92E83742-4F64-62D8-41F4-752E036CAC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Including JavaScript files</a:t>
            </a:r>
          </a:p>
          <a:p>
            <a:pPr lvl="1"/>
            <a:r>
              <a:rPr lang="en-US" altLang="en-US"/>
              <a:t>When they are used by more than one HTML file, this allows them to be cached by the browser, allowing them to load more quickly</a:t>
            </a:r>
          </a:p>
          <a:p>
            <a:pPr lvl="2"/>
            <a:r>
              <a:rPr lang="en-US" altLang="en-US"/>
              <a:t>The time savings of caching outweighs the delay incurred by the browser opening a network connection to download the JavaScript file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6D7C848-054E-27E6-7963-BD7B98B07C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6E00EF55-FBC7-AF77-00AD-9A03889EB3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6567EE-60C1-4502-9BA9-BE9C6685FA67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94562" name="Rectangle 2">
            <a:extLst>
              <a:ext uri="{FF2B5EF4-FFF2-40B4-BE49-F238E27FC236}">
                <a16:creationId xmlns:a16="http://schemas.microsoft.com/office/drawing/2014/main" id="{833308C9-697F-B818-C65E-753A142A07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</a:t>
            </a:r>
            <a:r>
              <a:rPr lang="en-US" altLang="en-US" b="1" i="1"/>
              <a:t>&lt;script&gt;…&lt;/script&gt;</a:t>
            </a:r>
            <a:r>
              <a:rPr lang="en-US" altLang="en-US"/>
              <a:t> Tags</a:t>
            </a:r>
          </a:p>
        </p:txBody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2FDAB362-A695-73E8-C55A-E5A195CDB5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Including JavaScript files</a:t>
            </a:r>
          </a:p>
          <a:p>
            <a:pPr lvl="1"/>
            <a:r>
              <a:rPr lang="en-US" altLang="en-US" dirty="0"/>
              <a:t>A JavaScript program from one machine can use code located on other machines</a:t>
            </a:r>
          </a:p>
          <a:p>
            <a:pPr lvl="1"/>
            <a:r>
              <a:rPr lang="en-US" altLang="en-US" dirty="0"/>
              <a:t>This only works for Netscape 3.0 and higher</a:t>
            </a:r>
          </a:p>
          <a:p>
            <a:pPr lvl="2"/>
            <a:r>
              <a:rPr lang="en-US" altLang="en-US" dirty="0"/>
              <a:t>Can include JavaScript code in-between the </a:t>
            </a:r>
            <a:r>
              <a:rPr lang="en-US" altLang="en-US" b="1" i="1" dirty="0"/>
              <a:t>&lt;script&gt;</a:t>
            </a:r>
            <a:r>
              <a:rPr lang="en-US" altLang="en-US" dirty="0"/>
              <a:t> and </a:t>
            </a:r>
            <a:r>
              <a:rPr lang="en-US" altLang="en-US" b="1" i="1" dirty="0"/>
              <a:t>&lt;/script&gt;</a:t>
            </a:r>
            <a:r>
              <a:rPr lang="en-US" altLang="en-US" dirty="0"/>
              <a:t>-tags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5AC50521-19EE-4E5D-177B-C9447A8D43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92D0669-1E46-F898-8F8E-D89AD5E6DB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8C794E-D0B4-4FA6-B6A1-0630D2D10527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6CD10DDC-3603-A6E7-F071-0198F130AC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Program Code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BAB37B69-0395-D48C-FB00-CAF0B60E7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Main body</a:t>
            </a:r>
          </a:p>
          <a:p>
            <a:r>
              <a:rPr lang="en-US" altLang="en-US"/>
              <a:t>Event handlers</a:t>
            </a:r>
          </a:p>
          <a:p>
            <a:r>
              <a:rPr lang="en-US" altLang="en-US"/>
              <a:t>Functions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7AC5911-31C8-6450-A3DC-48BD244C58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C7563C6-D314-C976-D2DE-B6B9068FC7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946801-1806-4A5D-B1AD-AF59A05F3DA7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248A784E-11ED-9B9B-BBA2-6DC39507D9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Events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3C5DAA55-34FF-2699-B3FF-8C9AC6150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Events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Mouse click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Re-sizing window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622CF16-A547-5C60-259C-330F022395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D00617F-55CA-FAC9-60C1-FCA01E28C9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F88A81-05B2-4F8D-882D-FF186479ED96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471060C7-CDFD-9DEC-6095-83CEDCDFDF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Event Handlers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221F7AFA-28F3-EE31-7AD9-4ABD5C1950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Event handlers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Scripts that link events to JavaScript functions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Embed in HTML documents as attributes of HTML tags</a:t>
            </a:r>
          </a:p>
          <a:p>
            <a:pPr lvl="2">
              <a:lnSpc>
                <a:spcPct val="90000"/>
              </a:lnSpc>
            </a:pPr>
            <a:r>
              <a:rPr lang="en-US" altLang="en-US" b="1" i="1"/>
              <a:t>&lt;tag eventHandler = “JavaScript Code”&gt;</a:t>
            </a:r>
            <a:endParaRPr lang="en-US" altLang="en-US"/>
          </a:p>
          <a:p>
            <a:pPr lvl="2">
              <a:lnSpc>
                <a:spcPct val="90000"/>
              </a:lnSpc>
            </a:pPr>
            <a:r>
              <a:rPr lang="en-US" altLang="en-US"/>
              <a:t>Example js4.htm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F841C8C-B4A0-3A62-F551-28A720BA06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869AD24-E8CC-C12E-6490-211B51CB10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CCF47B-2214-436E-B737-EFE6676B74B3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2EC7211A-00AC-5979-8EE1-88C2894CE3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More Events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B3B95186-D2C7-98CF-9737-ACD831A3BE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Top-level actions causing change in web page being displayed</a:t>
            </a:r>
          </a:p>
          <a:p>
            <a:pPr lvl="1"/>
            <a:r>
              <a:rPr lang="en-US" altLang="en-US"/>
              <a:t>Navigation</a:t>
            </a:r>
          </a:p>
          <a:p>
            <a:pPr lvl="1"/>
            <a:r>
              <a:rPr lang="en-US" altLang="en-US"/>
              <a:t>Interaction with an element of an HTML form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0852B4F-3526-28DC-1D5D-6A0C230851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453AD4E-71D0-6963-FB67-44AB83B7F4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A6E6BC-D56E-411F-9B98-4C3791947ACF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AD291525-B1AC-306B-77B1-5E3000754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Navigation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545E7589-3271-1C87-BF88-CBE984027E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Selecting a hypertext link</a:t>
            </a:r>
          </a:p>
          <a:p>
            <a:r>
              <a:rPr lang="en-US" altLang="en-US"/>
              <a:t>Moving forward or backward in the history list</a:t>
            </a:r>
          </a:p>
          <a:p>
            <a:r>
              <a:rPr lang="en-US" altLang="en-US"/>
              <a:t>Opening a new URL</a:t>
            </a:r>
          </a:p>
          <a:p>
            <a:r>
              <a:rPr lang="en-US" altLang="en-US"/>
              <a:t>Quitting the browser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6D63FEED-2146-35EB-A8C7-4EA79C1729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55DCB9F-2002-3BEF-DE4E-70DDD54D57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AB0E6C-53FF-4FB7-8E30-B20E54D4A7F3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27A1F8BF-59B6-A0FB-7E96-670FC5A4F0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Navigation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57705355-B9A5-DA14-B732-0EAF321794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 these events, some page is being loaded or unloaded</a:t>
            </a:r>
          </a:p>
          <a:p>
            <a:pPr lvl="1"/>
            <a:r>
              <a:rPr lang="en-US" altLang="en-US"/>
              <a:t>These are document-level events that can be handled by JavaScript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E92DE5A-1A0D-95C8-4A6A-3787843DBE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D2B3F7A-890A-C99D-EA1E-417345B8D6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B43C6B-8F0F-4839-82B3-85E619493841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CA71F285-98B2-40EF-7348-C0C4BB7543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Events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DB0618E5-EE8E-C493-31A2-D1A15366FC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button</a:t>
            </a:r>
          </a:p>
          <a:p>
            <a:pPr lvl="1"/>
            <a:r>
              <a:rPr lang="en-US" altLang="en-US"/>
              <a:t>click</a:t>
            </a:r>
          </a:p>
          <a:p>
            <a:r>
              <a:rPr lang="en-US" altLang="en-US"/>
              <a:t>checkbox</a:t>
            </a:r>
          </a:p>
          <a:p>
            <a:pPr lvl="1"/>
            <a:r>
              <a:rPr lang="en-US" altLang="en-US"/>
              <a:t>click</a:t>
            </a:r>
          </a:p>
          <a:p>
            <a:r>
              <a:rPr lang="en-US" altLang="en-US"/>
              <a:t>document</a:t>
            </a:r>
          </a:p>
          <a:p>
            <a:pPr lvl="1"/>
            <a:r>
              <a:rPr lang="en-US" altLang="en-US"/>
              <a:t>load</a:t>
            </a:r>
          </a:p>
          <a:p>
            <a:pPr lvl="1"/>
            <a:r>
              <a:rPr lang="en-US" altLang="en-US"/>
              <a:t>unload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5F2C73C-16D4-4E90-B9DF-34624FC4D1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1602A4A-CC46-C64B-2B5E-E53A331636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9036E6-7814-405B-9A62-BB420E45C6DA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26B34453-7AE8-2C0B-1D93-A9E4244DCD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Events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138C8BE3-2EF8-1DCC-D323-25C084CBE9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form</a:t>
            </a:r>
          </a:p>
          <a:p>
            <a:pPr lvl="1"/>
            <a:r>
              <a:rPr lang="en-US" altLang="en-US"/>
              <a:t>submit</a:t>
            </a:r>
          </a:p>
          <a:p>
            <a:r>
              <a:rPr lang="en-US" altLang="en-US"/>
              <a:t>link</a:t>
            </a:r>
          </a:p>
          <a:p>
            <a:pPr lvl="1"/>
            <a:r>
              <a:rPr lang="en-US" altLang="en-US"/>
              <a:t>click</a:t>
            </a:r>
          </a:p>
          <a:p>
            <a:pPr lvl="1"/>
            <a:r>
              <a:rPr lang="en-US" altLang="en-US"/>
              <a:t>mouseover</a:t>
            </a:r>
          </a:p>
          <a:p>
            <a:r>
              <a:rPr lang="en-US" altLang="en-US"/>
              <a:t>radio</a:t>
            </a:r>
          </a:p>
          <a:p>
            <a:pPr lvl="1"/>
            <a:r>
              <a:rPr lang="en-US" altLang="en-US"/>
              <a:t>click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026BC15-3461-5C69-BD98-C4326A73FF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C859AE1-477B-1F5A-787B-127CB3CEE8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31C1D5-0BA8-4029-BEA2-8155CF95870C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E45A9694-658E-7F7C-B1E3-F7B6DEE613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Events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5E9E5E6D-0507-7D49-6713-A01DA4812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selection</a:t>
            </a:r>
          </a:p>
          <a:p>
            <a:pPr lvl="1"/>
            <a:r>
              <a:rPr lang="en-US" altLang="en-US"/>
              <a:t>blur</a:t>
            </a:r>
          </a:p>
          <a:p>
            <a:pPr lvl="1"/>
            <a:r>
              <a:rPr lang="en-US" altLang="en-US"/>
              <a:t>change</a:t>
            </a:r>
          </a:p>
          <a:p>
            <a:pPr lvl="1"/>
            <a:r>
              <a:rPr lang="en-US" altLang="en-US"/>
              <a:t>focus</a:t>
            </a:r>
          </a:p>
          <a:p>
            <a:r>
              <a:rPr lang="en-US" altLang="en-US"/>
              <a:t>submit</a:t>
            </a:r>
          </a:p>
          <a:p>
            <a:pPr lvl="1"/>
            <a:r>
              <a:rPr lang="en-US" altLang="en-US"/>
              <a:t>click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1011012-B14F-F441-69FF-80BCE7CFF9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9AB69FC-E867-5FE0-DDC1-59F38C7302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907F47-6EA3-4362-8025-EF5F1905C2F6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AB6C960F-1AFB-BFDB-0369-3C30DAA27B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Events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5C9A01B0-FEC7-6EB7-D807-033F7C904C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text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change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focus</a:t>
            </a:r>
          </a:p>
          <a:p>
            <a:pPr lvl="2">
              <a:lnSpc>
                <a:spcPct val="80000"/>
              </a:lnSpc>
            </a:pPr>
            <a:r>
              <a:rPr lang="en-US" altLang="en-US"/>
              <a:t>A text field is said to have </a:t>
            </a:r>
            <a:r>
              <a:rPr lang="en-US" altLang="en-US" i="1"/>
              <a:t>focus </a:t>
            </a:r>
            <a:r>
              <a:rPr lang="en-US" altLang="en-US"/>
              <a:t>when it is currently accepting typed input</a:t>
            </a:r>
          </a:p>
          <a:p>
            <a:pPr lvl="2">
              <a:lnSpc>
                <a:spcPct val="80000"/>
              </a:lnSpc>
            </a:pPr>
            <a:r>
              <a:rPr lang="en-US" altLang="en-US"/>
              <a:t>Clicking anywhere inside a text item gives it focus</a:t>
            </a:r>
          </a:p>
          <a:p>
            <a:pPr lvl="2">
              <a:lnSpc>
                <a:spcPct val="80000"/>
              </a:lnSpc>
            </a:pPr>
            <a:r>
              <a:rPr lang="en-US" altLang="en-US"/>
              <a:t>Moving the mouse over the text field may give it focus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blur</a:t>
            </a:r>
          </a:p>
          <a:p>
            <a:pPr lvl="2">
              <a:lnSpc>
                <a:spcPct val="80000"/>
              </a:lnSpc>
            </a:pPr>
            <a:r>
              <a:rPr lang="en-US" altLang="en-US"/>
              <a:t>The opposite of focus</a:t>
            </a:r>
          </a:p>
          <a:p>
            <a:pPr lvl="1">
              <a:lnSpc>
                <a:spcPct val="80000"/>
              </a:lnSpc>
            </a:pPr>
            <a:r>
              <a:rPr lang="en-US" altLang="en-US"/>
              <a:t>select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1121A51-12B1-EEBC-4E0A-989F084220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367D055-10CA-75F2-AF97-1474932620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3CA634-36D6-47D8-83EC-6F7BF48EBD5A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98FD18DC-400F-99BA-A7B1-5423CED94B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Events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8515E682-1D78-0F68-C68D-142E9C7CE1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textarea</a:t>
            </a:r>
          </a:p>
          <a:p>
            <a:pPr lvl="1"/>
            <a:r>
              <a:rPr lang="en-US" altLang="en-US"/>
              <a:t>blur</a:t>
            </a:r>
          </a:p>
          <a:p>
            <a:pPr lvl="1"/>
            <a:r>
              <a:rPr lang="en-US" altLang="en-US"/>
              <a:t>change</a:t>
            </a:r>
          </a:p>
          <a:p>
            <a:pPr lvl="1"/>
            <a:r>
              <a:rPr lang="en-US" altLang="en-US"/>
              <a:t>focus</a:t>
            </a:r>
          </a:p>
          <a:p>
            <a:pPr lvl="1"/>
            <a:r>
              <a:rPr lang="en-US" altLang="en-US"/>
              <a:t>select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220CB33-B1B5-C44C-484D-F4C6234372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4432AD4-E47C-EBCF-5C73-49F7F5DB9E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FC382F-714C-46F3-BB06-1939C6ECEE74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86370" name="Rectangle 2">
            <a:extLst>
              <a:ext uri="{FF2B5EF4-FFF2-40B4-BE49-F238E27FC236}">
                <a16:creationId xmlns:a16="http://schemas.microsoft.com/office/drawing/2014/main" id="{0673D41D-256B-CCF0-0CC9-3EC93B775E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Techniques for Including JavaScript Code in HTML</a:t>
            </a:r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44891E7C-0FA7-C77A-D75A-15B6418D07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Embed script between </a:t>
            </a:r>
            <a:r>
              <a:rPr lang="en-US" altLang="en-US" b="1" i="1"/>
              <a:t>&lt;script&gt;</a:t>
            </a:r>
            <a:r>
              <a:rPr lang="en-US" altLang="en-US"/>
              <a:t> and </a:t>
            </a:r>
            <a:r>
              <a:rPr lang="en-US" altLang="en-US" b="1" i="1"/>
              <a:t>&lt;/script&gt;</a:t>
            </a:r>
            <a:endParaRPr lang="en-US" altLang="en-US"/>
          </a:p>
          <a:p>
            <a:r>
              <a:rPr lang="en-US" altLang="en-US"/>
              <a:t>Event-handler functions</a:t>
            </a:r>
          </a:p>
          <a:p>
            <a:r>
              <a:rPr lang="en-US" altLang="en-US"/>
              <a:t>Through the </a:t>
            </a:r>
            <a:r>
              <a:rPr lang="en-US" altLang="en-US" b="1" i="1"/>
              <a:t>javascript: URL</a:t>
            </a:r>
            <a:r>
              <a:rPr lang="en-US" altLang="en-US"/>
              <a:t> pseudo-protocol</a:t>
            </a:r>
          </a:p>
          <a:p>
            <a:r>
              <a:rPr lang="en-US" altLang="en-US"/>
              <a:t>The JavaScript HTML entity</a:t>
            </a:r>
          </a:p>
          <a:p>
            <a:pPr lvl="1"/>
            <a:r>
              <a:rPr lang="en-US" altLang="en-US" sz="3200" b="1" i="1"/>
              <a:t>&amp;lt</a:t>
            </a:r>
            <a:endParaRPr lang="en-US" altLang="en-US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2">
            <a:extLst>
              <a:ext uri="{FF2B5EF4-FFF2-40B4-BE49-F238E27FC236}">
                <a16:creationId xmlns:a16="http://schemas.microsoft.com/office/drawing/2014/main" id="{276DD379-A548-B2D5-15CE-E515444E0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122" y="1295400"/>
            <a:ext cx="10865669" cy="4876800"/>
          </a:xfrm>
        </p:spPr>
        <p:txBody>
          <a:bodyPr/>
          <a:lstStyle/>
          <a:p>
            <a:pPr>
              <a:buFontTx/>
              <a:buNone/>
            </a:pPr>
            <a:endParaRPr lang="en-US" altLang="en-US" sz="2000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000" dirty="0"/>
              <a:t>JavaScript ignores spaces, tabs, and newlines that appear in JavaScript programs.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000" dirty="0"/>
              <a:t>Because you can use spaces, tabs, and newlines freely in your program so you are free to format and indent your programs in a neat and consistent way that makes the code easy to read and understand.</a:t>
            </a:r>
          </a:p>
          <a:p>
            <a:pPr>
              <a:buFontTx/>
              <a:buNone/>
            </a:pPr>
            <a:endParaRPr lang="en-US" altLang="en-US" sz="3600" b="1" dirty="0"/>
          </a:p>
          <a:p>
            <a:pPr>
              <a:buFontTx/>
              <a:buNone/>
            </a:pPr>
            <a:r>
              <a:rPr lang="en-US" altLang="en-US" sz="3600" b="1" dirty="0"/>
              <a:t>Semicolons are Optional: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000" dirty="0"/>
              <a:t>Simple statements in JavaScript are generally followed by a semicolon character, just as they are in C, C++, and Java. JavaScript, however, allows you to omit this semicolon if your statements are each placed on a separate line. For example, the following code could be written without semicolons</a:t>
            </a:r>
          </a:p>
          <a:p>
            <a:endParaRPr lang="en-US" altLang="en-US" sz="2000" dirty="0"/>
          </a:p>
        </p:txBody>
      </p:sp>
      <p:sp>
        <p:nvSpPr>
          <p:cNvPr id="12291" name="Title 3">
            <a:extLst>
              <a:ext uri="{FF2B5EF4-FFF2-40B4-BE49-F238E27FC236}">
                <a16:creationId xmlns:a16="http://schemas.microsoft.com/office/drawing/2014/main" id="{E87C11C3-32EF-34B0-018E-68B0E48A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22" y="365125"/>
            <a:ext cx="10543678" cy="1325563"/>
          </a:xfrm>
        </p:spPr>
        <p:txBody>
          <a:bodyPr/>
          <a:lstStyle/>
          <a:p>
            <a:r>
              <a:rPr lang="en-US" altLang="en-US" b="1" dirty="0"/>
              <a:t>Whitespace and Line Breaks:</a:t>
            </a: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149B607-041E-AAE5-FF24-4E3DC89919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73922B1-8C6F-808E-98E5-6DC22FE80E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C5373F-52D7-4BBE-901D-EB7270B08049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201730" name="Rectangle 2">
            <a:extLst>
              <a:ext uri="{FF2B5EF4-FFF2-40B4-BE49-F238E27FC236}">
                <a16:creationId xmlns:a16="http://schemas.microsoft.com/office/drawing/2014/main" id="{D3870664-E3EB-CDA4-106B-208A7F285F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Event Handler Functions</a:t>
            </a:r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0E373A88-202B-9F07-2E6D-EE62D76B2A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Area</a:t>
            </a:r>
          </a:p>
          <a:p>
            <a:pPr lvl="1" algn="l"/>
            <a:r>
              <a:rPr lang="en-US" altLang="en-US" b="1" i="1"/>
              <a:t>onClick( ), onMouseOver( ), onMouseOut( )</a:t>
            </a:r>
          </a:p>
          <a:p>
            <a:r>
              <a:rPr lang="en-US" altLang="en-US" b="1" i="1"/>
              <a:t>Button</a:t>
            </a:r>
          </a:p>
          <a:p>
            <a:pPr lvl="1"/>
            <a:r>
              <a:rPr lang="en-US" altLang="en-US" b="1" i="1"/>
              <a:t>onClick( )</a:t>
            </a:r>
          </a:p>
          <a:p>
            <a:r>
              <a:rPr lang="en-US" altLang="en-US" b="1" i="1"/>
              <a:t>Checkbox</a:t>
            </a:r>
          </a:p>
          <a:p>
            <a:pPr lvl="1"/>
            <a:r>
              <a:rPr lang="en-US" altLang="en-US" b="1" i="1"/>
              <a:t>onClick( )</a:t>
            </a:r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F97D1AD-2917-103E-21B2-649B036CF4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804728F-60A7-7A25-3AAF-A59DFE3830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319626-B204-4A6B-B151-19C62640BDE4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202754" name="Rectangle 2">
            <a:extLst>
              <a:ext uri="{FF2B5EF4-FFF2-40B4-BE49-F238E27FC236}">
                <a16:creationId xmlns:a16="http://schemas.microsoft.com/office/drawing/2014/main" id="{9246336C-9C41-3EDC-A3FA-50B8B28107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Event Handler Functions</a:t>
            </a:r>
          </a:p>
        </p:txBody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B077081A-E485-3144-8432-CF8AEC45FC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FileUpload</a:t>
            </a:r>
          </a:p>
          <a:p>
            <a:pPr lvl="1"/>
            <a:r>
              <a:rPr lang="en-US" altLang="en-US" b="1" i="1"/>
              <a:t>onBlur( ), onChange( ), onFocus( )</a:t>
            </a:r>
          </a:p>
          <a:p>
            <a:r>
              <a:rPr lang="en-US" altLang="en-US" b="1" i="1"/>
              <a:t>Form</a:t>
            </a:r>
          </a:p>
          <a:p>
            <a:pPr lvl="1"/>
            <a:r>
              <a:rPr lang="en-US" altLang="en-US" b="1" i="1"/>
              <a:t>onSubmit( )</a:t>
            </a:r>
          </a:p>
          <a:p>
            <a:r>
              <a:rPr lang="en-US" altLang="en-US" b="1" i="1"/>
              <a:t>Frame</a:t>
            </a:r>
          </a:p>
          <a:p>
            <a:pPr lvl="1"/>
            <a:r>
              <a:rPr lang="en-US" altLang="en-US" b="1" i="1"/>
              <a:t>onLoad( ), onUnload( )</a:t>
            </a:r>
          </a:p>
          <a:p>
            <a:r>
              <a:rPr lang="en-US" altLang="en-US" b="1" i="1"/>
              <a:t>Image</a:t>
            </a:r>
          </a:p>
          <a:p>
            <a:pPr lvl="1"/>
            <a:r>
              <a:rPr lang="en-US" altLang="en-US" b="1" i="1"/>
              <a:t>onAbort( ), onError( ), onLoad( 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FAD8ED2-D4DF-7809-9759-926B0C5852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C937CDD-6474-BC9E-E7C0-14CD543ACB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3ADDD0-9536-4B0F-A777-09B742446317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203778" name="Rectangle 2">
            <a:extLst>
              <a:ext uri="{FF2B5EF4-FFF2-40B4-BE49-F238E27FC236}">
                <a16:creationId xmlns:a16="http://schemas.microsoft.com/office/drawing/2014/main" id="{ED5FDA07-6979-CBD7-64DC-59DB941CA2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Event Handler Functions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3AF8D057-BE3F-DF6F-7767-4F32DB12E9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Link</a:t>
            </a:r>
          </a:p>
          <a:p>
            <a:pPr lvl="1" algn="l"/>
            <a:r>
              <a:rPr lang="en-US" altLang="en-US" b="1" i="1"/>
              <a:t>onClick( ), onMouseOver( ), onMouseOut( )</a:t>
            </a:r>
          </a:p>
          <a:p>
            <a:r>
              <a:rPr lang="en-US" altLang="en-US" b="1" i="1"/>
              <a:t>Radio</a:t>
            </a:r>
          </a:p>
          <a:p>
            <a:pPr lvl="1"/>
            <a:r>
              <a:rPr lang="en-US" altLang="en-US" b="1" i="1"/>
              <a:t>onClick( )</a:t>
            </a:r>
          </a:p>
          <a:p>
            <a:pPr>
              <a:lnSpc>
                <a:spcPct val="90000"/>
              </a:lnSpc>
            </a:pPr>
            <a:r>
              <a:rPr lang="en-US" altLang="en-US" b="1" i="1"/>
              <a:t>Reset</a:t>
            </a:r>
          </a:p>
          <a:p>
            <a:pPr lvl="1">
              <a:lnSpc>
                <a:spcPct val="90000"/>
              </a:lnSpc>
            </a:pPr>
            <a:r>
              <a:rPr lang="en-US" altLang="en-US" b="1" i="1"/>
              <a:t>onClick( )</a:t>
            </a:r>
          </a:p>
          <a:p>
            <a:pPr>
              <a:lnSpc>
                <a:spcPct val="90000"/>
              </a:lnSpc>
            </a:pPr>
            <a:r>
              <a:rPr lang="en-US" altLang="en-US" b="1" i="1"/>
              <a:t>Select</a:t>
            </a:r>
          </a:p>
          <a:p>
            <a:pPr lvl="1">
              <a:lnSpc>
                <a:spcPct val="90000"/>
              </a:lnSpc>
            </a:pPr>
            <a:r>
              <a:rPr lang="en-US" altLang="en-US" b="1" i="1"/>
              <a:t>onChange( 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C8AE49E-6EDA-E0C7-E1B4-F04BAA6F7B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F4414B3-59A2-4900-4131-D83F495285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F6CC02-4F67-4900-AED2-FC1FFB89CFBD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204802" name="Rectangle 2">
            <a:extLst>
              <a:ext uri="{FF2B5EF4-FFF2-40B4-BE49-F238E27FC236}">
                <a16:creationId xmlns:a16="http://schemas.microsoft.com/office/drawing/2014/main" id="{BB5426E7-B344-935A-E595-B547D9E55E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Event Handler Functions</a:t>
            </a:r>
          </a:p>
        </p:txBody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05B99C16-0B48-BE3C-EFB0-0B552C51C9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i="1"/>
              <a:t>Submit</a:t>
            </a:r>
          </a:p>
          <a:p>
            <a:pPr lvl="1">
              <a:lnSpc>
                <a:spcPct val="90000"/>
              </a:lnSpc>
            </a:pPr>
            <a:r>
              <a:rPr lang="en-US" altLang="en-US" b="1" i="1"/>
              <a:t>onClick( )</a:t>
            </a:r>
          </a:p>
          <a:p>
            <a:pPr>
              <a:lnSpc>
                <a:spcPct val="90000"/>
              </a:lnSpc>
            </a:pPr>
            <a:r>
              <a:rPr lang="en-US" altLang="en-US" b="1" i="1"/>
              <a:t>Text</a:t>
            </a:r>
          </a:p>
          <a:p>
            <a:pPr lvl="1">
              <a:lnSpc>
                <a:spcPct val="90000"/>
              </a:lnSpc>
            </a:pPr>
            <a:r>
              <a:rPr lang="en-US" altLang="en-US" b="1" i="1"/>
              <a:t>onBlur( ), onChange( ), onFocus( )</a:t>
            </a:r>
          </a:p>
          <a:p>
            <a:pPr>
              <a:lnSpc>
                <a:spcPct val="90000"/>
              </a:lnSpc>
            </a:pPr>
            <a:r>
              <a:rPr lang="en-US" altLang="en-US" b="1" i="1"/>
              <a:t>Textarea</a:t>
            </a:r>
          </a:p>
          <a:p>
            <a:pPr lvl="1">
              <a:lnSpc>
                <a:spcPct val="90000"/>
              </a:lnSpc>
            </a:pPr>
            <a:r>
              <a:rPr lang="en-US" altLang="en-US" b="1" i="1"/>
              <a:t>onBlur( ), onChange( ), onFocus( )</a:t>
            </a:r>
          </a:p>
          <a:p>
            <a:pPr>
              <a:lnSpc>
                <a:spcPct val="90000"/>
              </a:lnSpc>
            </a:pPr>
            <a:r>
              <a:rPr lang="en-US" altLang="en-US" b="1" i="1"/>
              <a:t>Window</a:t>
            </a:r>
          </a:p>
          <a:p>
            <a:pPr lvl="1">
              <a:lnSpc>
                <a:spcPct val="90000"/>
              </a:lnSpc>
            </a:pPr>
            <a:r>
              <a:rPr lang="en-US" altLang="en-US" b="1" i="1"/>
              <a:t>onBlur( ), onError( ), onFocus( ), onLoad( ), onUnload( 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91A2BA5-D214-19B8-5CA3-4B4C1AE72D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E9F4FD5-8840-0633-066F-EF74E6F61A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F81EF-5E11-4750-8409-92348F280447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209922" name="Rectangle 2">
            <a:extLst>
              <a:ext uri="{FF2B5EF4-FFF2-40B4-BE49-F238E27FC236}">
                <a16:creationId xmlns:a16="http://schemas.microsoft.com/office/drawing/2014/main" id="{23678607-458E-F931-0D79-D7A2924BAE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in URL's</a:t>
            </a:r>
          </a:p>
        </p:txBody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814BEF59-DA5B-5CD4-6AB7-515046A30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javascript:function;greeting+name+message;</a:t>
            </a:r>
            <a:endParaRPr lang="en-US" altLang="en-US">
              <a:latin typeface="Courier New" panose="02070309020205020404" pitchFamily="49" charset="0"/>
            </a:endParaRPr>
          </a:p>
          <a:p>
            <a:pPr lvl="1"/>
            <a:r>
              <a:rPr lang="en-US" altLang="en-US"/>
              <a:t>Multiple statements separated by semi-colons</a:t>
            </a:r>
          </a:p>
          <a:p>
            <a:pPr lvl="1"/>
            <a:r>
              <a:rPr lang="en-US" altLang="en-US"/>
              <a:t>Value of last expression evaluated becomes the document that URL refers to and this value will be formatted and displayed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5B301F93-7D72-208E-7C65-45E939439F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7FCD454-9600-AA73-3281-A0B1551119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6645D3-1F3A-4481-91C5-584F2337C58A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210946" name="Rectangle 2">
            <a:extLst>
              <a:ext uri="{FF2B5EF4-FFF2-40B4-BE49-F238E27FC236}">
                <a16:creationId xmlns:a16="http://schemas.microsoft.com/office/drawing/2014/main" id="{EA2805CC-4609-6729-B415-D09E3C9A19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in URL's</a:t>
            </a:r>
          </a:p>
        </p:txBody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44C7716C-EC0E-ACD0-6ECC-2CF06CE292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javascript:alert(“Hello World!”);</a:t>
            </a:r>
            <a:endParaRPr lang="en-US" altLang="en-US"/>
          </a:p>
          <a:p>
            <a:pPr lvl="1"/>
            <a:r>
              <a:rPr lang="en-US" altLang="en-US"/>
              <a:t>Has side-effect but returns no value</a:t>
            </a:r>
          </a:p>
          <a:p>
            <a:pPr lvl="1"/>
            <a:r>
              <a:rPr lang="en-US" altLang="en-US"/>
              <a:t>Browser executes the code but doesn’t modify currently displayed document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227B09E-B941-0135-C256-9B49A2B6D2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9AC178B-44EA-384C-185B-64DF6DD0DF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BA76D6-A085-42B4-8BA1-479347AA0BD1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211970" name="Rectangle 2">
            <a:extLst>
              <a:ext uri="{FF2B5EF4-FFF2-40B4-BE49-F238E27FC236}">
                <a16:creationId xmlns:a16="http://schemas.microsoft.com/office/drawing/2014/main" id="{9F69DC3C-5323-D735-FF44-DECF1557C5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in URL's</a:t>
            </a:r>
          </a:p>
        </p:txBody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449575D3-6BD6-65DD-8F0F-C4DD8B3704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Can use void operator to remove returned value and just have side-effect of assignment</a:t>
            </a:r>
          </a:p>
          <a:p>
            <a:pPr lvl="1">
              <a:buFontTx/>
              <a:buNone/>
            </a:pPr>
            <a:r>
              <a:rPr lang="en-US" altLang="en-US"/>
              <a:t>	</a:t>
            </a:r>
            <a:r>
              <a:rPr lang="en-US" altLang="en-US" b="1" i="1"/>
              <a:t>javascript:void function( );</a:t>
            </a:r>
            <a:endParaRPr lang="en-US" altLang="en-US"/>
          </a:p>
          <a:p>
            <a:r>
              <a:rPr lang="en-US" altLang="en-US"/>
              <a:t>Microsoft has syntax,</a:t>
            </a:r>
          </a:p>
          <a:p>
            <a:pPr lvl="1">
              <a:buFontTx/>
              <a:buNone/>
            </a:pPr>
            <a:r>
              <a:rPr lang="en-US" altLang="en-US" b="1" i="1"/>
              <a:t>&lt;a href = “script-engine:script-code”&gt;</a:t>
            </a:r>
            <a:endParaRPr lang="en-US" altLang="en-US"/>
          </a:p>
          <a:p>
            <a:pPr lvl="1"/>
            <a:r>
              <a:rPr lang="en-US" altLang="en-US"/>
              <a:t>Supports </a:t>
            </a:r>
            <a:r>
              <a:rPr lang="en-US" altLang="en-US" b="1" i="1"/>
              <a:t>vbscript:</a:t>
            </a:r>
            <a:endParaRPr lang="en-US" altLang="en-US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E8BE388-361B-6CFF-09F7-2B813C842E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586C2D2-2584-559B-218C-00E4349979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E3F992A-FCD5-4052-B16D-D2DC63AD4C1C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212994" name="Rectangle 2">
            <a:extLst>
              <a:ext uri="{FF2B5EF4-FFF2-40B4-BE49-F238E27FC236}">
                <a16:creationId xmlns:a16="http://schemas.microsoft.com/office/drawing/2014/main" id="{9D1E0A27-CCDA-2EE7-4CF9-5DF40C7C0C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altLang="en-US"/>
              <a:t>JavaScript Entities</a:t>
            </a:r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B1889C76-8925-0F90-F339-9DE774D3F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0488" tIns="44450" rIns="90488" bIns="44450" rtlCol="0">
            <a:normAutofit/>
          </a:bodyPr>
          <a:lstStyle/>
          <a:p>
            <a:r>
              <a:rPr lang="en-US" altLang="en-US" b="1" i="1"/>
              <a:t>&amp;{JavaScript-statements};</a:t>
            </a:r>
            <a:endParaRPr lang="en-US" altLang="en-US"/>
          </a:p>
          <a:p>
            <a:pPr lvl="1"/>
            <a:r>
              <a:rPr lang="en-US" altLang="en-US"/>
              <a:t>Can only appear within the value of HTML attributes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b="1" i="1"/>
              <a:t>		&lt;body bgcolor = “&amp;{favorite_color( );};”&gt;</a:t>
            </a:r>
            <a:endParaRPr lang="en-US" altLang="en-US" sz="24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420D422-38E3-1A44-0965-B8EC8C8EBB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EA25672-D719-5059-0A70-67E25DD2F9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9DEF1D-2985-4FDA-9BBB-EFF13FA69665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227330" name="Rectangle 2">
            <a:extLst>
              <a:ext uri="{FF2B5EF4-FFF2-40B4-BE49-F238E27FC236}">
                <a16:creationId xmlns:a16="http://schemas.microsoft.com/office/drawing/2014/main" id="{5BB2E752-B86F-86B6-722F-01A8363B65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Order of Execution</a:t>
            </a:r>
          </a:p>
        </p:txBody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E4B74F49-3484-E44B-8627-0073073E60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Scripts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JavaScript statements that appear between </a:t>
            </a:r>
            <a:r>
              <a:rPr lang="en-US" altLang="en-US" b="1" i="1"/>
              <a:t>&lt;script&gt;</a:t>
            </a:r>
            <a:r>
              <a:rPr lang="en-US" altLang="en-US"/>
              <a:t> and </a:t>
            </a:r>
            <a:r>
              <a:rPr lang="en-US" altLang="en-US" b="1" i="1"/>
              <a:t>&lt;/script&gt;</a:t>
            </a:r>
            <a:r>
              <a:rPr lang="en-US" altLang="en-US"/>
              <a:t>-tags are executed in the order they appear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When more than one script appears in a page, they are executed in the order they appear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F7226E5-C127-F1BF-11FB-8254791DEB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D984FB9-9068-16EC-022D-FD6CE50A70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1090EA-D965-4070-BE2B-0683AB036119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228354" name="Rectangle 2">
            <a:extLst>
              <a:ext uri="{FF2B5EF4-FFF2-40B4-BE49-F238E27FC236}">
                <a16:creationId xmlns:a16="http://schemas.microsoft.com/office/drawing/2014/main" id="{99079530-4071-33FE-2714-63DC0724CC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Order of Execution</a:t>
            </a:r>
          </a:p>
        </p:txBody>
      </p:sp>
      <p:sp>
        <p:nvSpPr>
          <p:cNvPr id="228355" name="Rectangle 3">
            <a:extLst>
              <a:ext uri="{FF2B5EF4-FFF2-40B4-BE49-F238E27FC236}">
                <a16:creationId xmlns:a16="http://schemas.microsoft.com/office/drawing/2014/main" id="{CE75453F-F9A4-79AE-2DD4-AA63285E64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Scripts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JavaScript code evaluation occurs as part of the browser’s HTML parsing process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Thus, if script appears in the </a:t>
            </a:r>
            <a:r>
              <a:rPr lang="en-US" altLang="en-US" b="1" i="1"/>
              <a:t>&lt;head&gt;</a:t>
            </a:r>
            <a:r>
              <a:rPr lang="en-US" altLang="en-US"/>
              <a:t> portion of an HTML document, none of the </a:t>
            </a:r>
            <a:r>
              <a:rPr lang="en-US" altLang="en-US" b="1" i="1"/>
              <a:t>&lt;body&gt;</a:t>
            </a:r>
            <a:r>
              <a:rPr lang="en-US" altLang="en-US"/>
              <a:t> of the document will have been defined yet 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Thus, many JavaScript objects, such as </a:t>
            </a:r>
            <a:r>
              <a:rPr lang="en-US" altLang="en-US" b="1" i="1"/>
              <a:t>form</a:t>
            </a:r>
            <a:r>
              <a:rPr lang="en-US" altLang="en-US"/>
              <a:t> objects, haven’t as yet been created and cannot be manipulated by this code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0332421-865F-B48F-9AB8-66D0F7E644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1E0B90A-11DC-C282-0594-BC52FC7DCC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6A9E51-0BFD-4618-8C09-3DFFD2B8A9D8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229378" name="Rectangle 2">
            <a:extLst>
              <a:ext uri="{FF2B5EF4-FFF2-40B4-BE49-F238E27FC236}">
                <a16:creationId xmlns:a16="http://schemas.microsoft.com/office/drawing/2014/main" id="{40FF5461-4FC1-8016-F572-5CB6268A96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Order of Execution</a:t>
            </a:r>
          </a:p>
        </p:txBody>
      </p:sp>
      <p:sp>
        <p:nvSpPr>
          <p:cNvPr id="229379" name="Rectangle 3">
            <a:extLst>
              <a:ext uri="{FF2B5EF4-FFF2-40B4-BE49-F238E27FC236}">
                <a16:creationId xmlns:a16="http://schemas.microsoft.com/office/drawing/2014/main" id="{3D020AEF-DB77-2B5E-52FF-0FB9790C87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Functions</a:t>
            </a:r>
          </a:p>
          <a:p>
            <a:pPr lvl="1"/>
            <a:r>
              <a:rPr lang="en-US" altLang="en-US"/>
              <a:t>Functions shouldn’t be executed before the objects they manipulate exist</a:t>
            </a:r>
          </a:p>
          <a:p>
            <a:pPr lvl="1"/>
            <a:r>
              <a:rPr lang="en-US" altLang="en-US"/>
              <a:t>Functions should be defined before they are invoked</a:t>
            </a:r>
          </a:p>
          <a:p>
            <a:pPr lvl="1"/>
            <a:r>
              <a:rPr lang="en-US" altLang="en-US"/>
              <a:t>Can define function to manipulate objects before these objects exist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3A06531-31F6-B643-E4DA-908D44FEFC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3B09255-B446-CC98-E138-E580DDEF2D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AEC4BD-EB9F-4D3D-8B2C-551BCAE5C37E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230402" name="Rectangle 2">
            <a:extLst>
              <a:ext uri="{FF2B5EF4-FFF2-40B4-BE49-F238E27FC236}">
                <a16:creationId xmlns:a16="http://schemas.microsoft.com/office/drawing/2014/main" id="{9829B6AC-D2C8-21B7-8AFB-5F8E53DE4A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Order of Execution</a:t>
            </a:r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F49E8739-07F8-B6FA-9582-D4D760BB4C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Event handlers</a:t>
            </a:r>
          </a:p>
          <a:p>
            <a:pPr lvl="1"/>
            <a:r>
              <a:rPr lang="en-US" altLang="en-US"/>
              <a:t>May be invoked before a page is fully loaded and parsed</a:t>
            </a:r>
          </a:p>
          <a:p>
            <a:pPr lvl="2"/>
            <a:r>
              <a:rPr lang="en-US" altLang="en-US"/>
              <a:t>In a slow network connection, some links can initially appear and be clicked before page fully loads</a:t>
            </a:r>
          </a:p>
          <a:p>
            <a:pPr lvl="1"/>
            <a:r>
              <a:rPr lang="en-US" altLang="en-US"/>
              <a:t>Thus, if your event handler invokes functions, you must make sure they are defined</a:t>
            </a:r>
          </a:p>
          <a:p>
            <a:pPr lvl="2"/>
            <a:r>
              <a:rPr lang="en-US" altLang="en-US"/>
              <a:t>Put all function definitions in the </a:t>
            </a:r>
            <a:r>
              <a:rPr lang="en-US" altLang="en-US" b="1" i="1"/>
              <a:t>&lt;head&gt;</a:t>
            </a:r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409EF41-E65B-06D2-C171-1DFE81F3AB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246CD8E-4FD9-9532-8374-BEC16E1081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57EE68-0022-4BDF-A515-D8D26B4BD673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231426" name="Rectangle 2">
            <a:extLst>
              <a:ext uri="{FF2B5EF4-FFF2-40B4-BE49-F238E27FC236}">
                <a16:creationId xmlns:a16="http://schemas.microsoft.com/office/drawing/2014/main" id="{48A68DD9-015C-AEB1-4D91-58E7E5BDC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Order of Execution</a:t>
            </a:r>
          </a:p>
        </p:txBody>
      </p:sp>
      <p:sp>
        <p:nvSpPr>
          <p:cNvPr id="231427" name="Rectangle 3">
            <a:extLst>
              <a:ext uri="{FF2B5EF4-FFF2-40B4-BE49-F238E27FC236}">
                <a16:creationId xmlns:a16="http://schemas.microsoft.com/office/drawing/2014/main" id="{836E8B19-F69F-C61D-4CC2-19C5E0EA7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Event handlers</a:t>
            </a:r>
          </a:p>
          <a:p>
            <a:pPr lvl="1"/>
            <a:r>
              <a:rPr lang="en-US" altLang="en-US"/>
              <a:t>Also, you must take care that event handlers don’t try to manipulate HTML objects that haven’t been parsed and created</a:t>
            </a:r>
          </a:p>
          <a:p>
            <a:pPr lvl="2"/>
            <a:r>
              <a:rPr lang="en-US" altLang="en-US"/>
              <a:t>Can test for existence of object to be manipulated</a:t>
            </a:r>
          </a:p>
          <a:p>
            <a:pPr lvl="1">
              <a:buFontTx/>
              <a:buNone/>
            </a:pPr>
            <a:r>
              <a:rPr lang="en-US" altLang="en-US" sz="2000" b="1" i="1"/>
              <a:t>if ((parent.frames[1]) &amp;&amp; (parent.frames[1].document) &amp;&amp; (parent.frames[1].document.myform)) {</a:t>
            </a:r>
          </a:p>
          <a:p>
            <a:pPr lvl="1">
              <a:buFontTx/>
              <a:buNone/>
            </a:pPr>
            <a:r>
              <a:rPr lang="en-US" altLang="en-US" sz="2000" b="1" i="1"/>
              <a:t>…</a:t>
            </a:r>
          </a:p>
          <a:p>
            <a:pPr lvl="1">
              <a:buFontTx/>
              <a:buNone/>
            </a:pPr>
            <a:r>
              <a:rPr lang="en-US" altLang="en-US" sz="2000" b="1" i="1"/>
              <a:t>}</a:t>
            </a:r>
            <a:endParaRPr lang="en-US" altLang="en-US" sz="1800" b="1" i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BEF59DA-9DA6-E77C-FCAF-9DE98431E5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083590D-4978-3F05-21BA-803FC81801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3D2CB1-097E-4F81-88C6-BA3F59796727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232450" name="Rectangle 2">
            <a:extLst>
              <a:ext uri="{FF2B5EF4-FFF2-40B4-BE49-F238E27FC236}">
                <a16:creationId xmlns:a16="http://schemas.microsoft.com/office/drawing/2014/main" id="{100D1416-E446-43B0-60E3-7CD744F0E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Order of Execution</a:t>
            </a:r>
          </a:p>
        </p:txBody>
      </p:sp>
      <p:sp>
        <p:nvSpPr>
          <p:cNvPr id="232451" name="Rectangle 3">
            <a:extLst>
              <a:ext uri="{FF2B5EF4-FFF2-40B4-BE49-F238E27FC236}">
                <a16:creationId xmlns:a16="http://schemas.microsoft.com/office/drawing/2014/main" id="{472AB788-8BAF-580C-0AA2-09DB4F37F7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Event handlers</a:t>
            </a:r>
          </a:p>
          <a:p>
            <a:pPr lvl="1"/>
            <a:r>
              <a:rPr lang="en-US" altLang="en-US"/>
              <a:t>Also, you must take care that event handlers don’t try to manipulate HTML objects that haven’t been parsed and created</a:t>
            </a:r>
          </a:p>
          <a:p>
            <a:pPr lvl="2"/>
            <a:r>
              <a:rPr lang="en-US" altLang="en-US"/>
              <a:t>Place this small script at very end of document which sets a flag and have event handlers test this flag</a:t>
            </a:r>
          </a:p>
          <a:p>
            <a:pPr lvl="1">
              <a:buFontTx/>
              <a:buNone/>
            </a:pPr>
            <a:r>
              <a:rPr lang="en-US" altLang="en-US" sz="2000" b="1" i="1"/>
              <a:t>&lt;script&gt;done_loading=1&lt;/script&gt;&lt;/body&gt;&lt;/html&gt;</a:t>
            </a:r>
            <a:endParaRPr lang="en-US" altLang="en-US" sz="20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51982FF-9DE1-0618-930B-BE8BF989BD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85C5BD0-738B-7B1D-DE4D-427F072E86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45E8D-0704-476A-9176-0CCCF8205607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233474" name="Rectangle 2">
            <a:extLst>
              <a:ext uri="{FF2B5EF4-FFF2-40B4-BE49-F238E27FC236}">
                <a16:creationId xmlns:a16="http://schemas.microsoft.com/office/drawing/2014/main" id="{5AE0C4E9-13CB-A3B2-0F46-DC40DC094A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Order of Execution</a:t>
            </a:r>
          </a:p>
        </p:txBody>
      </p:sp>
      <p:sp>
        <p:nvSpPr>
          <p:cNvPr id="233475" name="Rectangle 3">
            <a:extLst>
              <a:ext uri="{FF2B5EF4-FFF2-40B4-BE49-F238E27FC236}">
                <a16:creationId xmlns:a16="http://schemas.microsoft.com/office/drawing/2014/main" id="{339B349E-0E22-BA96-9116-D2B9E2C8FC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Event handlers</a:t>
            </a:r>
          </a:p>
          <a:p>
            <a:pPr lvl="1"/>
            <a:r>
              <a:rPr lang="en-US" altLang="en-US" b="1" i="1"/>
              <a:t>onLoad( )</a:t>
            </a:r>
            <a:r>
              <a:rPr lang="en-US" altLang="en-US"/>
              <a:t> and </a:t>
            </a:r>
            <a:r>
              <a:rPr lang="en-US" altLang="en-US" b="1" i="1"/>
              <a:t>onUnload( )</a:t>
            </a:r>
            <a:r>
              <a:rPr lang="en-US" altLang="en-US"/>
              <a:t> event handlers</a:t>
            </a:r>
          </a:p>
          <a:p>
            <a:pPr lvl="2"/>
            <a:r>
              <a:rPr lang="en-US" altLang="en-US"/>
              <a:t>In Netscape 3.0, the </a:t>
            </a:r>
            <a:r>
              <a:rPr lang="en-US" altLang="en-US" b="1" i="1"/>
              <a:t>onLoad( )</a:t>
            </a:r>
            <a:r>
              <a:rPr lang="en-US" altLang="en-US"/>
              <a:t> handler is executed when document or frameset is fully loaded</a:t>
            </a:r>
          </a:p>
          <a:p>
            <a:pPr lvl="3"/>
            <a:r>
              <a:rPr lang="en-US" altLang="en-US"/>
              <a:t>When using multiple frames, one doesn’t know in what order the </a:t>
            </a:r>
            <a:r>
              <a:rPr lang="en-US" altLang="en-US" b="1" i="1"/>
              <a:t>onLoad( )</a:t>
            </a:r>
            <a:r>
              <a:rPr lang="en-US" altLang="en-US"/>
              <a:t> handler will be invoked for the various frames</a:t>
            </a:r>
          </a:p>
          <a:p>
            <a:pPr lvl="4"/>
            <a:r>
              <a:rPr lang="en-US" altLang="en-US"/>
              <a:t>Handler for child frames can be invoked before handler for parent frame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AA68DBF-9B63-4C66-C16C-F91799EF62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B473E96-26D4-C423-E099-BF176010E3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00A8F2-95FD-40DE-8364-E258A8FC8A6B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234498" name="Rectangle 2">
            <a:extLst>
              <a:ext uri="{FF2B5EF4-FFF2-40B4-BE49-F238E27FC236}">
                <a16:creationId xmlns:a16="http://schemas.microsoft.com/office/drawing/2014/main" id="{1931E97F-AB28-9AB9-CB6A-506258FE51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Order of Execution</a:t>
            </a:r>
          </a:p>
        </p:txBody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260CECCF-8C5B-D406-321F-7ED2ED1A8B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Event handlers</a:t>
            </a:r>
          </a:p>
          <a:p>
            <a:pPr lvl="1"/>
            <a:r>
              <a:rPr lang="en-US" altLang="en-US" b="1" i="1"/>
              <a:t>onLoad( )</a:t>
            </a:r>
            <a:r>
              <a:rPr lang="en-US" altLang="en-US"/>
              <a:t> and </a:t>
            </a:r>
            <a:r>
              <a:rPr lang="en-US" altLang="en-US" b="1" i="1"/>
              <a:t>onUnload( )</a:t>
            </a:r>
            <a:r>
              <a:rPr lang="en-US" altLang="en-US"/>
              <a:t> event handlers</a:t>
            </a:r>
          </a:p>
          <a:p>
            <a:pPr lvl="2"/>
            <a:r>
              <a:rPr lang="en-US" altLang="en-US"/>
              <a:t>The</a:t>
            </a:r>
            <a:r>
              <a:rPr lang="en-US" altLang="en-US">
                <a:latin typeface="Courier New" panose="02070309020205020404" pitchFamily="49" charset="0"/>
              </a:rPr>
              <a:t> </a:t>
            </a:r>
            <a:r>
              <a:rPr lang="en-US" altLang="en-US" b="1" i="1"/>
              <a:t>onUnload( )</a:t>
            </a:r>
            <a:r>
              <a:rPr lang="en-US" altLang="en-US"/>
              <a:t> handler is executed when user requests the browser to move to some other page and just before the browser leaves current document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A506E2B-59DF-D929-8AD0-69F75AEE27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5F641E1-C649-D34A-EC6B-7CEDEADDAB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A211D9-5F53-4487-86A5-3E31D6ED3B57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235522" name="Rectangle 2">
            <a:extLst>
              <a:ext uri="{FF2B5EF4-FFF2-40B4-BE49-F238E27FC236}">
                <a16:creationId xmlns:a16="http://schemas.microsoft.com/office/drawing/2014/main" id="{49558E1A-CE0E-8F50-30E2-ED7F76A7C2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Order of Execution</a:t>
            </a:r>
          </a:p>
        </p:txBody>
      </p:sp>
      <p:sp>
        <p:nvSpPr>
          <p:cNvPr id="235523" name="Rectangle 3">
            <a:extLst>
              <a:ext uri="{FF2B5EF4-FFF2-40B4-BE49-F238E27FC236}">
                <a16:creationId xmlns:a16="http://schemas.microsoft.com/office/drawing/2014/main" id="{30CDAE99-3E2F-3F53-36BA-11639F86F2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JavaScript URLs</a:t>
            </a:r>
          </a:p>
          <a:p>
            <a:pPr lvl="1"/>
            <a:r>
              <a:rPr lang="en-US" altLang="en-US"/>
              <a:t>This is not executed when the document containing the URL code is loaded</a:t>
            </a:r>
          </a:p>
          <a:p>
            <a:pPr lvl="1"/>
            <a:r>
              <a:rPr lang="en-US" altLang="en-US"/>
              <a:t>Only interpreted when the browser tries to load the document to which URL refers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CF85AB9-45F2-A849-58DC-543D0CFB3A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408AD2A6-C2D7-5A20-8816-F320EF538A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2D115A-7DD0-4DA5-AE04-356B11C701AF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236546" name="Rectangle 2">
            <a:extLst>
              <a:ext uri="{FF2B5EF4-FFF2-40B4-BE49-F238E27FC236}">
                <a16:creationId xmlns:a16="http://schemas.microsoft.com/office/drawing/2014/main" id="{D598B341-F076-DDCA-159F-800608E87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Order of Execution</a:t>
            </a:r>
          </a:p>
        </p:txBody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50C8B9F6-10B5-6C44-B238-DD78D5FE25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JavaScript entities</a:t>
            </a:r>
          </a:p>
          <a:p>
            <a:pPr lvl="1"/>
            <a:r>
              <a:rPr lang="en-US" altLang="en-US"/>
              <a:t>Executed during process of HTML parsing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E912B51-7B91-DC8B-98DD-C5720B1D74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952D3A8-230A-2B41-0153-CE345D064B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A202E7-89FF-4A3A-8686-C4AD0C0DDF24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121858" name="Rectangle 2">
            <a:extLst>
              <a:ext uri="{FF2B5EF4-FFF2-40B4-BE49-F238E27FC236}">
                <a16:creationId xmlns:a16="http://schemas.microsoft.com/office/drawing/2014/main" id="{10E37B97-E26F-3D4E-3F65-2A8A8BFA0B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Object Hierarchy</a:t>
            </a:r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3AEF658B-87C9-79D5-D69E-5FCFEB1353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/>
              <a:t>The current window</a:t>
            </a:r>
          </a:p>
          <a:p>
            <a:pPr lvl="1">
              <a:lnSpc>
                <a:spcPct val="80000"/>
              </a:lnSpc>
            </a:pPr>
            <a:r>
              <a:rPr lang="en-US" altLang="en-US" b="1" i="1"/>
              <a:t>self</a:t>
            </a:r>
            <a:r>
              <a:rPr lang="en-US" altLang="en-US"/>
              <a:t>, </a:t>
            </a:r>
            <a:r>
              <a:rPr lang="en-US" altLang="en-US" b="1" i="1"/>
              <a:t>window</a:t>
            </a:r>
            <a:r>
              <a:rPr lang="en-US" altLang="en-US"/>
              <a:t>, </a:t>
            </a:r>
            <a:r>
              <a:rPr lang="en-US" altLang="en-US" b="1" i="1"/>
              <a:t>parent</a:t>
            </a:r>
            <a:r>
              <a:rPr lang="en-US" altLang="en-US"/>
              <a:t>, </a:t>
            </a:r>
            <a:r>
              <a:rPr lang="en-US" altLang="en-US" b="1" i="1"/>
              <a:t>top</a:t>
            </a:r>
            <a:r>
              <a:rPr lang="en-US" altLang="en-US"/>
              <a:t> (various Window objects)</a:t>
            </a:r>
          </a:p>
          <a:p>
            <a:pPr>
              <a:lnSpc>
                <a:spcPct val="80000"/>
              </a:lnSpc>
            </a:pPr>
            <a:r>
              <a:rPr lang="en-US" altLang="en-US"/>
              <a:t>navigator (</a:t>
            </a:r>
            <a:r>
              <a:rPr lang="en-US" altLang="en-US" b="1" i="1"/>
              <a:t>navigator</a:t>
            </a:r>
            <a:r>
              <a:rPr lang="en-US" altLang="en-US"/>
              <a:t> object)</a:t>
            </a:r>
          </a:p>
          <a:p>
            <a:pPr lvl="1">
              <a:lnSpc>
                <a:spcPct val="80000"/>
              </a:lnSpc>
            </a:pPr>
            <a:r>
              <a:rPr lang="en-US" altLang="en-US" b="1" i="1"/>
              <a:t>plugins[ ]</a:t>
            </a:r>
            <a:r>
              <a:rPr lang="en-US" altLang="en-US"/>
              <a:t> (array of </a:t>
            </a:r>
            <a:r>
              <a:rPr lang="en-US" altLang="en-US" b="1" i="1"/>
              <a:t>plugin</a:t>
            </a:r>
            <a:r>
              <a:rPr lang="en-US" altLang="en-US"/>
              <a:t> objects)</a:t>
            </a:r>
          </a:p>
          <a:p>
            <a:pPr lvl="2">
              <a:lnSpc>
                <a:spcPct val="80000"/>
              </a:lnSpc>
            </a:pPr>
            <a:r>
              <a:rPr lang="en-US" altLang="en-US" b="1" i="1"/>
              <a:t>mimeTypes[ ]</a:t>
            </a:r>
            <a:r>
              <a:rPr lang="en-US" altLang="en-US"/>
              <a:t> (array of </a:t>
            </a:r>
            <a:r>
              <a:rPr lang="en-US" altLang="en-US" b="1" i="1"/>
              <a:t>mimeType</a:t>
            </a:r>
            <a:r>
              <a:rPr lang="en-US" altLang="en-US"/>
              <a:t> objects)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000"/>
              <a:t> 	</a:t>
            </a:r>
            <a:r>
              <a:rPr lang="en-US" altLang="en-US" sz="2000" b="1" i="1"/>
              <a:t>var shocked = (navigator.plugins[“Shockwave”] != 		null);</a:t>
            </a:r>
            <a:endParaRPr lang="en-US" altLang="en-US"/>
          </a:p>
          <a:p>
            <a:pPr lvl="1" algn="l">
              <a:lnSpc>
                <a:spcPct val="80000"/>
              </a:lnSpc>
            </a:pPr>
            <a:r>
              <a:rPr lang="en-US" altLang="en-US" b="1" i="1"/>
              <a:t>mimeTypes[ ]</a:t>
            </a:r>
            <a:r>
              <a:rPr lang="en-US" altLang="en-US"/>
              <a:t> (array of </a:t>
            </a:r>
            <a:r>
              <a:rPr lang="en-US" altLang="en-US" b="1" i="1"/>
              <a:t>mimeType</a:t>
            </a:r>
            <a:r>
              <a:rPr lang="en-US" altLang="en-US"/>
              <a:t> objects)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000"/>
              <a:t>	</a:t>
            </a:r>
            <a:r>
              <a:rPr lang="en-US" altLang="en-US" sz="2000" b="1" i="1"/>
              <a:t>var show_movie=(navigator.mimeTypes[“video/mpeg”] 	!= null);</a:t>
            </a:r>
            <a:endParaRPr lang="en-US" altLang="en-US" sz="2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91C0EBB-B101-FB96-4EF0-43C6BB82B6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515D5D6-FC9B-8B2F-7A64-B900795B5A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2B3A3EE-8106-48F5-9C07-D74775E3B744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9EAB905C-7CF1-E519-72BD-B10BCD3E76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Object Hierarchy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3C7A0232-5CAA-4550-1145-FE060AE41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i="1"/>
              <a:t>frames[ ]</a:t>
            </a:r>
            <a:r>
              <a:rPr lang="en-US" altLang="en-US"/>
              <a:t> (array of </a:t>
            </a:r>
            <a:r>
              <a:rPr lang="en-US" altLang="en-US" b="1" i="1"/>
              <a:t>window</a:t>
            </a:r>
            <a:r>
              <a:rPr lang="en-US" altLang="en-US"/>
              <a:t> objects)</a:t>
            </a:r>
          </a:p>
          <a:p>
            <a:pPr>
              <a:lnSpc>
                <a:spcPct val="90000"/>
              </a:lnSpc>
            </a:pPr>
            <a:r>
              <a:rPr lang="en-US" altLang="en-US" b="1" i="1"/>
              <a:t>location</a:t>
            </a:r>
            <a:r>
              <a:rPr lang="en-US" altLang="en-US"/>
              <a:t> (</a:t>
            </a:r>
            <a:r>
              <a:rPr lang="en-US" altLang="en-US" b="1" i="1"/>
              <a:t>location</a:t>
            </a:r>
            <a:r>
              <a:rPr lang="en-US" altLang="en-US"/>
              <a:t> object)</a:t>
            </a:r>
          </a:p>
          <a:p>
            <a:pPr lvl="1"/>
            <a:r>
              <a:rPr lang="en-US" altLang="en-US" b="1" i="1"/>
              <a:t>location.href = “needsjava.html”;</a:t>
            </a: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 b="1" i="1"/>
              <a:t>history</a:t>
            </a:r>
            <a:r>
              <a:rPr lang="en-US" altLang="en-US"/>
              <a:t> (</a:t>
            </a:r>
            <a:r>
              <a:rPr lang="en-US" altLang="en-US" b="1" i="1"/>
              <a:t>history</a:t>
            </a:r>
            <a:r>
              <a:rPr lang="en-US" altLang="en-US"/>
              <a:t> object)</a:t>
            </a:r>
          </a:p>
          <a:p>
            <a:pPr lvl="1">
              <a:lnSpc>
                <a:spcPct val="90000"/>
              </a:lnSpc>
            </a:pPr>
            <a:r>
              <a:rPr lang="en-US" altLang="en-US" b="1" i="1"/>
              <a:t>&lt;input type=button value = “back” onClick = “history.back( );”&gt;</a:t>
            </a:r>
            <a:endParaRPr lang="en-US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D8CCE46-531D-872F-1C08-C58CE0880F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3298F0F-7EFF-E443-0BD1-CB8D8E901B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2FB25E-C0DD-472D-9C18-6A0CE4C4B93B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123906" name="Rectangle 2">
            <a:extLst>
              <a:ext uri="{FF2B5EF4-FFF2-40B4-BE49-F238E27FC236}">
                <a16:creationId xmlns:a16="http://schemas.microsoft.com/office/drawing/2014/main" id="{5EBC6BF3-FCCB-BDC1-BEC3-B4C1A74A0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Object Hierarchy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27AC6678-9F9A-3D2C-0FEE-DB549E7C6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document</a:t>
            </a:r>
            <a:r>
              <a:rPr lang="en-US" altLang="en-US"/>
              <a:t> (</a:t>
            </a:r>
            <a:r>
              <a:rPr lang="en-US" altLang="en-US" b="1" i="1"/>
              <a:t>document</a:t>
            </a:r>
            <a:r>
              <a:rPr lang="en-US" altLang="en-US"/>
              <a:t> object)</a:t>
            </a:r>
          </a:p>
          <a:p>
            <a:pPr lvl="1"/>
            <a:r>
              <a:rPr lang="en-US" altLang="en-US" b="1" i="1"/>
              <a:t>forms[ ]</a:t>
            </a:r>
            <a:r>
              <a:rPr lang="en-US" altLang="en-US"/>
              <a:t> (array of </a:t>
            </a:r>
            <a:r>
              <a:rPr lang="en-US" altLang="en-US" b="1" i="1"/>
              <a:t>form</a:t>
            </a:r>
            <a:r>
              <a:rPr lang="en-US" altLang="en-US"/>
              <a:t> objects)</a:t>
            </a:r>
          </a:p>
          <a:p>
            <a:pPr lvl="2"/>
            <a:r>
              <a:rPr lang="en-US" altLang="en-US" b="1" i="1"/>
              <a:t>elements[ ]</a:t>
            </a:r>
            <a:r>
              <a:rPr lang="en-US" altLang="en-US"/>
              <a:t> (array of HTML form element objects)</a:t>
            </a:r>
          </a:p>
          <a:p>
            <a:pPr lvl="3"/>
            <a:r>
              <a:rPr lang="en-US" altLang="en-US" b="1" i="1"/>
              <a:t>button</a:t>
            </a:r>
          </a:p>
          <a:p>
            <a:pPr lvl="3"/>
            <a:r>
              <a:rPr lang="en-US" altLang="en-US" b="1" i="1"/>
              <a:t>checkbox</a:t>
            </a:r>
          </a:p>
          <a:p>
            <a:pPr lvl="3"/>
            <a:r>
              <a:rPr lang="en-US" altLang="en-US" b="1" i="1"/>
              <a:t>fileupload </a:t>
            </a:r>
            <a:r>
              <a:rPr lang="en-US" altLang="en-US"/>
              <a:t>(3.0)</a:t>
            </a:r>
            <a:endParaRPr lang="en-US" altLang="en-US" b="1" i="1"/>
          </a:p>
          <a:p>
            <a:pPr lvl="3"/>
            <a:r>
              <a:rPr lang="en-US" altLang="en-US" b="1" i="1"/>
              <a:t>hidden</a:t>
            </a:r>
          </a:p>
          <a:p>
            <a:pPr lvl="3"/>
            <a:r>
              <a:rPr lang="en-US" altLang="en-US" b="1" i="1"/>
              <a:t>password</a:t>
            </a:r>
          </a:p>
          <a:p>
            <a:pPr lvl="3"/>
            <a:r>
              <a:rPr lang="en-US" altLang="en-US" b="1" i="1"/>
              <a:t>radio</a:t>
            </a:r>
          </a:p>
          <a:p>
            <a:pPr lvl="3"/>
            <a:r>
              <a:rPr lang="en-US" altLang="en-US" b="1" i="1"/>
              <a:t>reset</a:t>
            </a:r>
            <a:endParaRPr lang="en-US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624A37F-F030-4A55-F8E8-4012D41C2A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40CAA44-ECBF-37AC-6830-68FBA21CD6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3FA2DE-BA10-4F52-9FEA-55AEFCA4BF48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78D624F-3810-E0AA-14E1-CF16170ED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Object Hierarchy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1DEBDF3-B981-AA8A-DAE7-1DDC184F71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document</a:t>
            </a:r>
            <a:r>
              <a:rPr lang="en-US" altLang="en-US"/>
              <a:t> (</a:t>
            </a:r>
            <a:r>
              <a:rPr lang="en-US" altLang="en-US" b="1" i="1"/>
              <a:t>document</a:t>
            </a:r>
            <a:r>
              <a:rPr lang="en-US" altLang="en-US"/>
              <a:t> object)</a:t>
            </a:r>
          </a:p>
          <a:p>
            <a:pPr lvl="1"/>
            <a:r>
              <a:rPr lang="en-US" altLang="en-US" b="1" i="1"/>
              <a:t>forms[ ]</a:t>
            </a:r>
            <a:r>
              <a:rPr lang="en-US" altLang="en-US"/>
              <a:t> (array of </a:t>
            </a:r>
            <a:r>
              <a:rPr lang="en-US" altLang="en-US" b="1" i="1"/>
              <a:t>form</a:t>
            </a:r>
            <a:r>
              <a:rPr lang="en-US" altLang="en-US"/>
              <a:t> objects)</a:t>
            </a:r>
          </a:p>
          <a:p>
            <a:pPr lvl="2"/>
            <a:r>
              <a:rPr lang="en-US" altLang="en-US" b="1" i="1"/>
              <a:t>elements[ ]</a:t>
            </a:r>
            <a:r>
              <a:rPr lang="en-US" altLang="en-US"/>
              <a:t> (array of HTML form element objects)</a:t>
            </a:r>
          </a:p>
          <a:p>
            <a:pPr lvl="3"/>
            <a:r>
              <a:rPr lang="en-US" altLang="en-US" b="1" i="1"/>
              <a:t>select</a:t>
            </a:r>
          </a:p>
          <a:p>
            <a:pPr lvl="4"/>
            <a:r>
              <a:rPr lang="en-US" altLang="en-US" b="1" i="1"/>
              <a:t>options[ ] </a:t>
            </a:r>
            <a:r>
              <a:rPr lang="en-US" altLang="en-US"/>
              <a:t>(array of </a:t>
            </a:r>
            <a:r>
              <a:rPr lang="en-US" altLang="en-US" b="1" i="1"/>
              <a:t>option</a:t>
            </a:r>
            <a:r>
              <a:rPr lang="en-US" altLang="en-US"/>
              <a:t> objects)</a:t>
            </a:r>
            <a:endParaRPr lang="en-US" altLang="en-US" b="1" i="1"/>
          </a:p>
          <a:p>
            <a:pPr lvl="3"/>
            <a:r>
              <a:rPr lang="en-US" altLang="en-US" b="1" i="1"/>
              <a:t>submit</a:t>
            </a:r>
          </a:p>
          <a:p>
            <a:pPr lvl="3"/>
            <a:r>
              <a:rPr lang="en-US" altLang="en-US" b="1" i="1"/>
              <a:t>text</a:t>
            </a:r>
          </a:p>
          <a:p>
            <a:pPr lvl="3"/>
            <a:r>
              <a:rPr lang="en-US" altLang="en-US" b="1" i="1"/>
              <a:t>textarea</a:t>
            </a:r>
            <a:endParaRPr lang="en-US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5BE46D7F-BBB3-3347-B287-53BEDAABBB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8CEB511-E550-0EB1-7605-E9419A935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A0BF52-48DF-4858-A164-1F615DB03626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3679E688-73F2-794A-0954-6634871F22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Object Hierarchy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26FD198E-EF72-0C29-18F4-F6D7722D24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document</a:t>
            </a:r>
            <a:r>
              <a:rPr lang="en-US" altLang="en-US"/>
              <a:t> (</a:t>
            </a:r>
            <a:r>
              <a:rPr lang="en-US" altLang="en-US" b="1" i="1"/>
              <a:t>document</a:t>
            </a:r>
            <a:r>
              <a:rPr lang="en-US" altLang="en-US"/>
              <a:t> object)</a:t>
            </a:r>
          </a:p>
          <a:p>
            <a:pPr lvl="1"/>
            <a:r>
              <a:rPr lang="en-US" altLang="en-US" b="1" i="1"/>
              <a:t>anchors[ ]</a:t>
            </a:r>
            <a:r>
              <a:rPr lang="en-US" altLang="en-US"/>
              <a:t> (array of </a:t>
            </a:r>
            <a:r>
              <a:rPr lang="en-US" altLang="en-US" b="1" i="1"/>
              <a:t>anchor</a:t>
            </a:r>
            <a:r>
              <a:rPr lang="en-US" altLang="en-US"/>
              <a:t> objects)</a:t>
            </a:r>
          </a:p>
          <a:p>
            <a:pPr lvl="1"/>
            <a:r>
              <a:rPr lang="en-US" altLang="en-US" b="1" i="1"/>
              <a:t>links[ ]</a:t>
            </a:r>
            <a:r>
              <a:rPr lang="en-US" altLang="en-US"/>
              <a:t> (array[ ] of </a:t>
            </a:r>
            <a:r>
              <a:rPr lang="en-US" altLang="en-US" b="1" i="1"/>
              <a:t>link</a:t>
            </a:r>
            <a:r>
              <a:rPr lang="en-US" altLang="en-US"/>
              <a:t> objects)</a:t>
            </a:r>
          </a:p>
          <a:p>
            <a:pPr lvl="1"/>
            <a:r>
              <a:rPr lang="en-US" altLang="en-US" b="1" i="1"/>
              <a:t>images[ ]</a:t>
            </a:r>
            <a:r>
              <a:rPr lang="en-US" altLang="en-US"/>
              <a:t> (array of </a:t>
            </a:r>
            <a:r>
              <a:rPr lang="en-US" altLang="en-US" b="1" i="1"/>
              <a:t>image</a:t>
            </a:r>
            <a:r>
              <a:rPr lang="en-US" altLang="en-US"/>
              <a:t> objects) (3.0)</a:t>
            </a:r>
          </a:p>
          <a:p>
            <a:pPr lvl="1"/>
            <a:r>
              <a:rPr lang="en-US" altLang="en-US" b="1" i="1"/>
              <a:t>applets[ ]</a:t>
            </a:r>
            <a:r>
              <a:rPr lang="en-US" altLang="en-US"/>
              <a:t> (array of </a:t>
            </a:r>
            <a:r>
              <a:rPr lang="en-US" altLang="en-US" b="1" i="1"/>
              <a:t>JavaObject</a:t>
            </a:r>
            <a:r>
              <a:rPr lang="en-US" altLang="en-US"/>
              <a:t> objects) (3.0)</a:t>
            </a:r>
          </a:p>
          <a:p>
            <a:pPr lvl="1"/>
            <a:r>
              <a:rPr lang="en-US" altLang="en-US" b="1" i="1"/>
              <a:t>embeds[ ]</a:t>
            </a:r>
            <a:r>
              <a:rPr lang="en-US" altLang="en-US"/>
              <a:t> (array of </a:t>
            </a:r>
            <a:r>
              <a:rPr lang="en-US" altLang="en-US" b="1" i="1"/>
              <a:t>JavaObject</a:t>
            </a:r>
            <a:r>
              <a:rPr lang="en-US" altLang="en-US"/>
              <a:t> objects) (3.0)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96B217D-AAFB-D290-15C9-EB47A8B976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BB6EDED-0B84-A335-3A77-5DAC6F7033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98A60D-A993-494B-9AF9-78C15C43772C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126978" name="Rectangle 2">
            <a:extLst>
              <a:ext uri="{FF2B5EF4-FFF2-40B4-BE49-F238E27FC236}">
                <a16:creationId xmlns:a16="http://schemas.microsoft.com/office/drawing/2014/main" id="{918D0F69-6192-9734-68F6-74A4E390A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Object Hierarchy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DBB311B5-C17E-69CB-6B0A-92F190C96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packages</a:t>
            </a:r>
            <a:r>
              <a:rPr lang="en-US" altLang="en-US"/>
              <a:t> (</a:t>
            </a:r>
            <a:r>
              <a:rPr lang="en-US" altLang="en-US" b="1" i="1"/>
              <a:t>JavaPackage</a:t>
            </a:r>
            <a:r>
              <a:rPr lang="en-US" altLang="en-US"/>
              <a:t> object)</a:t>
            </a:r>
          </a:p>
          <a:p>
            <a:pPr lvl="1"/>
            <a:r>
              <a:rPr lang="en-US" altLang="en-US"/>
              <a:t>Various </a:t>
            </a:r>
            <a:r>
              <a:rPr lang="en-US" altLang="en-US" b="1" i="1"/>
              <a:t>JavaPackage</a:t>
            </a:r>
            <a:r>
              <a:rPr lang="en-US" altLang="en-US"/>
              <a:t> and </a:t>
            </a:r>
            <a:r>
              <a:rPr lang="en-US" altLang="en-US" b="1" i="1"/>
              <a:t>JavaClass</a:t>
            </a:r>
            <a:r>
              <a:rPr lang="en-US" altLang="en-US"/>
              <a:t> objects (3.0)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1BB8488-459C-805D-BB90-B542960798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6135B28-E349-D2A8-7E8E-CC21F32531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D1524E-2D1E-44FA-892A-5C9E9F7C9E05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128002" name="Rectangle 2">
            <a:extLst>
              <a:ext uri="{FF2B5EF4-FFF2-40B4-BE49-F238E27FC236}">
                <a16:creationId xmlns:a16="http://schemas.microsoft.com/office/drawing/2014/main" id="{92C2E8BC-1592-5E01-1FC2-D556A11C3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JavaScript Objects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C89727A1-CFDF-4163-BA76-FB62D87E2E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Built-in objects</a:t>
            </a:r>
          </a:p>
          <a:p>
            <a:r>
              <a:rPr lang="en-US" altLang="en-US"/>
              <a:t>HTML objects</a:t>
            </a:r>
          </a:p>
          <a:p>
            <a:r>
              <a:rPr lang="en-US" altLang="en-US"/>
              <a:t>Browser objects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9F42FB3-EFAB-F858-A23D-390DCB26EB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7AD7F16-5CFD-CF36-9F66-DF3A5E96FC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B06B95-615E-4659-8FA2-AFF7C3835FD0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129026" name="Rectangle 2">
            <a:extLst>
              <a:ext uri="{FF2B5EF4-FFF2-40B4-BE49-F238E27FC236}">
                <a16:creationId xmlns:a16="http://schemas.microsoft.com/office/drawing/2014/main" id="{5A543639-1071-D600-48BE-DB27AB4E37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Built-in Objects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5BC6597A-B219-A6D6-A3F9-4BC9A35C44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objects</a:t>
            </a:r>
          </a:p>
          <a:p>
            <a:r>
              <a:rPr lang="en-US" altLang="en-US" b="1" i="1"/>
              <a:t>date</a:t>
            </a:r>
            <a:r>
              <a:rPr lang="en-US" altLang="en-US"/>
              <a:t> object</a:t>
            </a:r>
          </a:p>
          <a:p>
            <a:r>
              <a:rPr lang="en-US" altLang="en-US" b="1" i="1"/>
              <a:t>math</a:t>
            </a:r>
            <a:r>
              <a:rPr lang="en-US" altLang="en-US"/>
              <a:t> object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B71C0FE-40A9-CD9B-5B56-8055FAEB7D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6D96259-97D3-F281-CC39-52BFAE29A7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29376D-47DD-40DA-9E73-94F23FBB354E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130050" name="Rectangle 2">
            <a:extLst>
              <a:ext uri="{FF2B5EF4-FFF2-40B4-BE49-F238E27FC236}">
                <a16:creationId xmlns:a16="http://schemas.microsoft.com/office/drawing/2014/main" id="{85747942-792B-A3B8-6E90-4630E17A7A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Objects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60714506-743A-5AFA-1F54-C98C49AC71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 methods for HTML formatting</a:t>
            </a:r>
          </a:p>
          <a:p>
            <a:pPr lvl="1"/>
            <a:r>
              <a:rPr lang="en-US" altLang="en-US" b="1" i="1"/>
              <a:t>anchor</a:t>
            </a:r>
            <a:endParaRPr lang="en-US" altLang="en-US"/>
          </a:p>
          <a:p>
            <a:pPr lvl="2"/>
            <a:r>
              <a:rPr lang="en-US" altLang="en-US" b="1" i="1"/>
              <a:t>“Bill”.anchor(“anchortext”)</a:t>
            </a:r>
          </a:p>
          <a:p>
            <a:pPr lvl="3"/>
            <a:r>
              <a:rPr lang="en-US" altLang="en-US" b="1" i="1"/>
              <a:t>&lt;a name = “anchortext”&gt;Bill&lt;/a&gt;</a:t>
            </a:r>
            <a:endParaRPr lang="en-US" altLang="en-US"/>
          </a:p>
          <a:p>
            <a:pPr lvl="1"/>
            <a:r>
              <a:rPr lang="en-US" altLang="en-US" b="1" i="1"/>
              <a:t>big</a:t>
            </a:r>
            <a:endParaRPr lang="en-US" altLang="en-US"/>
          </a:p>
          <a:p>
            <a:pPr lvl="2"/>
            <a:r>
              <a:rPr lang="en-US" altLang="en-US" b="1" i="1"/>
              <a:t>“Bill”.big( )</a:t>
            </a:r>
          </a:p>
          <a:p>
            <a:pPr lvl="3"/>
            <a:r>
              <a:rPr lang="en-US" altLang="en-US" b="1" i="1"/>
              <a:t>&lt;big&gt;Bill&lt;big&gt;</a:t>
            </a:r>
            <a:endParaRPr lang="en-US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D837A02-F6DB-317E-AEFA-CA2A4CAB1B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2327101-CE27-61E4-9A86-F0030A4EAC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427458-1DC2-437C-9601-5C5C59D4A3C2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131074" name="Rectangle 2">
            <a:extLst>
              <a:ext uri="{FF2B5EF4-FFF2-40B4-BE49-F238E27FC236}">
                <a16:creationId xmlns:a16="http://schemas.microsoft.com/office/drawing/2014/main" id="{BC173375-4343-B557-9406-56EF12E53E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Objects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44E25D06-50DE-41A8-5B27-AE5A7081AA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 methods for HTML formatting</a:t>
            </a:r>
          </a:p>
          <a:p>
            <a:pPr lvl="1"/>
            <a:r>
              <a:rPr lang="en-US" altLang="en-US" b="1" i="1"/>
              <a:t>blink</a:t>
            </a:r>
          </a:p>
          <a:p>
            <a:pPr lvl="2"/>
            <a:r>
              <a:rPr lang="en-US" altLang="en-US" b="1" i="1"/>
              <a:t>“Bill”.blink( )</a:t>
            </a:r>
          </a:p>
          <a:p>
            <a:pPr lvl="3"/>
            <a:r>
              <a:rPr lang="en-US" altLang="en-US" b="1" i="1"/>
              <a:t>&lt;blink&gt;Bill&lt;/blink&gt;</a:t>
            </a:r>
          </a:p>
          <a:p>
            <a:pPr lvl="1"/>
            <a:r>
              <a:rPr lang="en-US" altLang="en-US" b="1" i="1"/>
              <a:t>bold</a:t>
            </a:r>
          </a:p>
          <a:p>
            <a:pPr lvl="2"/>
            <a:r>
              <a:rPr lang="en-US" altLang="en-US" b="1" i="1"/>
              <a:t>“Bill”.bold( )</a:t>
            </a:r>
          </a:p>
          <a:p>
            <a:pPr lvl="3"/>
            <a:r>
              <a:rPr lang="en-US" altLang="en-US" b="1" i="1"/>
              <a:t>&lt;b&gt;Bill&lt;/b&gt;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9DA9DCF-42C5-4A60-E8B2-0F624BE5F6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877C363-DB4E-0B42-1E00-7FE0733241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F6B192-3C1C-48BC-955D-6189B6913EDA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132098" name="Rectangle 2">
            <a:extLst>
              <a:ext uri="{FF2B5EF4-FFF2-40B4-BE49-F238E27FC236}">
                <a16:creationId xmlns:a16="http://schemas.microsoft.com/office/drawing/2014/main" id="{F8157194-800D-40A5-5ACF-9FCF69A049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Objects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92762CA0-850F-D578-FD18-79B900F6BA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 methods for HTML formatting</a:t>
            </a:r>
          </a:p>
          <a:p>
            <a:pPr lvl="1"/>
            <a:r>
              <a:rPr lang="en-US" altLang="en-US" b="1" i="1"/>
              <a:t>fixed</a:t>
            </a:r>
          </a:p>
          <a:p>
            <a:pPr lvl="2"/>
            <a:r>
              <a:rPr lang="en-US" altLang="en-US" b="1" i="1"/>
              <a:t>“Bill”.fixed( )</a:t>
            </a:r>
          </a:p>
          <a:p>
            <a:pPr lvl="3"/>
            <a:r>
              <a:rPr lang="en-US" altLang="en-US" b="1" i="1"/>
              <a:t>&lt;tt&gt;Bill&lt;/tt&gt;</a:t>
            </a:r>
          </a:p>
          <a:p>
            <a:pPr lvl="1"/>
            <a:r>
              <a:rPr lang="en-US" altLang="en-US" b="1" i="1"/>
              <a:t>fontcolor</a:t>
            </a:r>
          </a:p>
          <a:p>
            <a:pPr lvl="2"/>
            <a:r>
              <a:rPr lang="en-US" altLang="en-US" b="1" i="1"/>
              <a:t>“Bill”.fontcolor(“blue”)</a:t>
            </a:r>
          </a:p>
          <a:p>
            <a:pPr lvl="3"/>
            <a:r>
              <a:rPr lang="en-US" altLang="en-US" b="1" i="1"/>
              <a:t>&lt;font color = “blue”&gt;&lt;Bill&gt;&lt;/font&gt;</a:t>
            </a:r>
            <a:endParaRPr lang="en-US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8C1BA0C-9175-2040-E08F-FAE9C9D146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54DCFF1-B339-35CF-3204-C09783A809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7C9E05-810B-4C03-8644-DD3AD96AAC57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133122" name="Rectangle 2">
            <a:extLst>
              <a:ext uri="{FF2B5EF4-FFF2-40B4-BE49-F238E27FC236}">
                <a16:creationId xmlns:a16="http://schemas.microsoft.com/office/drawing/2014/main" id="{07A53194-402C-41B5-7AF6-79DA12CE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Objects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E71EE5FA-B7D7-B2AB-F798-935F5A1A7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 methods for HTML formatting</a:t>
            </a:r>
          </a:p>
          <a:p>
            <a:pPr lvl="1"/>
            <a:r>
              <a:rPr lang="en-US" altLang="en-US" b="1" i="1"/>
              <a:t>fontsize</a:t>
            </a:r>
          </a:p>
          <a:p>
            <a:pPr lvl="2"/>
            <a:r>
              <a:rPr lang="en-US" altLang="en-US" b="1" i="1"/>
              <a:t>“Bill”.fontsize(-1)</a:t>
            </a:r>
          </a:p>
          <a:p>
            <a:pPr lvl="3"/>
            <a:r>
              <a:rPr lang="en-US" altLang="en-US" b="1" i="1"/>
              <a:t>&lt;font size = -1&gt;Bill&lt;/font&gt;</a:t>
            </a:r>
          </a:p>
          <a:p>
            <a:pPr lvl="1"/>
            <a:r>
              <a:rPr lang="en-US" altLang="en-US" b="1" i="1"/>
              <a:t>italics</a:t>
            </a:r>
          </a:p>
          <a:p>
            <a:pPr lvl="2"/>
            <a:r>
              <a:rPr lang="en-US" altLang="en-US" b="1" i="1"/>
              <a:t>“Bill”.italics( )</a:t>
            </a:r>
          </a:p>
          <a:p>
            <a:pPr lvl="3"/>
            <a:r>
              <a:rPr lang="en-US" altLang="en-US" b="1" i="1"/>
              <a:t>&lt;i&gt;Bill&lt;/i&gt;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DCB7B57-6F20-D684-1D61-C30D6B0F02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6F354D1-DB00-5AB8-0C2C-6A66A71BD4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9DCD24-A8B8-4BB6-A865-F376C6CF1ABB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134146" name="Rectangle 2">
            <a:extLst>
              <a:ext uri="{FF2B5EF4-FFF2-40B4-BE49-F238E27FC236}">
                <a16:creationId xmlns:a16="http://schemas.microsoft.com/office/drawing/2014/main" id="{EFD9B851-5367-E729-DECF-40C82E0B39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Objects</a:t>
            </a:r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6EA1D8D1-1831-3B52-9D43-9CAE2E0D90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 methods for HTML formatting</a:t>
            </a:r>
          </a:p>
          <a:p>
            <a:pPr lvl="1"/>
            <a:r>
              <a:rPr lang="en-US" altLang="en-US" b="1" i="1"/>
              <a:t>link</a:t>
            </a:r>
          </a:p>
          <a:p>
            <a:pPr lvl="2"/>
            <a:r>
              <a:rPr lang="en-US" altLang="en-US" b="1" i="1"/>
              <a:t>“Bill”.link(“linktext”)</a:t>
            </a:r>
          </a:p>
          <a:p>
            <a:pPr lvl="3"/>
            <a:r>
              <a:rPr lang="en-US" altLang="en-US" b="1" i="1"/>
              <a:t>&lt;a href = “linktext”&gt;Bill&lt;/a&gt;</a:t>
            </a:r>
          </a:p>
          <a:p>
            <a:pPr lvl="1">
              <a:lnSpc>
                <a:spcPct val="90000"/>
              </a:lnSpc>
            </a:pPr>
            <a:r>
              <a:rPr lang="en-US" altLang="en-US" b="1" i="1"/>
              <a:t>small</a:t>
            </a:r>
          </a:p>
          <a:p>
            <a:pPr lvl="2">
              <a:lnSpc>
                <a:spcPct val="90000"/>
              </a:lnSpc>
            </a:pPr>
            <a:r>
              <a:rPr lang="en-US" altLang="en-US" b="1" i="1"/>
              <a:t>“Bill”.small( )</a:t>
            </a:r>
          </a:p>
          <a:p>
            <a:pPr lvl="3">
              <a:lnSpc>
                <a:spcPct val="90000"/>
              </a:lnSpc>
            </a:pPr>
            <a:r>
              <a:rPr lang="en-US" altLang="en-US" b="1" i="1"/>
              <a:t>&lt;small&gt;Bill&lt;/small&gt;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6D04D98-90B4-0CF6-172B-1A01858711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6799DE44-F6A8-F10F-E884-6219DEB4E9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FDE33C-8A36-4701-AAFC-60B1F865BD65}" type="slidenum">
              <a:rPr lang="en-US" altLang="en-US"/>
              <a:pPr/>
              <a:t>60</a:t>
            </a:fld>
            <a:endParaRPr lang="en-US" altLang="en-US"/>
          </a:p>
        </p:txBody>
      </p:sp>
      <p:sp>
        <p:nvSpPr>
          <p:cNvPr id="135170" name="Rectangle 2">
            <a:extLst>
              <a:ext uri="{FF2B5EF4-FFF2-40B4-BE49-F238E27FC236}">
                <a16:creationId xmlns:a16="http://schemas.microsoft.com/office/drawing/2014/main" id="{EF8EFACB-C5B4-C2F8-75F3-20E1D2ACA7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Objects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82E40CB5-A56B-69D2-86FF-D02F9F0C7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 methods for HTML formatting</a:t>
            </a:r>
          </a:p>
          <a:p>
            <a:pPr lvl="1">
              <a:lnSpc>
                <a:spcPct val="90000"/>
              </a:lnSpc>
            </a:pPr>
            <a:r>
              <a:rPr lang="en-US" altLang="en-US" b="1" i="1"/>
              <a:t>strike</a:t>
            </a:r>
          </a:p>
          <a:p>
            <a:pPr lvl="2">
              <a:lnSpc>
                <a:spcPct val="90000"/>
              </a:lnSpc>
            </a:pPr>
            <a:r>
              <a:rPr lang="en-US" altLang="en-US" b="1" i="1"/>
              <a:t>“Bill”.strike( )</a:t>
            </a:r>
          </a:p>
          <a:p>
            <a:pPr lvl="3">
              <a:lnSpc>
                <a:spcPct val="90000"/>
              </a:lnSpc>
            </a:pPr>
            <a:r>
              <a:rPr lang="en-US" altLang="en-US" b="1" i="1"/>
              <a:t>&lt;strike&gt;Bill&lt;/strike&gt;</a:t>
            </a:r>
          </a:p>
          <a:p>
            <a:pPr lvl="1">
              <a:lnSpc>
                <a:spcPct val="90000"/>
              </a:lnSpc>
            </a:pPr>
            <a:r>
              <a:rPr lang="en-US" altLang="en-US" b="1" i="1"/>
              <a:t>sub</a:t>
            </a:r>
          </a:p>
          <a:p>
            <a:pPr lvl="2">
              <a:lnSpc>
                <a:spcPct val="90000"/>
              </a:lnSpc>
            </a:pPr>
            <a:r>
              <a:rPr lang="en-US" altLang="en-US" b="1" i="1"/>
              <a:t>“Bill”.sub( )</a:t>
            </a:r>
          </a:p>
          <a:p>
            <a:pPr lvl="3">
              <a:lnSpc>
                <a:spcPct val="90000"/>
              </a:lnSpc>
            </a:pPr>
            <a:r>
              <a:rPr lang="en-US" altLang="en-US" b="1" i="1"/>
              <a:t>&lt;sub&gt;Bill&lt;/sub&gt;</a:t>
            </a:r>
            <a:endParaRPr lang="en-US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F3C5529-D577-A5E2-A200-F908CD6E06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5BDD1B1-493B-5B7D-60A3-FD113162FE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5E59D2-DC06-47CF-B33B-26772CBB3E94}" type="slidenum">
              <a:rPr lang="en-US" altLang="en-US"/>
              <a:pPr/>
              <a:t>61</a:t>
            </a:fld>
            <a:endParaRPr lang="en-US" altLang="en-US"/>
          </a:p>
        </p:txBody>
      </p:sp>
      <p:sp>
        <p:nvSpPr>
          <p:cNvPr id="136194" name="Rectangle 2">
            <a:extLst>
              <a:ext uri="{FF2B5EF4-FFF2-40B4-BE49-F238E27FC236}">
                <a16:creationId xmlns:a16="http://schemas.microsoft.com/office/drawing/2014/main" id="{339F4B15-E2C4-EAEE-8C82-0DDCFC32C6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Objects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AF9A07FF-A06B-F59F-41B2-DB429951BB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 methods for HTML formatting</a:t>
            </a:r>
          </a:p>
          <a:p>
            <a:pPr lvl="1">
              <a:lnSpc>
                <a:spcPct val="90000"/>
              </a:lnSpc>
            </a:pPr>
            <a:r>
              <a:rPr lang="en-US" altLang="en-US" b="1" i="1"/>
              <a:t>sup</a:t>
            </a:r>
          </a:p>
          <a:p>
            <a:pPr lvl="2">
              <a:lnSpc>
                <a:spcPct val="90000"/>
              </a:lnSpc>
            </a:pPr>
            <a:r>
              <a:rPr lang="en-US" altLang="en-US" b="1" i="1"/>
              <a:t>“Bill”.sup( )</a:t>
            </a:r>
          </a:p>
          <a:p>
            <a:pPr lvl="3">
              <a:lnSpc>
                <a:spcPct val="90000"/>
              </a:lnSpc>
            </a:pPr>
            <a:r>
              <a:rPr lang="en-US" altLang="en-US" b="1" i="1"/>
              <a:t>&lt;sup&gt;Bill&lt;/sup&gt;</a:t>
            </a:r>
          </a:p>
          <a:p>
            <a:pPr lvl="1">
              <a:lnSpc>
                <a:spcPct val="90000"/>
              </a:lnSpc>
            </a:pPr>
            <a:r>
              <a:rPr lang="en-US" altLang="en-US" b="1" i="1"/>
              <a:t>toLowerCase</a:t>
            </a:r>
          </a:p>
          <a:p>
            <a:pPr lvl="2">
              <a:lnSpc>
                <a:spcPct val="90000"/>
              </a:lnSpc>
            </a:pPr>
            <a:r>
              <a:rPr lang="en-US" altLang="en-US" b="1" i="1"/>
              <a:t>“Bill”.toLowerCase( )</a:t>
            </a:r>
          </a:p>
          <a:p>
            <a:pPr lvl="3">
              <a:lnSpc>
                <a:spcPct val="90000"/>
              </a:lnSpc>
            </a:pPr>
            <a:r>
              <a:rPr lang="en-US" altLang="en-US"/>
              <a:t>bill</a:t>
            </a:r>
            <a:endParaRPr lang="en-US" altLang="en-US" b="1" i="1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699F84E5-A653-D800-35CC-9CE256D3B3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63A4E63-F5C9-0FD0-FE38-258DC1CF3C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C2EDEE-F1B2-4AC2-B4B2-C7AA626277A3}" type="slidenum">
              <a:rPr lang="en-US" altLang="en-US"/>
              <a:pPr/>
              <a:t>62</a:t>
            </a:fld>
            <a:endParaRPr lang="en-US" altLang="en-US"/>
          </a:p>
        </p:txBody>
      </p:sp>
      <p:sp>
        <p:nvSpPr>
          <p:cNvPr id="137218" name="Rectangle 2">
            <a:extLst>
              <a:ext uri="{FF2B5EF4-FFF2-40B4-BE49-F238E27FC236}">
                <a16:creationId xmlns:a16="http://schemas.microsoft.com/office/drawing/2014/main" id="{412A977D-24C0-7787-5C12-92921E206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Objects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3A41FA02-6C4B-D2B6-8F78-CACDDE202A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 methods for HTML formatting</a:t>
            </a:r>
          </a:p>
          <a:p>
            <a:pPr lvl="1"/>
            <a:r>
              <a:rPr lang="en-US" altLang="en-US" b="1" i="1"/>
              <a:t>toUpperCase</a:t>
            </a:r>
          </a:p>
          <a:p>
            <a:pPr lvl="2"/>
            <a:r>
              <a:rPr lang="en-US" altLang="en-US" b="1" i="1"/>
              <a:t>“Bill”.toUpperCase( )</a:t>
            </a:r>
          </a:p>
          <a:p>
            <a:pPr lvl="3"/>
            <a:r>
              <a:rPr lang="en-US" altLang="en-US"/>
              <a:t>BILL</a:t>
            </a:r>
            <a:endParaRPr lang="en-US" altLang="en-US" b="1" i="1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9CD6FC8-858C-25B0-BC8E-C22F94B4BA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EFB263F-01B3-C55D-AD25-644899B12E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DDC11E-D259-4680-AE13-028783EB73AC}" type="slidenum">
              <a:rPr lang="en-US" altLang="en-US"/>
              <a:pPr/>
              <a:t>63</a:t>
            </a:fld>
            <a:endParaRPr lang="en-US" altLang="en-US"/>
          </a:p>
        </p:txBody>
      </p:sp>
      <p:sp>
        <p:nvSpPr>
          <p:cNvPr id="138242" name="Rectangle 2">
            <a:extLst>
              <a:ext uri="{FF2B5EF4-FFF2-40B4-BE49-F238E27FC236}">
                <a16:creationId xmlns:a16="http://schemas.microsoft.com/office/drawing/2014/main" id="{8255F6D6-D662-179F-2EA0-56C3C5A707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Objects</a:t>
            </a:r>
          </a:p>
        </p:txBody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30F20F64-2A82-10E4-CB54-5484E9F7BB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 methods for displaying subsets of strings</a:t>
            </a:r>
          </a:p>
          <a:p>
            <a:pPr lvl="1"/>
            <a:r>
              <a:rPr lang="en-US" altLang="en-US" b="1" i="1"/>
              <a:t>charAt</a:t>
            </a:r>
          </a:p>
          <a:p>
            <a:pPr lvl="2"/>
            <a:r>
              <a:rPr lang="en-US" altLang="en-US" b="1" i="1"/>
              <a:t>“Bill”.charAt(1)</a:t>
            </a:r>
            <a:r>
              <a:rPr lang="en-US" altLang="en-US"/>
              <a:t> is “i”</a:t>
            </a:r>
          </a:p>
          <a:p>
            <a:pPr lvl="1"/>
            <a:r>
              <a:rPr lang="en-US" altLang="en-US"/>
              <a:t>indexOf</a:t>
            </a:r>
          </a:p>
          <a:p>
            <a:pPr lvl="2"/>
            <a:r>
              <a:rPr lang="en-US" altLang="en-US" b="1" i="1"/>
              <a:t>“Bill”.indexOf(“il”)</a:t>
            </a:r>
            <a:r>
              <a:rPr lang="en-US" altLang="en-US"/>
              <a:t> is 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2CF064C-61E5-F6C4-78C4-1A9387D7C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283A779F-9EBD-EB0D-BF34-70B66F14BF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F1E066-1FAE-493B-82CA-3C419E18C0C6}" type="slidenum">
              <a:rPr lang="en-US" altLang="en-US"/>
              <a:pPr/>
              <a:t>64</a:t>
            </a:fld>
            <a:endParaRPr lang="en-US" altLang="en-US"/>
          </a:p>
        </p:txBody>
      </p:sp>
      <p:sp>
        <p:nvSpPr>
          <p:cNvPr id="139266" name="Rectangle 2">
            <a:extLst>
              <a:ext uri="{FF2B5EF4-FFF2-40B4-BE49-F238E27FC236}">
                <a16:creationId xmlns:a16="http://schemas.microsoft.com/office/drawing/2014/main" id="{34E9241B-346C-31E3-9D3E-D717DA56D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Objects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CE47102C-37EE-414A-70D6-9D197586CA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i="1"/>
              <a:t>string</a:t>
            </a:r>
            <a:r>
              <a:rPr lang="en-US" altLang="en-US"/>
              <a:t> object methods for displaying subsets of strings</a:t>
            </a:r>
          </a:p>
          <a:p>
            <a:pPr lvl="1"/>
            <a:r>
              <a:rPr lang="en-US" altLang="en-US" b="1" i="1"/>
              <a:t>lastIndexOf</a:t>
            </a:r>
          </a:p>
          <a:p>
            <a:pPr lvl="2"/>
            <a:r>
              <a:rPr lang="en-US" altLang="en-US" b="1" i="1"/>
              <a:t>“Bill”.lastIndexOf(“l”)</a:t>
            </a:r>
            <a:r>
              <a:rPr lang="en-US" altLang="en-US"/>
              <a:t> is 3</a:t>
            </a:r>
          </a:p>
          <a:p>
            <a:pPr lvl="1"/>
            <a:r>
              <a:rPr lang="en-US" altLang="en-US" b="1" i="1"/>
              <a:t>substring</a:t>
            </a:r>
          </a:p>
          <a:p>
            <a:pPr lvl="2"/>
            <a:r>
              <a:rPr lang="en-US" altLang="en-US" b="1" i="1"/>
              <a:t>“Bill”.substring(1,2)</a:t>
            </a:r>
            <a:r>
              <a:rPr lang="en-US" altLang="en-US"/>
              <a:t> is “il”</a:t>
            </a:r>
          </a:p>
          <a:p>
            <a:pPr lvl="1"/>
            <a:r>
              <a:rPr lang="en-US" altLang="en-US" b="1" i="1"/>
              <a:t>length</a:t>
            </a:r>
          </a:p>
          <a:p>
            <a:pPr lvl="2"/>
            <a:r>
              <a:rPr lang="en-US" altLang="en-US" b="1" i="1"/>
              <a:t>“Bill”.length</a:t>
            </a:r>
            <a:r>
              <a:rPr lang="en-US" altLang="en-US"/>
              <a:t> is 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BA6C74B-220C-508D-37AC-A69840D3A5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Comments in JavaScript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E6282EB-C545-5C97-E8FB-2DF5601291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Two types of comments</a:t>
            </a:r>
          </a:p>
          <a:p>
            <a:pPr lvl="1"/>
            <a:r>
              <a:rPr lang="en-US" altLang="en-US"/>
              <a:t>Single line</a:t>
            </a:r>
          </a:p>
          <a:p>
            <a:pPr lvl="2"/>
            <a:r>
              <a:rPr lang="en-US" altLang="en-US"/>
              <a:t>Uses two forward slashes (i.e. </a:t>
            </a:r>
            <a:r>
              <a:rPr lang="en-US" altLang="en-US" b="1">
                <a:solidFill>
                  <a:schemeClr val="tx2"/>
                </a:solidFill>
              </a:rPr>
              <a:t>//</a:t>
            </a:r>
            <a:r>
              <a:rPr lang="en-US" altLang="en-US"/>
              <a:t>)</a:t>
            </a:r>
          </a:p>
          <a:p>
            <a:pPr lvl="1"/>
            <a:r>
              <a:rPr lang="en-US" altLang="en-US"/>
              <a:t>Multiple line</a:t>
            </a:r>
          </a:p>
          <a:p>
            <a:pPr lvl="2"/>
            <a:r>
              <a:rPr lang="en-US" altLang="en-US"/>
              <a:t>Uses </a:t>
            </a:r>
            <a:r>
              <a:rPr lang="en-US" altLang="en-US" b="1">
                <a:solidFill>
                  <a:schemeClr val="tx2"/>
                </a:solidFill>
              </a:rPr>
              <a:t>/*</a:t>
            </a:r>
            <a:r>
              <a:rPr lang="en-US" altLang="en-US"/>
              <a:t> and</a:t>
            </a:r>
            <a:r>
              <a:rPr lang="en-US" altLang="en-US" b="1">
                <a:solidFill>
                  <a:schemeClr val="tx2"/>
                </a:solidFill>
              </a:rPr>
              <a:t> */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2EC9E19-A0DC-EABB-47A4-376FE70CF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Single Line Comment Example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644F3341-C879-9CD1-AEFF-53073DF15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209800"/>
            <a:ext cx="8686800" cy="4267200"/>
          </a:xfrm>
          <a:prstGeom prst="rect">
            <a:avLst/>
          </a:prstGeom>
          <a:solidFill>
            <a:schemeClr val="accent2">
              <a:alpha val="39999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Courier New" panose="02070309020205020404" pitchFamily="49" charset="0"/>
              </a:rPr>
              <a:t>&lt;script type="text/javascript"&gt;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Courier New" panose="02070309020205020404" pitchFamily="49" charset="0"/>
              </a:rPr>
              <a:t>  &lt;!--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rgbClr val="990000"/>
                </a:solidFill>
                <a:latin typeface="Courier New" panose="02070309020205020404" pitchFamily="49" charset="0"/>
              </a:rPr>
              <a:t>    // This is my JavaScript comment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Courier New" panose="02070309020205020404" pitchFamily="49" charset="0"/>
              </a:rPr>
              <a:t>    document.write("&lt;h1&gt;Hello!&lt;/h1&gt;");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Courier New" panose="02070309020205020404" pitchFamily="49" charset="0"/>
              </a:rPr>
              <a:t>	//--&gt;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Courier New" panose="02070309020205020404" pitchFamily="49" charset="0"/>
              </a:rPr>
              <a:t>&lt;/script&gt;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82FD469-B8CE-DA50-984A-FE89BD537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Line Comment Example</a:t>
            </a: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47CAC5D9-84D2-2191-5C4F-2EC794512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643" y="1690688"/>
            <a:ext cx="8991600" cy="4572000"/>
          </a:xfrm>
          <a:prstGeom prst="rect">
            <a:avLst/>
          </a:prstGeom>
          <a:solidFill>
            <a:schemeClr val="accent2">
              <a:alpha val="39999"/>
            </a:schemeClr>
          </a:solidFill>
          <a:ln w="31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87425" indent="-293688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281113" indent="-2921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598613" indent="-315913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0558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5130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9702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427413" indent="-31591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chemeClr val="tx2"/>
                </a:solidFill>
                <a:latin typeface="Courier New" panose="02070309020205020404" pitchFamily="49" charset="0"/>
              </a:rPr>
              <a:t>&lt;script type="text/</a:t>
            </a:r>
            <a:r>
              <a:rPr lang="en-US" altLang="en-US" sz="20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javascript</a:t>
            </a:r>
            <a:r>
              <a:rPr lang="en-US" altLang="en-US" sz="2000" b="1" dirty="0">
                <a:solidFill>
                  <a:schemeClr val="tx2"/>
                </a:solidFill>
                <a:latin typeface="Courier New" panose="02070309020205020404" pitchFamily="49" charset="0"/>
              </a:rPr>
              <a:t>"&gt;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chemeClr val="tx2"/>
                </a:solidFill>
                <a:latin typeface="Courier New" panose="02070309020205020404" pitchFamily="49" charset="0"/>
              </a:rPr>
              <a:t> &lt;!--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990000"/>
                </a:solidFill>
                <a:latin typeface="Courier New" panose="02070309020205020404" pitchFamily="49" charset="0"/>
              </a:rPr>
              <a:t>   /* This is a multiple line comment.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990000"/>
                </a:solidFill>
                <a:latin typeface="Courier New" panose="02070309020205020404" pitchFamily="49" charset="0"/>
              </a:rPr>
              <a:t>    * The star at the beginning of this line is optional.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990000"/>
                </a:solidFill>
                <a:latin typeface="Courier New" panose="02070309020205020404" pitchFamily="49" charset="0"/>
              </a:rPr>
              <a:t>    * So is the star at the beginning of this line.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990000"/>
                </a:solidFill>
                <a:latin typeface="Courier New" panose="02070309020205020404" pitchFamily="49" charset="0"/>
              </a:rPr>
              <a:t>    */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chemeClr val="tx2"/>
                </a:solidFill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document.write</a:t>
            </a:r>
            <a:r>
              <a:rPr lang="en-US" altLang="en-US" sz="2000" b="1" dirty="0">
                <a:solidFill>
                  <a:schemeClr val="tx2"/>
                </a:solidFill>
                <a:latin typeface="Courier New" panose="02070309020205020404" pitchFamily="49" charset="0"/>
              </a:rPr>
              <a:t>("&lt;h1&gt;Hello!&lt;/h1&gt;");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chemeClr val="tx2"/>
                </a:solidFill>
                <a:latin typeface="Courier New" panose="02070309020205020404" pitchFamily="49" charset="0"/>
              </a:rPr>
              <a:t> //--&gt;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chemeClr val="tx2"/>
                </a:solidFill>
                <a:latin typeface="Courier New" panose="02070309020205020404" pitchFamily="49" charset="0"/>
              </a:rPr>
              <a:t>&lt;/script&gt;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2">
            <a:extLst>
              <a:ext uri="{FF2B5EF4-FFF2-40B4-BE49-F238E27FC236}">
                <a16:creationId xmlns:a16="http://schemas.microsoft.com/office/drawing/2014/main" id="{42E7346E-D9D2-F95C-6B21-5D17952DC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JavaScript is a case-sensitive language. This means that language keywords, variables, function names, and any other identifiers must always be typed with a consistent capitalization of letters.</a:t>
            </a:r>
          </a:p>
          <a:p>
            <a:r>
              <a:rPr lang="en-US" altLang="en-US" sz="2000"/>
              <a:t>So identifiers </a:t>
            </a:r>
            <a:r>
              <a:rPr lang="en-US" altLang="en-US" sz="2000" i="1"/>
              <a:t>Time</a:t>
            </a:r>
            <a:r>
              <a:rPr lang="en-US" altLang="en-US" sz="2000"/>
              <a:t>, </a:t>
            </a:r>
            <a:r>
              <a:rPr lang="en-US" altLang="en-US" sz="2000" i="1"/>
              <a:t>TIme</a:t>
            </a:r>
            <a:r>
              <a:rPr lang="en-US" altLang="en-US" sz="2000"/>
              <a:t> and </a:t>
            </a:r>
            <a:r>
              <a:rPr lang="en-US" altLang="en-US" sz="2000" i="1"/>
              <a:t>TIME</a:t>
            </a:r>
            <a:r>
              <a:rPr lang="en-US" altLang="en-US" sz="2000"/>
              <a:t> will have different meanings in JavaScript.</a:t>
            </a:r>
          </a:p>
          <a:p>
            <a:r>
              <a:rPr lang="en-US" altLang="en-US" sz="2000" b="1"/>
              <a:t>NOTE:</a:t>
            </a:r>
            <a:r>
              <a:rPr lang="en-US" altLang="en-US" sz="2000"/>
              <a:t> Care should be taken while writing your variable and function names in JavaScript.</a:t>
            </a:r>
          </a:p>
          <a:p>
            <a:pPr lvl="1"/>
            <a:endParaRPr lang="en-US" altLang="en-US" sz="2000"/>
          </a:p>
          <a:p>
            <a:pPr>
              <a:buFontTx/>
              <a:buNone/>
            </a:pPr>
            <a:endParaRPr lang="en-US" altLang="en-US" sz="2000"/>
          </a:p>
        </p:txBody>
      </p:sp>
      <p:sp>
        <p:nvSpPr>
          <p:cNvPr id="13315" name="Title 3">
            <a:extLst>
              <a:ext uri="{FF2B5EF4-FFF2-40B4-BE49-F238E27FC236}">
                <a16:creationId xmlns:a16="http://schemas.microsoft.com/office/drawing/2014/main" id="{16A6D8F1-39D2-7F2C-6EBB-A165F7435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Case Sensitivity:</a:t>
            </a:r>
            <a:br>
              <a:rPr lang="en-US" altLang="en-US" b="1"/>
            </a:br>
            <a:endParaRPr lang="en-US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Event-driven programming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057400" y="3352800"/>
            <a:ext cx="815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split breaks apart a string into an array using a delimiter</a:t>
            </a:r>
          </a:p>
          <a:p>
            <a:pPr lvl="1"/>
            <a:r>
              <a:rPr lang="en-US" dirty="0"/>
              <a:t>can also be used with regular expressions (seen later)</a:t>
            </a:r>
          </a:p>
          <a:p>
            <a:r>
              <a:rPr lang="en-US" dirty="0"/>
              <a:t>join merges an array into a single string, placing a delimiter between them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52666"/>
            <a:ext cx="9144000" cy="4519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42453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>
            <a:extLst>
              <a:ext uri="{FF2B5EF4-FFF2-40B4-BE49-F238E27FC236}">
                <a16:creationId xmlns:a16="http://schemas.microsoft.com/office/drawing/2014/main" id="{427B2895-AE87-FBBF-6A98-0C967152D8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52626" y="152400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JavaScript affects the </a:t>
            </a:r>
            <a:r>
              <a:rPr lang="en-US" altLang="en-US" sz="3200" i="1" dirty="0"/>
              <a:t>behavior</a:t>
            </a:r>
            <a:r>
              <a:rPr lang="en-US" altLang="en-US" sz="3200" dirty="0"/>
              <a:t> of a web page via manipulation of the browser’s Document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3BFA7BA2-E6CE-B7C2-C99B-28C2927BB9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231571"/>
            <a:ext cx="4953000" cy="36163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 dirty="0"/>
              <a:t>Structure</a:t>
            </a:r>
            <a:r>
              <a:rPr lang="en-US" altLang="en-US" dirty="0"/>
              <a:t>: HTML5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 dirty="0"/>
              <a:t>Presentation</a:t>
            </a:r>
            <a:r>
              <a:rPr lang="en-US" altLang="en-US" dirty="0"/>
              <a:t>: CSS </a:t>
            </a:r>
          </a:p>
          <a:p>
            <a:pPr eaLnBrk="1" hangingPunct="1"/>
            <a:r>
              <a:rPr lang="en-US" altLang="en-US" dirty="0"/>
              <a:t>With JavaScript, you can</a:t>
            </a:r>
            <a:br>
              <a:rPr lang="en-US" altLang="en-US" dirty="0"/>
            </a:br>
            <a:r>
              <a:rPr lang="en-US" altLang="en-US" dirty="0"/>
              <a:t>modify both structure and presentation after the page is loaded</a:t>
            </a:r>
          </a:p>
          <a:p>
            <a:pPr eaLnBrk="1" hangingPunct="1">
              <a:buFontTx/>
              <a:buNone/>
            </a:pPr>
            <a:endParaRPr lang="en-US" altLang="en-US" sz="2600" b="1" dirty="0"/>
          </a:p>
        </p:txBody>
      </p:sp>
      <p:pic>
        <p:nvPicPr>
          <p:cNvPr id="6150" name="Picture 4" descr="j0404159[1]">
            <a:extLst>
              <a:ext uri="{FF2B5EF4-FFF2-40B4-BE49-F238E27FC236}">
                <a16:creationId xmlns:a16="http://schemas.microsoft.com/office/drawing/2014/main" id="{E6769B60-B8B6-A3FA-2BCC-FF8139A45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7239" y="2057401"/>
            <a:ext cx="1119187" cy="112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5" descr="j0397240[1]">
            <a:extLst>
              <a:ext uri="{FF2B5EF4-FFF2-40B4-BE49-F238E27FC236}">
                <a16:creationId xmlns:a16="http://schemas.microsoft.com/office/drawing/2014/main" id="{526A3495-C9DE-94C4-7BE0-303470DE4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209800"/>
            <a:ext cx="1193800" cy="106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Freeform 6">
            <a:extLst>
              <a:ext uri="{FF2B5EF4-FFF2-40B4-BE49-F238E27FC236}">
                <a16:creationId xmlns:a16="http://schemas.microsoft.com/office/drawing/2014/main" id="{6E6C6892-7826-24DA-076A-A06662449A97}"/>
              </a:ext>
            </a:extLst>
          </p:cNvPr>
          <p:cNvSpPr>
            <a:spLocks/>
          </p:cNvSpPr>
          <p:nvPr/>
        </p:nvSpPr>
        <p:spPr bwMode="auto">
          <a:xfrm>
            <a:off x="7772400" y="2057400"/>
            <a:ext cx="990600" cy="152400"/>
          </a:xfrm>
          <a:custGeom>
            <a:avLst/>
            <a:gdLst>
              <a:gd name="T0" fmla="*/ 0 w 2016"/>
              <a:gd name="T1" fmla="*/ 2147483646 h 584"/>
              <a:gd name="T2" fmla="*/ 2147483646 w 2016"/>
              <a:gd name="T3" fmla="*/ 2147483646 h 584"/>
              <a:gd name="T4" fmla="*/ 2147483646 w 2016"/>
              <a:gd name="T5" fmla="*/ 2147483646 h 584"/>
              <a:gd name="T6" fmla="*/ 0 60000 65536"/>
              <a:gd name="T7" fmla="*/ 0 60000 65536"/>
              <a:gd name="T8" fmla="*/ 0 60000 65536"/>
              <a:gd name="T9" fmla="*/ 0 w 2016"/>
              <a:gd name="T10" fmla="*/ 0 h 584"/>
              <a:gd name="T11" fmla="*/ 2016 w 2016"/>
              <a:gd name="T12" fmla="*/ 584 h 5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16" h="584">
                <a:moveTo>
                  <a:pt x="0" y="536"/>
                </a:moveTo>
                <a:cubicBezTo>
                  <a:pt x="360" y="268"/>
                  <a:pt x="720" y="0"/>
                  <a:pt x="1056" y="8"/>
                </a:cubicBezTo>
                <a:cubicBezTo>
                  <a:pt x="1392" y="16"/>
                  <a:pt x="1704" y="300"/>
                  <a:pt x="2016" y="584"/>
                </a:cubicBezTo>
              </a:path>
            </a:pathLst>
          </a:custGeom>
          <a:noFill/>
          <a:ln w="25400">
            <a:solidFill>
              <a:schemeClr val="tx1"/>
            </a:solidFill>
            <a:miter lim="800000"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SG"/>
          </a:p>
        </p:txBody>
      </p:sp>
      <p:sp>
        <p:nvSpPr>
          <p:cNvPr id="6153" name="Freeform 7">
            <a:extLst>
              <a:ext uri="{FF2B5EF4-FFF2-40B4-BE49-F238E27FC236}">
                <a16:creationId xmlns:a16="http://schemas.microsoft.com/office/drawing/2014/main" id="{F7B6BAC7-5134-D85F-9629-25AD7A4F0B3C}"/>
              </a:ext>
            </a:extLst>
          </p:cNvPr>
          <p:cNvSpPr>
            <a:spLocks/>
          </p:cNvSpPr>
          <p:nvPr/>
        </p:nvSpPr>
        <p:spPr bwMode="auto">
          <a:xfrm>
            <a:off x="7924800" y="3048000"/>
            <a:ext cx="1981200" cy="457200"/>
          </a:xfrm>
          <a:custGeom>
            <a:avLst/>
            <a:gdLst>
              <a:gd name="T0" fmla="*/ 2147483646 w 1776"/>
              <a:gd name="T1" fmla="*/ 2147483646 h 448"/>
              <a:gd name="T2" fmla="*/ 2147483646 w 1776"/>
              <a:gd name="T3" fmla="*/ 2147483646 h 448"/>
              <a:gd name="T4" fmla="*/ 0 w 1776"/>
              <a:gd name="T5" fmla="*/ 0 h 448"/>
              <a:gd name="T6" fmla="*/ 0 60000 65536"/>
              <a:gd name="T7" fmla="*/ 0 60000 65536"/>
              <a:gd name="T8" fmla="*/ 0 60000 65536"/>
              <a:gd name="T9" fmla="*/ 0 w 1776"/>
              <a:gd name="T10" fmla="*/ 0 h 448"/>
              <a:gd name="T11" fmla="*/ 1776 w 1776"/>
              <a:gd name="T12" fmla="*/ 448 h 4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76" h="448">
                <a:moveTo>
                  <a:pt x="1776" y="96"/>
                </a:moveTo>
                <a:cubicBezTo>
                  <a:pt x="1492" y="272"/>
                  <a:pt x="1208" y="448"/>
                  <a:pt x="912" y="432"/>
                </a:cubicBezTo>
                <a:cubicBezTo>
                  <a:pt x="616" y="416"/>
                  <a:pt x="308" y="208"/>
                  <a:pt x="0" y="0"/>
                </a:cubicBezTo>
              </a:path>
            </a:pathLst>
          </a:custGeom>
          <a:noFill/>
          <a:ln w="25400">
            <a:solidFill>
              <a:schemeClr val="tx1"/>
            </a:solidFill>
            <a:miter lim="800000"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SG"/>
          </a:p>
        </p:txBody>
      </p:sp>
      <p:sp>
        <p:nvSpPr>
          <p:cNvPr id="6154" name="Text Box 8">
            <a:extLst>
              <a:ext uri="{FF2B5EF4-FFF2-40B4-BE49-F238E27FC236}">
                <a16:creationId xmlns:a16="http://schemas.microsoft.com/office/drawing/2014/main" id="{AB62D431-FB1B-04FB-4B07-34A0C3578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15240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The browser requests a page.</a:t>
            </a:r>
          </a:p>
        </p:txBody>
      </p:sp>
      <p:sp>
        <p:nvSpPr>
          <p:cNvPr id="6155" name="Text Box 9">
            <a:extLst>
              <a:ext uri="{FF2B5EF4-FFF2-40B4-BE49-F238E27FC236}">
                <a16:creationId xmlns:a16="http://schemas.microsoft.com/office/drawing/2014/main" id="{49BDE7B7-2116-318F-80AF-03CC1C262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3581401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The browser returns the page.</a:t>
            </a:r>
          </a:p>
        </p:txBody>
      </p:sp>
      <p:sp>
        <p:nvSpPr>
          <p:cNvPr id="6156" name="AutoShape 10">
            <a:extLst>
              <a:ext uri="{FF2B5EF4-FFF2-40B4-BE49-F238E27FC236}">
                <a16:creationId xmlns:a16="http://schemas.microsoft.com/office/drawing/2014/main" id="{66C5FA40-C0C0-BCD4-317B-0ED56C5DF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2590800"/>
            <a:ext cx="685800" cy="533400"/>
          </a:xfrm>
          <a:prstGeom prst="flowChartPredefinedProcess">
            <a:avLst/>
          </a:prstGeom>
          <a:solidFill>
            <a:srgbClr val="0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latin typeface="Comic Sans MS" panose="030F0702030302020204" pitchFamily="66" charset="0"/>
              </a:rPr>
              <a:t>web</a:t>
            </a:r>
            <a:br>
              <a:rPr lang="en-US" altLang="en-US" sz="1400">
                <a:latin typeface="Comic Sans MS" panose="030F0702030302020204" pitchFamily="66" charset="0"/>
              </a:rPr>
            </a:br>
            <a:r>
              <a:rPr lang="en-US" altLang="en-US" sz="1400">
                <a:latin typeface="Comic Sans MS" panose="030F0702030302020204" pitchFamily="66" charset="0"/>
              </a:rPr>
              <a:t>page</a:t>
            </a:r>
            <a:endParaRPr lang="en-US" altLang="en-US" sz="1200">
              <a:latin typeface="Comic Sans MS" panose="030F0702030302020204" pitchFamily="66" charset="0"/>
            </a:endParaRPr>
          </a:p>
        </p:txBody>
      </p:sp>
      <p:sp>
        <p:nvSpPr>
          <p:cNvPr id="6157" name="Freeform 11">
            <a:extLst>
              <a:ext uri="{FF2B5EF4-FFF2-40B4-BE49-F238E27FC236}">
                <a16:creationId xmlns:a16="http://schemas.microsoft.com/office/drawing/2014/main" id="{10AE7E77-4A78-E067-851D-70C85D094644}"/>
              </a:ext>
            </a:extLst>
          </p:cNvPr>
          <p:cNvSpPr>
            <a:spLocks/>
          </p:cNvSpPr>
          <p:nvPr/>
        </p:nvSpPr>
        <p:spPr bwMode="auto">
          <a:xfrm>
            <a:off x="9220200" y="2133600"/>
            <a:ext cx="533400" cy="304800"/>
          </a:xfrm>
          <a:custGeom>
            <a:avLst/>
            <a:gdLst>
              <a:gd name="T0" fmla="*/ 0 w 2016"/>
              <a:gd name="T1" fmla="*/ 2147483646 h 584"/>
              <a:gd name="T2" fmla="*/ 2147483646 w 2016"/>
              <a:gd name="T3" fmla="*/ 2147483646 h 584"/>
              <a:gd name="T4" fmla="*/ 2147483646 w 2016"/>
              <a:gd name="T5" fmla="*/ 2147483646 h 584"/>
              <a:gd name="T6" fmla="*/ 0 60000 65536"/>
              <a:gd name="T7" fmla="*/ 0 60000 65536"/>
              <a:gd name="T8" fmla="*/ 0 60000 65536"/>
              <a:gd name="T9" fmla="*/ 0 w 2016"/>
              <a:gd name="T10" fmla="*/ 0 h 584"/>
              <a:gd name="T11" fmla="*/ 2016 w 2016"/>
              <a:gd name="T12" fmla="*/ 584 h 5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16" h="584">
                <a:moveTo>
                  <a:pt x="0" y="536"/>
                </a:moveTo>
                <a:cubicBezTo>
                  <a:pt x="360" y="268"/>
                  <a:pt x="720" y="0"/>
                  <a:pt x="1056" y="8"/>
                </a:cubicBezTo>
                <a:cubicBezTo>
                  <a:pt x="1392" y="16"/>
                  <a:pt x="1704" y="300"/>
                  <a:pt x="2016" y="584"/>
                </a:cubicBezTo>
              </a:path>
            </a:pathLst>
          </a:custGeom>
          <a:noFill/>
          <a:ln w="25400">
            <a:solidFill>
              <a:schemeClr val="tx1"/>
            </a:solidFill>
            <a:miter lim="800000"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SG"/>
          </a:p>
        </p:txBody>
      </p:sp>
      <p:pic>
        <p:nvPicPr>
          <p:cNvPr id="6158" name="Picture 12" descr="j0397240[1]">
            <a:extLst>
              <a:ext uri="{FF2B5EF4-FFF2-40B4-BE49-F238E27FC236}">
                <a16:creationId xmlns:a16="http://schemas.microsoft.com/office/drawing/2014/main" id="{4ED8C247-886D-E6AE-D4AE-9C7AA2EF3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648200"/>
            <a:ext cx="1193800" cy="106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9" name="Text Box 13">
            <a:extLst>
              <a:ext uri="{FF2B5EF4-FFF2-40B4-BE49-F238E27FC236}">
                <a16:creationId xmlns:a16="http://schemas.microsoft.com/office/drawing/2014/main" id="{F1987343-99B8-C99F-72CB-6BFFA6DDB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191001"/>
            <a:ext cx="1828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The user interacts with the browser</a:t>
            </a:r>
          </a:p>
        </p:txBody>
      </p:sp>
      <p:sp>
        <p:nvSpPr>
          <p:cNvPr id="6160" name="Freeform 14">
            <a:extLst>
              <a:ext uri="{FF2B5EF4-FFF2-40B4-BE49-F238E27FC236}">
                <a16:creationId xmlns:a16="http://schemas.microsoft.com/office/drawing/2014/main" id="{E2F17720-2A4E-9E3B-D270-1DF4F568A743}"/>
              </a:ext>
            </a:extLst>
          </p:cNvPr>
          <p:cNvSpPr>
            <a:spLocks/>
          </p:cNvSpPr>
          <p:nvPr/>
        </p:nvSpPr>
        <p:spPr bwMode="auto">
          <a:xfrm rot="5400000">
            <a:off x="8191500" y="4762500"/>
            <a:ext cx="457200" cy="533400"/>
          </a:xfrm>
          <a:custGeom>
            <a:avLst/>
            <a:gdLst>
              <a:gd name="T0" fmla="*/ 0 w 2016"/>
              <a:gd name="T1" fmla="*/ 2147483646 h 584"/>
              <a:gd name="T2" fmla="*/ 2147483646 w 2016"/>
              <a:gd name="T3" fmla="*/ 2147483646 h 584"/>
              <a:gd name="T4" fmla="*/ 2147483646 w 2016"/>
              <a:gd name="T5" fmla="*/ 2147483646 h 584"/>
              <a:gd name="T6" fmla="*/ 0 60000 65536"/>
              <a:gd name="T7" fmla="*/ 0 60000 65536"/>
              <a:gd name="T8" fmla="*/ 0 60000 65536"/>
              <a:gd name="T9" fmla="*/ 0 w 2016"/>
              <a:gd name="T10" fmla="*/ 0 h 584"/>
              <a:gd name="T11" fmla="*/ 2016 w 2016"/>
              <a:gd name="T12" fmla="*/ 584 h 5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16" h="584">
                <a:moveTo>
                  <a:pt x="0" y="536"/>
                </a:moveTo>
                <a:cubicBezTo>
                  <a:pt x="360" y="268"/>
                  <a:pt x="720" y="0"/>
                  <a:pt x="1056" y="8"/>
                </a:cubicBezTo>
                <a:cubicBezTo>
                  <a:pt x="1392" y="16"/>
                  <a:pt x="1704" y="300"/>
                  <a:pt x="2016" y="584"/>
                </a:cubicBezTo>
              </a:path>
            </a:pathLst>
          </a:custGeom>
          <a:noFill/>
          <a:ln w="25400">
            <a:solidFill>
              <a:schemeClr val="tx1"/>
            </a:solidFill>
            <a:miter lim="800000"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SG"/>
          </a:p>
        </p:txBody>
      </p:sp>
      <p:sp>
        <p:nvSpPr>
          <p:cNvPr id="6161" name="Text Box 16">
            <a:extLst>
              <a:ext uri="{FF2B5EF4-FFF2-40B4-BE49-F238E27FC236}">
                <a16:creationId xmlns:a16="http://schemas.microsoft.com/office/drawing/2014/main" id="{D193CE91-F63E-F418-9AF7-EAA49F42D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5181600"/>
            <a:ext cx="1447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Comic Sans MS" panose="030F0702030302020204" pitchFamily="66" charset="0"/>
              </a:rPr>
              <a:t>Javascript embedded in the webpage is “executed” by the browser</a:t>
            </a: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>
            <a:extLst>
              <a:ext uri="{FF2B5EF4-FFF2-40B4-BE49-F238E27FC236}">
                <a16:creationId xmlns:a16="http://schemas.microsoft.com/office/drawing/2014/main" id="{82DD8106-8622-12BB-7ED8-5429A8A6AA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Familiar applications of Javascript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7BD7CBE0-1B94-D81D-6204-489FC4675E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229600" cy="3921125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 sz="2600"/>
              <a:t>Cascading menus</a:t>
            </a:r>
          </a:p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 sz="2600"/>
              <a:t>Modify images on mouse “rollover”</a:t>
            </a:r>
          </a:p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 sz="2600"/>
              <a:t>Validate forms before submitting to server</a:t>
            </a:r>
          </a:p>
          <a:p>
            <a:pPr lvl="1"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 sz="2200"/>
              <a:t>Num of chars, non-blank input, non-alpha numerics, etc</a:t>
            </a:r>
          </a:p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 sz="2600"/>
              <a:t>Background (color, music) effects</a:t>
            </a:r>
          </a:p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 sz="2600"/>
              <a:t>“Simple” applications</a:t>
            </a:r>
          </a:p>
          <a:p>
            <a:pPr lvl="1"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 sz="2200"/>
              <a:t>Calendars, payment calculators, etc</a:t>
            </a:r>
          </a:p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/>
              <a:t>“Complex” applications</a:t>
            </a:r>
          </a:p>
          <a:p>
            <a:pPr lvl="1"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/>
              <a:t>Google docs</a:t>
            </a:r>
          </a:p>
          <a:p>
            <a:pPr lvl="1"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/>
              <a:t>Gmail</a:t>
            </a:r>
          </a:p>
          <a:p>
            <a:pPr lvl="1"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/>
              <a:t>Facebook</a:t>
            </a:r>
          </a:p>
          <a:p>
            <a:pPr lvl="1" eaLnBrk="1" hangingPunct="1">
              <a:buSzPct val="100000"/>
              <a:buFont typeface="Wingdings" panose="05000000000000000000" pitchFamily="2" charset="2"/>
              <a:buChar char="§"/>
            </a:pPr>
            <a:endParaRPr lang="en-US" altLang="en-US" sz="2200"/>
          </a:p>
          <a:p>
            <a:pPr lvl="1" eaLnBrk="1" hangingPunct="1">
              <a:buSzPct val="100000"/>
              <a:buFont typeface="Wingdings" panose="05000000000000000000" pitchFamily="2" charset="2"/>
              <a:buNone/>
            </a:pPr>
            <a:endParaRPr lang="en-US" altLang="en-US" sz="2200"/>
          </a:p>
          <a:p>
            <a:pPr eaLnBrk="1" hangingPunct="1">
              <a:buFontTx/>
              <a:buChar char="•"/>
            </a:pPr>
            <a:endParaRPr lang="en-US" altLang="en-US" sz="2600"/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JavaScript statement: </a:t>
            </a:r>
            <a:r>
              <a:rPr lang="en-US" sz="4000" dirty="0">
                <a:latin typeface="Courier New" pitchFamily="49" charset="0"/>
                <a:cs typeface="Courier New" pitchFamily="49" charset="0"/>
              </a:rPr>
              <a:t>alert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33600" y="5562599"/>
            <a:ext cx="9383486" cy="95204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JS command that pops up a dialog box with a message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3600" y="1600201"/>
            <a:ext cx="8153400" cy="646331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alert("IE6 detected. Suck-mode enabled.");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			        		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  JS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564" y="2532290"/>
            <a:ext cx="7153275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022906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Event-driven programming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968829" y="1828800"/>
            <a:ext cx="1060268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are used to programs start with a main method</a:t>
            </a:r>
          </a:p>
          <a:p>
            <a:endParaRPr lang="en-US" dirty="0"/>
          </a:p>
          <a:p>
            <a:r>
              <a:rPr lang="en-US" dirty="0"/>
              <a:t>JavaScript programs instead wait for user actions called </a:t>
            </a:r>
            <a:r>
              <a:rPr lang="en-US" i="1" dirty="0"/>
              <a:t>events</a:t>
            </a:r>
            <a:r>
              <a:rPr lang="en-US" dirty="0"/>
              <a:t> and respond to them</a:t>
            </a:r>
          </a:p>
          <a:p>
            <a:endParaRPr lang="en-US" dirty="0"/>
          </a:p>
          <a:p>
            <a:r>
              <a:rPr lang="en-US" dirty="0"/>
              <a:t>event-driven programming: writing programs driven by user events</a:t>
            </a:r>
          </a:p>
          <a:p>
            <a:endParaRPr lang="en-US" dirty="0"/>
          </a:p>
          <a:p>
            <a:r>
              <a:rPr lang="en-US" dirty="0"/>
              <a:t>Let's write a page with a clickable button that pops up a "Hello, World" window... </a:t>
            </a:r>
          </a:p>
        </p:txBody>
      </p:sp>
    </p:spTree>
    <p:extLst>
      <p:ext uri="{BB962C8B-B14F-4D97-AF65-F5344CB8AC3E}">
        <p14:creationId xmlns:p14="http://schemas.microsoft.com/office/powerpoint/2010/main" val="15650044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33600" y="2373085"/>
            <a:ext cx="8153400" cy="3940629"/>
          </a:xfrm>
        </p:spPr>
        <p:txBody>
          <a:bodyPr>
            <a:normAutofit/>
          </a:bodyPr>
          <a:lstStyle/>
          <a:p>
            <a:r>
              <a:rPr lang="en-US" dirty="0"/>
              <a:t>button's text appears inside tag; can also contain images</a:t>
            </a:r>
          </a:p>
          <a:p>
            <a:r>
              <a:rPr lang="en-US" dirty="0"/>
              <a:t>To make a responsive button or other UI control:</a:t>
            </a:r>
          </a:p>
          <a:p>
            <a:pPr marL="881063" lvl="1" indent="-514350">
              <a:buFont typeface="+mj-lt"/>
              <a:buAutoNum type="arabicPeriod"/>
            </a:pPr>
            <a:r>
              <a:rPr lang="en-US" dirty="0"/>
              <a:t>choose the control (e.g. button) and event (e.g. mouse 1. click) of interest</a:t>
            </a:r>
          </a:p>
          <a:p>
            <a:pPr marL="881063" lvl="1" indent="-514350">
              <a:buFont typeface="+mj-lt"/>
              <a:buAutoNum type="arabicPeriod"/>
            </a:pPr>
            <a:r>
              <a:rPr lang="en-US" dirty="0"/>
              <a:t>write a JavaScript function to run when the event occurs</a:t>
            </a:r>
          </a:p>
          <a:p>
            <a:pPr marL="881063" lvl="1" indent="-514350">
              <a:buFont typeface="+mj-lt"/>
              <a:buAutoNum type="arabicPeriod"/>
            </a:pPr>
            <a:r>
              <a:rPr lang="en-US" dirty="0"/>
              <a:t>attach the function to the event on the control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3600" y="1524000"/>
            <a:ext cx="81534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&lt;button&gt;Click me!&lt;/button&gt;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	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19190230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functions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3600" y="1524000"/>
            <a:ext cx="8153400" cy="1754326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function name()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statement 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statement 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statement 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019300" y="4724400"/>
            <a:ext cx="815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above could be the contents of example.js linked to our HTML page</a:t>
            </a:r>
          </a:p>
          <a:p>
            <a:r>
              <a:rPr lang="en-US" dirty="0"/>
              <a:t>statements placed into functions can be evaluated in response to user events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3600" y="3351075"/>
            <a:ext cx="8153400" cy="1200329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myFunction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alert("Hello!");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alert("How are you?");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    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42399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handlers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199" y="3318323"/>
            <a:ext cx="10624457" cy="3178629"/>
          </a:xfrm>
        </p:spPr>
        <p:txBody>
          <a:bodyPr>
            <a:normAutofit/>
          </a:bodyPr>
          <a:lstStyle/>
          <a:p>
            <a:r>
              <a:rPr lang="en-US" dirty="0"/>
              <a:t>JavaScript functions can be set as event handlers</a:t>
            </a:r>
          </a:p>
          <a:p>
            <a:pPr lvl="1"/>
            <a:r>
              <a:rPr lang="en-US" dirty="0"/>
              <a:t>when you interact with the element, the function will execute</a:t>
            </a:r>
          </a:p>
          <a:p>
            <a:r>
              <a:rPr lang="en-US" dirty="0" err="1"/>
              <a:t>onclick</a:t>
            </a:r>
            <a:r>
              <a:rPr lang="en-US" dirty="0"/>
              <a:t> is just one of many event HTML attributes we'll use</a:t>
            </a:r>
          </a:p>
          <a:p>
            <a:r>
              <a:rPr lang="en-US" dirty="0"/>
              <a:t>but popping up an alert window is disruptive and annoying</a:t>
            </a:r>
          </a:p>
          <a:p>
            <a:pPr lvl="1"/>
            <a:r>
              <a:rPr lang="en-US" dirty="0"/>
              <a:t>A better user experience would be to have the message appear on the page...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3600" y="1524001"/>
            <a:ext cx="8153400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&lt;element attributes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="function();"&gt;...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						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3600" y="2325470"/>
            <a:ext cx="8153400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&lt;button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myFunction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();"&gt;Click me!&lt;/button&gt;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					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76791473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Object Model (DOM)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363762" y="1748519"/>
            <a:ext cx="4645152" cy="4898571"/>
          </a:xfrm>
        </p:spPr>
        <p:txBody>
          <a:bodyPr>
            <a:normAutofit/>
          </a:bodyPr>
          <a:lstStyle/>
          <a:p>
            <a:r>
              <a:rPr lang="en-US" dirty="0"/>
              <a:t>most JS code manipulates elements on an HTML page</a:t>
            </a:r>
          </a:p>
          <a:p>
            <a:r>
              <a:rPr lang="en-US" dirty="0"/>
              <a:t>we can examine elements' state</a:t>
            </a:r>
          </a:p>
          <a:p>
            <a:pPr lvl="1"/>
            <a:r>
              <a:rPr lang="en-US" sz="2500" dirty="0"/>
              <a:t>e.g. see whether a box is checked</a:t>
            </a:r>
          </a:p>
          <a:p>
            <a:r>
              <a:rPr lang="en-US" dirty="0"/>
              <a:t>we can change state</a:t>
            </a:r>
          </a:p>
          <a:p>
            <a:pPr lvl="1"/>
            <a:r>
              <a:rPr lang="en-US" sz="2500" dirty="0"/>
              <a:t>e.g. insert some new text into a div</a:t>
            </a:r>
          </a:p>
          <a:p>
            <a:r>
              <a:rPr lang="en-US" dirty="0"/>
              <a:t>we can change styles</a:t>
            </a:r>
          </a:p>
          <a:p>
            <a:pPr lvl="1"/>
            <a:r>
              <a:rPr lang="en-US" sz="2500" dirty="0"/>
              <a:t>e.g. make a paragraph red</a:t>
            </a:r>
            <a:endParaRPr lang="en-US" sz="21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1" y="1771650"/>
            <a:ext cx="4114800" cy="508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96175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10515600" cy="1325563"/>
          </a:xfrm>
        </p:spPr>
        <p:txBody>
          <a:bodyPr/>
          <a:lstStyle/>
          <a:p>
            <a:r>
              <a:rPr lang="en-US" dirty="0"/>
              <a:t>DOM element objects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3973" y="1153886"/>
            <a:ext cx="8229599" cy="5610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481348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elements: </a:t>
            </a:r>
            <a:r>
              <a:rPr lang="en-US" sz="3600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C76F15A-3445-4ED0-A4DF-DE4BBF06AE1A}" type="slidenum">
              <a:rPr lang="en-US" smtClean="0"/>
              <a:t>79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22714" y="1959430"/>
            <a:ext cx="8153400" cy="646331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name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("id");</a:t>
            </a:r>
          </a:p>
          <a:p>
            <a:r>
              <a:rPr lang="nn-NO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	  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2714" y="2721429"/>
            <a:ext cx="8153400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&lt;button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onclick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changeText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();"&gt;Click me!&lt;/button&gt;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&lt;span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id="output"&gt;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replace me&lt;/span&gt;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&lt;input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id="textbox"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type="text" /&gt;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2714" y="3788230"/>
            <a:ext cx="8153400" cy="2031325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changeText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span 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("output");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textBox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("textbox");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textbox.style.color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"red";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	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	  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JS</a:t>
            </a:r>
          </a:p>
        </p:txBody>
      </p:sp>
    </p:spTree>
    <p:extLst>
      <p:ext uri="{BB962C8B-B14F-4D97-AF65-F5344CB8AC3E}">
        <p14:creationId xmlns:p14="http://schemas.microsoft.com/office/powerpoint/2010/main" val="236741989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elements: </a:t>
            </a:r>
            <a:r>
              <a:rPr lang="en-US" sz="3600" dirty="0" err="1">
                <a:latin typeface="Courier New" pitchFamily="49" charset="0"/>
                <a:cs typeface="Courier New" pitchFamily="49" charset="0"/>
              </a:rPr>
              <a:t>document.getElementById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38200" y="2405743"/>
            <a:ext cx="10678886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document.getElementById</a:t>
            </a:r>
            <a:r>
              <a:rPr lang="en-US" dirty="0"/>
              <a:t> returns the DOM object for an element with a given id</a:t>
            </a:r>
          </a:p>
          <a:p>
            <a:endParaRPr lang="en-US" dirty="0"/>
          </a:p>
          <a:p>
            <a:r>
              <a:rPr lang="en-US" dirty="0"/>
              <a:t>can change the text inside most elements by setting the </a:t>
            </a:r>
            <a:r>
              <a:rPr lang="en-US" dirty="0" err="1"/>
              <a:t>innerHTML</a:t>
            </a:r>
            <a:r>
              <a:rPr lang="en-US" dirty="0"/>
              <a:t> property</a:t>
            </a:r>
          </a:p>
          <a:p>
            <a:endParaRPr lang="en-US" dirty="0"/>
          </a:p>
          <a:p>
            <a:r>
              <a:rPr lang="en-US" dirty="0"/>
              <a:t>can change the text in form controls by setting the value property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4908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element style: </a:t>
            </a:r>
            <a:r>
              <a:rPr lang="en-US" sz="3600" dirty="0" err="1">
                <a:latin typeface="Courier New" pitchFamily="49" charset="0"/>
                <a:cs typeface="Courier New" pitchFamily="49" charset="0"/>
              </a:rPr>
              <a:t>element.style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33600" y="2057400"/>
          <a:ext cx="8153400" cy="40538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07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2400" b="1" dirty="0"/>
                        <a:t>Attribute</a:t>
                      </a:r>
                      <a:endParaRPr lang="en-US" sz="2400" b="1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Property</a:t>
                      </a:r>
                      <a:r>
                        <a:rPr lang="en-US" sz="2400" b="1" baseline="0" dirty="0"/>
                        <a:t> or style object</a:t>
                      </a:r>
                      <a:endParaRPr lang="en-US" sz="2400" b="1" i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sz="2400" dirty="0"/>
                        <a:t>color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color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sz="2400"/>
                        <a:t>padding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padding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sz="2400" dirty="0"/>
                        <a:t>background-color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backgroundColor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sz="2400" dirty="0"/>
                        <a:t>border-top-width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borderTopWidth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sz="2400" dirty="0"/>
                        <a:t>Font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fontSize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sz="2400" dirty="0"/>
                        <a:t>Font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baseline="0" dirty="0" err="1"/>
                        <a:t>famiy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fontFamily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5699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Preetify</a:t>
            </a:r>
            <a:endParaRPr lang="en-US" sz="3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33600" y="1676400"/>
            <a:ext cx="8153400" cy="2308324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changeText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//grab or initialize text here</a:t>
            </a:r>
          </a:p>
          <a:p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// font styles added by JS: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text.style.fontSize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"13pt";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text.style.fontFamily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"Comic Sans MS";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	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text.style.color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"red"; // or pink?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72464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>
            <a:extLst>
              <a:ext uri="{FF2B5EF4-FFF2-40B4-BE49-F238E27FC236}">
                <a16:creationId xmlns:a16="http://schemas.microsoft.com/office/drawing/2014/main" id="{ECE344EB-4C10-6BD1-ACF4-F88226D12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100"/>
              <a:t>Javascript is it’s own complete high-level programming language, with familiar elements</a:t>
            </a:r>
          </a:p>
        </p:txBody>
      </p:sp>
      <p:sp>
        <p:nvSpPr>
          <p:cNvPr id="1217539" name="Rectangle 3">
            <a:extLst>
              <a:ext uri="{FF2B5EF4-FFF2-40B4-BE49-F238E27FC236}">
                <a16:creationId xmlns:a16="http://schemas.microsoft.com/office/drawing/2014/main" id="{39D349A1-9587-D1E7-2468-6944E055B1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0"/>
            <a:ext cx="8077200" cy="3614738"/>
          </a:xfrm>
        </p:spPr>
        <p:txBody>
          <a:bodyPr>
            <a:normAutofit fontScale="85000" lnSpcReduction="20000"/>
          </a:bodyPr>
          <a:lstStyle/>
          <a:p>
            <a:pPr marL="571500" indent="-571500"/>
            <a:r>
              <a:rPr lang="en-US" altLang="en-US" sz="2000"/>
              <a:t>Variables</a:t>
            </a:r>
          </a:p>
          <a:p>
            <a:pPr marL="571500" indent="-571500"/>
            <a:r>
              <a:rPr lang="en-US" altLang="en-US" sz="2000"/>
              <a:t>Constants</a:t>
            </a:r>
          </a:p>
          <a:p>
            <a:pPr marL="571500" indent="-571500"/>
            <a:r>
              <a:rPr lang="en-US" altLang="en-US" sz="2000"/>
              <a:t>Expressions</a:t>
            </a:r>
          </a:p>
          <a:p>
            <a:pPr marL="571500" indent="-571500"/>
            <a:r>
              <a:rPr lang="en-US" altLang="en-US" sz="2000"/>
              <a:t>Conditional control statements (if, else if, switch)</a:t>
            </a:r>
          </a:p>
          <a:p>
            <a:pPr marL="571500" indent="-571500"/>
            <a:r>
              <a:rPr lang="en-US" altLang="en-US" sz="2000"/>
              <a:t>Looping and iteration (for, while, do…while)</a:t>
            </a:r>
          </a:p>
          <a:p>
            <a:pPr marL="571500" indent="-571500"/>
            <a:r>
              <a:rPr lang="en-US" altLang="en-US" sz="2000"/>
              <a:t>Exception handling (try-catch)</a:t>
            </a:r>
          </a:p>
          <a:p>
            <a:pPr marL="571500" indent="-571500">
              <a:buNone/>
            </a:pPr>
            <a:r>
              <a:rPr lang="en-US" altLang="en-US" sz="2000">
                <a:solidFill>
                  <a:srgbClr val="9A0075"/>
                </a:solidFill>
              </a:rPr>
              <a:t>As well as some unfamiliar concepts:</a:t>
            </a:r>
          </a:p>
          <a:p>
            <a:pPr marL="571500" indent="-571500"/>
            <a:r>
              <a:rPr lang="en-US" altLang="en-US" sz="2000">
                <a:solidFill>
                  <a:srgbClr val="9A0075"/>
                </a:solidFill>
              </a:rPr>
              <a:t>No formal classes (instead uses </a:t>
            </a:r>
            <a:r>
              <a:rPr lang="en-US" altLang="en-US" sz="2000" b="1">
                <a:solidFill>
                  <a:srgbClr val="9A0075"/>
                </a:solidFill>
              </a:rPr>
              <a:t>prototypes</a:t>
            </a:r>
            <a:r>
              <a:rPr lang="en-US" altLang="en-US" sz="2000">
                <a:solidFill>
                  <a:srgbClr val="9A0075"/>
                </a:solidFill>
              </a:rPr>
              <a:t>)</a:t>
            </a:r>
          </a:p>
          <a:p>
            <a:pPr marL="920750" lvl="1" indent="-571500"/>
            <a:r>
              <a:rPr lang="en-US" altLang="en-US" sz="1800">
                <a:solidFill>
                  <a:srgbClr val="FF0000"/>
                </a:solidFill>
              </a:rPr>
              <a:t>There ARE classes now in JS6 (2016)</a:t>
            </a:r>
          </a:p>
          <a:p>
            <a:pPr marL="571500" indent="-571500"/>
            <a:r>
              <a:rPr lang="en-US" altLang="en-US" sz="2000">
                <a:solidFill>
                  <a:srgbClr val="009900"/>
                </a:solidFill>
              </a:rPr>
              <a:t>Weak</a:t>
            </a:r>
            <a:r>
              <a:rPr lang="en-US" altLang="en-US" sz="2000">
                <a:solidFill>
                  <a:srgbClr val="9A0075"/>
                </a:solidFill>
              </a:rPr>
              <a:t> </a:t>
            </a:r>
            <a:r>
              <a:rPr lang="en-US" altLang="en-US" sz="2000">
                <a:solidFill>
                  <a:srgbClr val="FF0000"/>
                </a:solidFill>
              </a:rPr>
              <a:t>typing</a:t>
            </a:r>
          </a:p>
          <a:p>
            <a:pPr marL="571500" indent="-571500"/>
            <a:r>
              <a:rPr lang="en-US" altLang="en-US" sz="2000">
                <a:solidFill>
                  <a:srgbClr val="009900"/>
                </a:solidFill>
              </a:rPr>
              <a:t>Functions outside of objects</a:t>
            </a:r>
          </a:p>
          <a:p>
            <a:pPr marL="571500" indent="-571500"/>
            <a:r>
              <a:rPr lang="en-US" altLang="en-US" sz="2000">
                <a:solidFill>
                  <a:srgbClr val="7030A0"/>
                </a:solidFill>
              </a:rPr>
              <a:t>Global variables</a:t>
            </a:r>
          </a:p>
          <a:p>
            <a:pPr marL="571500" indent="-571500"/>
            <a:endParaRPr lang="en-US" altLang="en-US" sz="2500"/>
          </a:p>
          <a:p>
            <a:pPr marL="571500" indent="-571500"/>
            <a:endParaRPr lang="en-US" altLang="en-US" sz="2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5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7539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>
            <a:extLst>
              <a:ext uri="{FF2B5EF4-FFF2-40B4-BE49-F238E27FC236}">
                <a16:creationId xmlns:a16="http://schemas.microsoft.com/office/drawing/2014/main" id="{3AC0677F-F5DA-E95B-CB6B-A08868169D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22238"/>
            <a:ext cx="7543800" cy="868362"/>
          </a:xfrm>
        </p:spPr>
        <p:txBody>
          <a:bodyPr>
            <a:normAutofit fontScale="90000"/>
          </a:bodyPr>
          <a:lstStyle/>
          <a:p>
            <a:r>
              <a:rPr lang="en-US" altLang="en-US" sz="3100"/>
              <a:t>Javascript is a weakly (dynamically)-typed language, unlike C++ or Java</a:t>
            </a:r>
          </a:p>
        </p:txBody>
      </p:sp>
      <p:sp>
        <p:nvSpPr>
          <p:cNvPr id="1218563" name="Rectangle 3">
            <a:extLst>
              <a:ext uri="{FF2B5EF4-FFF2-40B4-BE49-F238E27FC236}">
                <a16:creationId xmlns:a16="http://schemas.microsoft.com/office/drawing/2014/main" id="{D43D5A40-8D4A-1B18-772F-71D65BBCEB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12963" y="1389063"/>
            <a:ext cx="8077200" cy="4267200"/>
          </a:xfrm>
        </p:spPr>
        <p:txBody>
          <a:bodyPr>
            <a:normAutofit lnSpcReduction="10000"/>
          </a:bodyPr>
          <a:lstStyle/>
          <a:p>
            <a:pPr marL="571500" indent="-571500">
              <a:lnSpc>
                <a:spcPct val="80000"/>
              </a:lnSpc>
              <a:buNone/>
              <a:defRPr/>
            </a:pPr>
            <a:r>
              <a:rPr lang="en-US" sz="2000" dirty="0"/>
              <a:t>A variable doesn’t really have a type; rather</a:t>
            </a:r>
            <a:r>
              <a:rPr lang="en-US" sz="2000" b="1" dirty="0"/>
              <a:t>, </a:t>
            </a:r>
            <a:r>
              <a:rPr lang="en-US" sz="2000" b="1" u="sng" dirty="0"/>
              <a:t>a variable is bound to a value of a specific type</a:t>
            </a:r>
            <a:br>
              <a:rPr lang="en-US" sz="2000" dirty="0"/>
            </a:br>
            <a:r>
              <a:rPr lang="en-US" sz="2000" dirty="0" err="1">
                <a:solidFill>
                  <a:srgbClr val="0000FF"/>
                </a:solidFill>
              </a:rPr>
              <a:t>var</a:t>
            </a:r>
            <a:r>
              <a:rPr lang="en-US" sz="2000" dirty="0">
                <a:solidFill>
                  <a:srgbClr val="0000FF"/>
                </a:solidFill>
              </a:rPr>
              <a:t>  </a:t>
            </a:r>
            <a:r>
              <a:rPr lang="en-US" sz="2000" dirty="0" err="1">
                <a:solidFill>
                  <a:srgbClr val="0000FF"/>
                </a:solidFill>
              </a:rPr>
              <a:t>msg</a:t>
            </a:r>
            <a:r>
              <a:rPr lang="en-US" sz="2000" dirty="0">
                <a:solidFill>
                  <a:srgbClr val="0000FF"/>
                </a:solidFill>
              </a:rPr>
              <a:t> = “hello”;     	// a variable bound to a string</a:t>
            </a:r>
            <a:br>
              <a:rPr lang="en-US" sz="2000" dirty="0">
                <a:solidFill>
                  <a:srgbClr val="0000FF"/>
                </a:solidFill>
              </a:rPr>
            </a:br>
            <a:r>
              <a:rPr lang="en-US" sz="2000" dirty="0">
                <a:solidFill>
                  <a:srgbClr val="0000FF"/>
                </a:solidFill>
              </a:rPr>
              <a:t> </a:t>
            </a:r>
          </a:p>
          <a:p>
            <a:pPr marL="571500" indent="-571500">
              <a:lnSpc>
                <a:spcPct val="80000"/>
              </a:lnSpc>
              <a:buNone/>
              <a:defRPr/>
            </a:pPr>
            <a:r>
              <a:rPr lang="en-US" sz="2000" dirty="0"/>
              <a:t>The variable can be </a:t>
            </a:r>
            <a:r>
              <a:rPr lang="en-US" sz="2000" b="1" u="sng" dirty="0"/>
              <a:t>dynamically bound </a:t>
            </a:r>
            <a:r>
              <a:rPr lang="en-US" sz="2000" dirty="0"/>
              <a:t>to another type over the lifetime of a variable!</a:t>
            </a:r>
          </a:p>
          <a:p>
            <a:pPr marL="571500" indent="-571500">
              <a:lnSpc>
                <a:spcPct val="80000"/>
              </a:lnSpc>
              <a:buNone/>
              <a:defRPr/>
            </a:pPr>
            <a:r>
              <a:rPr lang="en-US" sz="2000" dirty="0"/>
              <a:t>	</a:t>
            </a:r>
            <a:r>
              <a:rPr lang="en-US" sz="2000" dirty="0" err="1">
                <a:solidFill>
                  <a:srgbClr val="0000FF"/>
                </a:solidFill>
              </a:rPr>
              <a:t>msg</a:t>
            </a:r>
            <a:r>
              <a:rPr lang="en-US" sz="2000" dirty="0">
                <a:solidFill>
                  <a:srgbClr val="0000FF"/>
                </a:solidFill>
              </a:rPr>
              <a:t>= “hello”;	// here it’s bound to a string</a:t>
            </a:r>
            <a:br>
              <a:rPr lang="en-US" sz="2000" dirty="0">
                <a:solidFill>
                  <a:srgbClr val="0000FF"/>
                </a:solidFill>
              </a:rPr>
            </a:br>
            <a:r>
              <a:rPr lang="en-US" sz="2000" dirty="0" err="1">
                <a:solidFill>
                  <a:srgbClr val="0000FF"/>
                </a:solidFill>
              </a:rPr>
              <a:t>msg</a:t>
            </a:r>
            <a:r>
              <a:rPr lang="en-US" sz="2000" dirty="0">
                <a:solidFill>
                  <a:srgbClr val="0000FF"/>
                </a:solidFill>
              </a:rPr>
              <a:t> = 23;		// now it’s bound to an integer</a:t>
            </a:r>
            <a:br>
              <a:rPr lang="en-US" sz="2000" dirty="0">
                <a:solidFill>
                  <a:srgbClr val="0000FF"/>
                </a:solidFill>
              </a:rPr>
            </a:br>
            <a:endParaRPr lang="en-US" sz="2000" dirty="0">
              <a:solidFill>
                <a:srgbClr val="0000FF"/>
              </a:solidFill>
            </a:endParaRPr>
          </a:p>
          <a:p>
            <a:pPr marL="571500" indent="-571500">
              <a:lnSpc>
                <a:spcPct val="80000"/>
              </a:lnSpc>
              <a:buNone/>
              <a:defRPr/>
            </a:pPr>
            <a:r>
              <a:rPr lang="en-US" sz="2000" dirty="0">
                <a:solidFill>
                  <a:srgbClr val="FF0000"/>
                </a:solidFill>
              </a:rPr>
              <a:t>There are only a few primitive datatypes</a:t>
            </a:r>
          </a:p>
          <a:p>
            <a:pPr marL="839788" lvl="1" indent="-495300">
              <a:lnSpc>
                <a:spcPct val="80000"/>
              </a:lnSpc>
              <a:defRPr/>
            </a:pPr>
            <a:r>
              <a:rPr lang="en-US" sz="1800" dirty="0" err="1">
                <a:solidFill>
                  <a:srgbClr val="FF0000"/>
                </a:solidFill>
              </a:rPr>
              <a:t>boolean</a:t>
            </a:r>
            <a:endParaRPr lang="en-US" sz="1800" dirty="0">
              <a:solidFill>
                <a:srgbClr val="FF0000"/>
              </a:solidFill>
            </a:endParaRPr>
          </a:p>
          <a:p>
            <a:pPr marL="839788" lvl="1" indent="-495300">
              <a:lnSpc>
                <a:spcPct val="80000"/>
              </a:lnSpc>
              <a:defRPr/>
            </a:pPr>
            <a:r>
              <a:rPr lang="en-US" sz="1800" dirty="0">
                <a:solidFill>
                  <a:srgbClr val="FF0000"/>
                </a:solidFill>
              </a:rPr>
              <a:t>number</a:t>
            </a:r>
          </a:p>
          <a:p>
            <a:pPr marL="839788" lvl="1" indent="-495300">
              <a:lnSpc>
                <a:spcPct val="80000"/>
              </a:lnSpc>
              <a:defRPr/>
            </a:pPr>
            <a:r>
              <a:rPr lang="en-US" sz="1800" dirty="0">
                <a:solidFill>
                  <a:srgbClr val="FF0000"/>
                </a:solidFill>
              </a:rPr>
              <a:t>string</a:t>
            </a:r>
          </a:p>
          <a:p>
            <a:pPr marL="839788" lvl="1" indent="-495300">
              <a:lnSpc>
                <a:spcPct val="80000"/>
              </a:lnSpc>
              <a:defRPr/>
            </a:pPr>
            <a:r>
              <a:rPr lang="en-US" sz="1800" dirty="0">
                <a:solidFill>
                  <a:srgbClr val="FF0000"/>
                </a:solidFill>
              </a:rPr>
              <a:t>null</a:t>
            </a:r>
          </a:p>
          <a:p>
            <a:pPr marL="839788" lvl="1" indent="-495300">
              <a:lnSpc>
                <a:spcPct val="80000"/>
              </a:lnSpc>
              <a:defRPr/>
            </a:pPr>
            <a:r>
              <a:rPr lang="en-US" sz="1800" dirty="0">
                <a:solidFill>
                  <a:srgbClr val="FF0000"/>
                </a:solidFill>
              </a:rPr>
              <a:t>undefined</a:t>
            </a:r>
          </a:p>
          <a:p>
            <a:pPr marL="839788" lvl="1" indent="-495300">
              <a:lnSpc>
                <a:spcPct val="80000"/>
              </a:lnSpc>
              <a:defRPr/>
            </a:pPr>
            <a:r>
              <a:rPr lang="en-US" sz="1800" dirty="0">
                <a:solidFill>
                  <a:srgbClr val="FF0000"/>
                </a:solidFill>
              </a:rPr>
              <a:t>symbol (new in JS6)</a:t>
            </a:r>
          </a:p>
          <a:p>
            <a:pPr marL="344488" lvl="1" indent="0">
              <a:lnSpc>
                <a:spcPct val="80000"/>
              </a:lnSpc>
              <a:buNone/>
              <a:defRPr/>
            </a:pPr>
            <a:endParaRPr lang="en-US" sz="1800" dirty="0"/>
          </a:p>
          <a:p>
            <a:pPr marL="0" indent="0">
              <a:lnSpc>
                <a:spcPct val="80000"/>
              </a:lnSpc>
              <a:buNone/>
              <a:defRPr/>
            </a:pPr>
            <a:endParaRPr lang="en-US" sz="2200" dirty="0"/>
          </a:p>
        </p:txBody>
      </p:sp>
      <p:sp>
        <p:nvSpPr>
          <p:cNvPr id="15366" name="TextBox 1">
            <a:extLst>
              <a:ext uri="{FF2B5EF4-FFF2-40B4-BE49-F238E27FC236}">
                <a16:creationId xmlns:a16="http://schemas.microsoft.com/office/drawing/2014/main" id="{D98B6567-74AA-6F11-B3F0-0C2004099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6059488"/>
            <a:ext cx="77057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Comic Sans MS" panose="030F0702030302020204" pitchFamily="66" charset="0"/>
              </a:rPr>
              <a:t>Javascript 6 also now supports constant values via the </a:t>
            </a:r>
            <a:r>
              <a:rPr lang="en-US" altLang="en-US" sz="1800" b="1">
                <a:solidFill>
                  <a:srgbClr val="FF0000"/>
                </a:solidFill>
                <a:latin typeface="Bookman Old Style" panose="02050604050505020204" pitchFamily="18" charset="0"/>
              </a:rPr>
              <a:t>const</a:t>
            </a:r>
            <a:r>
              <a:rPr lang="en-US" altLang="en-US" sz="180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1800">
                <a:latin typeface="Comic Sans MS" panose="030F0702030302020204" pitchFamily="66" charset="0"/>
              </a:rPr>
              <a:t>keyword,</a:t>
            </a:r>
            <a:br>
              <a:rPr lang="en-US" altLang="en-US" sz="1800">
                <a:latin typeface="Comic Sans MS" panose="030F0702030302020204" pitchFamily="66" charset="0"/>
              </a:rPr>
            </a:br>
            <a:r>
              <a:rPr lang="en-US" altLang="en-US" sz="1800">
                <a:latin typeface="Comic Sans MS" panose="030F0702030302020204" pitchFamily="66" charset="0"/>
              </a:rPr>
              <a:t>and block-scoped variables with via the </a:t>
            </a:r>
            <a:r>
              <a:rPr lang="en-US" altLang="en-US" sz="1800" b="1">
                <a:solidFill>
                  <a:srgbClr val="FF0000"/>
                </a:solidFill>
                <a:latin typeface="Book Antiqua" panose="02040602050305030304" pitchFamily="18" charset="0"/>
              </a:rPr>
              <a:t>let</a:t>
            </a:r>
            <a:r>
              <a:rPr lang="en-US" altLang="en-US" sz="180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1800">
                <a:latin typeface="Comic Sans MS" panose="030F0702030302020204" pitchFamily="66" charset="0"/>
              </a:rPr>
              <a:t>keyword.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63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B99CD-7CD6-5BCA-063F-416B8E005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SE-2840 </a:t>
            </a:r>
            <a:br>
              <a:rPr lang="en-US" altLang="en-US" dirty="0"/>
            </a:br>
            <a:r>
              <a:rPr lang="en-US" altLang="en-US" dirty="0"/>
              <a:t>Dr. Mark L. Hornick</a:t>
            </a: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5AC9B15F-1572-0470-A387-F704DB3F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D3D359-A166-453A-A98F-3F233BA5F02A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lang="en-US" altLang="en-US" sz="1000"/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4089B810-62AB-E98C-4953-4846A5191C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/>
              <a:t>NaN and Infinity</a:t>
            </a:r>
          </a:p>
        </p:txBody>
      </p:sp>
      <p:sp>
        <p:nvSpPr>
          <p:cNvPr id="1221635" name="Rectangle 3">
            <a:extLst>
              <a:ext uri="{FF2B5EF4-FFF2-40B4-BE49-F238E27FC236}">
                <a16:creationId xmlns:a16="http://schemas.microsoft.com/office/drawing/2014/main" id="{153D546F-58A1-22D0-927C-55940B7DD8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0" y="1676400"/>
            <a:ext cx="7543800" cy="4191000"/>
          </a:xfrm>
        </p:spPr>
        <p:txBody>
          <a:bodyPr/>
          <a:lstStyle/>
          <a:p>
            <a:pPr marL="571500" indent="-571500">
              <a:lnSpc>
                <a:spcPct val="80000"/>
              </a:lnSpc>
              <a:buNone/>
            </a:pPr>
            <a:r>
              <a:rPr lang="en-US" altLang="en-US" sz="2000" dirty="0">
                <a:solidFill>
                  <a:srgbClr val="0000FF"/>
                </a:solidFill>
                <a:latin typeface="Bookman Old Style" panose="02050604050505020204" pitchFamily="18" charset="0"/>
              </a:rPr>
              <a:t>var1 = 1/0; // evaluates to Infinity (a numeric type)</a:t>
            </a: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0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000" dirty="0">
                <a:solidFill>
                  <a:srgbClr val="0000FF"/>
                </a:solidFill>
                <a:latin typeface="Bookman Old Style" panose="02050604050505020204" pitchFamily="18" charset="0"/>
              </a:rPr>
              <a:t>var1 = -1/0 // evaluates to –Infinity</a:t>
            </a: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000" dirty="0">
              <a:solidFill>
                <a:srgbClr val="0000FF"/>
              </a:solidFill>
              <a:latin typeface="Bookman Old Style" panose="02050604050505020204" pitchFamily="18" charset="0"/>
            </a:endParaRP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000" dirty="0">
                <a:solidFill>
                  <a:srgbClr val="0000FF"/>
                </a:solidFill>
                <a:latin typeface="Bookman Old Style" panose="02050604050505020204" pitchFamily="18" charset="0"/>
              </a:rPr>
              <a:t>var1 = 1/”x”; // evaluates to </a:t>
            </a:r>
            <a:r>
              <a:rPr lang="en-US" altLang="en-US" sz="2000" dirty="0" err="1">
                <a:solidFill>
                  <a:srgbClr val="0000FF"/>
                </a:solidFill>
                <a:latin typeface="Bookman Old Style" panose="02050604050505020204" pitchFamily="18" charset="0"/>
              </a:rPr>
              <a:t>NaN</a:t>
            </a:r>
            <a:r>
              <a:rPr lang="en-US" altLang="en-US" sz="2000" dirty="0">
                <a:solidFill>
                  <a:srgbClr val="0000FF"/>
                </a:solidFill>
                <a:latin typeface="Bookman Old Style" panose="02050604050505020204" pitchFamily="18" charset="0"/>
              </a:rPr>
              <a:t> (Not a Number)</a:t>
            </a: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500" dirty="0">
              <a:solidFill>
                <a:srgbClr val="0000FF"/>
              </a:solidFill>
            </a:endParaRP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500" dirty="0" err="1">
                <a:solidFill>
                  <a:srgbClr val="FF0000"/>
                </a:solidFill>
              </a:rPr>
              <a:t>NaN</a:t>
            </a:r>
            <a:r>
              <a:rPr lang="en-US" altLang="en-US" sz="2500" dirty="0">
                <a:solidFill>
                  <a:srgbClr val="FF0000"/>
                </a:solidFill>
              </a:rPr>
              <a:t> and Infinity are </a:t>
            </a:r>
            <a:r>
              <a:rPr lang="en-US" altLang="en-US" sz="2500" u="sng" dirty="0">
                <a:solidFill>
                  <a:srgbClr val="FF0000"/>
                </a:solidFill>
              </a:rPr>
              <a:t>numeric</a:t>
            </a:r>
            <a:r>
              <a:rPr lang="en-US" altLang="en-US" sz="2500" dirty="0">
                <a:solidFill>
                  <a:srgbClr val="FF0000"/>
                </a:solidFill>
              </a:rPr>
              <a:t> types!</a:t>
            </a: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500" dirty="0"/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500" dirty="0">
              <a:solidFill>
                <a:srgbClr val="C00000"/>
              </a:solidFill>
            </a:endParaRP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6ECFE-183C-9540-2EAF-D9BB2B113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SE-2840 </a:t>
            </a:r>
            <a:br>
              <a:rPr lang="en-US" altLang="en-US" dirty="0"/>
            </a:br>
            <a:r>
              <a:rPr lang="en-US" altLang="en-US" dirty="0"/>
              <a:t>Dr. Mark L. Hornick</a:t>
            </a:r>
          </a:p>
        </p:txBody>
      </p:sp>
      <p:sp>
        <p:nvSpPr>
          <p:cNvPr id="17411" name="Slide Number Placeholder 5">
            <a:extLst>
              <a:ext uri="{FF2B5EF4-FFF2-40B4-BE49-F238E27FC236}">
                <a16:creationId xmlns:a16="http://schemas.microsoft.com/office/drawing/2014/main" id="{59E9D640-1414-37E9-A2E3-2EDF670D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AB3797-9372-4DF5-A67F-17B7FE437A4B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lang="en-US" altLang="en-US" sz="1000"/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7A275BB4-8DE9-D305-0E5F-1A0DE2C8F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/>
              <a:t>Javascript automatically converts types</a:t>
            </a:r>
          </a:p>
        </p:txBody>
      </p:sp>
      <p:sp>
        <p:nvSpPr>
          <p:cNvPr id="1221635" name="Rectangle 3">
            <a:extLst>
              <a:ext uri="{FF2B5EF4-FFF2-40B4-BE49-F238E27FC236}">
                <a16:creationId xmlns:a16="http://schemas.microsoft.com/office/drawing/2014/main" id="{DB814297-CE2B-9504-3638-A0B272725B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38400" y="1676400"/>
            <a:ext cx="7543800" cy="4191000"/>
          </a:xfrm>
        </p:spPr>
        <p:txBody>
          <a:bodyPr/>
          <a:lstStyle/>
          <a:p>
            <a:pPr marL="571500" indent="-571500">
              <a:lnSpc>
                <a:spcPct val="80000"/>
              </a:lnSpc>
              <a:buNone/>
            </a:pPr>
            <a:r>
              <a:rPr lang="en-US" altLang="en-US" sz="2500" dirty="0">
                <a:solidFill>
                  <a:srgbClr val="0000FF"/>
                </a:solidFill>
              </a:rPr>
              <a:t>let var1 = 4 + 7.0;</a:t>
            </a:r>
            <a:r>
              <a:rPr lang="en-US" altLang="en-US" sz="2500" dirty="0"/>
              <a:t> </a:t>
            </a: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500" dirty="0"/>
              <a:t>	is converted to a floating-point value</a:t>
            </a: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500" dirty="0">
                <a:solidFill>
                  <a:srgbClr val="0000FF"/>
                </a:solidFill>
              </a:rPr>
              <a:t>let var2=“100” + 15;</a:t>
            </a:r>
            <a:r>
              <a:rPr lang="en-US" altLang="en-US" sz="2500" dirty="0"/>
              <a:t> </a:t>
            </a: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500" dirty="0"/>
              <a:t>	15 is promoted to string; result=“10015”</a:t>
            </a: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400" dirty="0">
                <a:solidFill>
                  <a:srgbClr val="0000FF"/>
                </a:solidFill>
              </a:rPr>
              <a:t>let var3= 15 +“100”;</a:t>
            </a:r>
            <a:endParaRPr lang="en-US" altLang="en-US" sz="2400" dirty="0"/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400" dirty="0"/>
              <a:t>	15 is promoted to string; result=“15100”</a:t>
            </a:r>
            <a:endParaRPr lang="en-US" altLang="en-US" sz="2100" dirty="0"/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100" dirty="0"/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100" dirty="0"/>
              <a:t>	</a:t>
            </a:r>
            <a:r>
              <a:rPr lang="en-US" altLang="en-US" sz="2100" dirty="0">
                <a:solidFill>
                  <a:srgbClr val="0000FF"/>
                </a:solidFill>
              </a:rPr>
              <a:t>Mixing numbers and strings results in strings</a:t>
            </a: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100" dirty="0">
              <a:solidFill>
                <a:srgbClr val="0000FF"/>
              </a:solidFill>
            </a:endParaRP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5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EED5D-2059-4632-2445-F3252CC52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SE-2840 </a:t>
            </a:r>
            <a:br>
              <a:rPr lang="en-US" altLang="en-US" dirty="0"/>
            </a:br>
            <a:r>
              <a:rPr lang="en-US" altLang="en-US" dirty="0"/>
              <a:t>Dr. Mark L. Hornick</a:t>
            </a:r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EAD2ADE6-6314-2410-FB68-38CD1AFA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ECBD9F-E588-444B-974B-6E7A47B835DB}" type="slidenum">
              <a:rPr lang="en-US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lang="en-US" altLang="en-US" sz="1000"/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24D45558-B28C-ED9D-F9B3-D1E346451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100"/>
              <a:t>Aspects of weakly-typed data</a:t>
            </a:r>
          </a:p>
        </p:txBody>
      </p:sp>
      <p:sp>
        <p:nvSpPr>
          <p:cNvPr id="1220611" name="Rectangle 3">
            <a:extLst>
              <a:ext uri="{FF2B5EF4-FFF2-40B4-BE49-F238E27FC236}">
                <a16:creationId xmlns:a16="http://schemas.microsoft.com/office/drawing/2014/main" id="{AB0DD84F-FDD0-AF4B-4FB0-D47C996615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1676400"/>
            <a:ext cx="8077200" cy="4191000"/>
          </a:xfrm>
        </p:spPr>
        <p:txBody>
          <a:bodyPr/>
          <a:lstStyle/>
          <a:p>
            <a:pPr marL="571500" indent="-571500"/>
            <a:r>
              <a:rPr lang="en-US" altLang="en-US" sz="2500"/>
              <a:t>Javascript has the following </a:t>
            </a:r>
            <a:r>
              <a:rPr lang="en-US" altLang="en-US" sz="2500" b="1"/>
              <a:t>boolean</a:t>
            </a:r>
            <a:r>
              <a:rPr lang="en-US" altLang="en-US" sz="2500"/>
              <a:t> globlal functions that allow you to inquire about a variable’s bound type:</a:t>
            </a:r>
          </a:p>
          <a:p>
            <a:pPr marL="839788" lvl="1" indent="-495300"/>
            <a:r>
              <a:rPr lang="en-US" altLang="en-US" sz="2100">
                <a:solidFill>
                  <a:srgbClr val="0000FF"/>
                </a:solidFill>
              </a:rPr>
              <a:t>isNaN</a:t>
            </a:r>
            <a:r>
              <a:rPr lang="en-US" altLang="en-US" sz="2100"/>
              <a:t>( var )  // returns true if Not a Number</a:t>
            </a:r>
          </a:p>
          <a:p>
            <a:pPr marL="839788" lvl="1" indent="-495300"/>
            <a:r>
              <a:rPr lang="en-US" altLang="en-US" sz="2100">
                <a:solidFill>
                  <a:srgbClr val="0000FF"/>
                </a:solidFill>
              </a:rPr>
              <a:t>isFinite</a:t>
            </a:r>
            <a:r>
              <a:rPr lang="en-US" altLang="en-US" sz="2100"/>
              <a:t>( var ) // returns true if a finite number</a:t>
            </a:r>
          </a:p>
          <a:p>
            <a:pPr marL="571500" indent="-571500"/>
            <a:r>
              <a:rPr lang="en-US" altLang="en-US" sz="2500">
                <a:solidFill>
                  <a:srgbClr val="0000FF"/>
                </a:solidFill>
              </a:rPr>
              <a:t>Infinity</a:t>
            </a:r>
            <a:r>
              <a:rPr lang="en-US" altLang="en-US" sz="2500"/>
              <a:t> is +/- infinity </a:t>
            </a:r>
            <a:r>
              <a:rPr lang="en-US" altLang="en-US" sz="2500">
                <a:solidFill>
                  <a:srgbClr val="FF0000"/>
                </a:solidFill>
              </a:rPr>
              <a:t>(note: capital “I”); a numeric type</a:t>
            </a:r>
          </a:p>
          <a:p>
            <a:pPr marL="571500" indent="-571500"/>
            <a:r>
              <a:rPr lang="en-US" altLang="en-US" sz="2500">
                <a:solidFill>
                  <a:srgbClr val="0000FF"/>
                </a:solidFill>
              </a:rPr>
              <a:t>undefined</a:t>
            </a:r>
            <a:r>
              <a:rPr lang="en-US" altLang="en-US" sz="2500"/>
              <a:t> indicates an unitialized variable </a:t>
            </a:r>
          </a:p>
          <a:p>
            <a:pPr marL="571500" indent="-571500"/>
            <a:r>
              <a:rPr lang="en-US" altLang="en-US" sz="2500">
                <a:solidFill>
                  <a:srgbClr val="0000FF"/>
                </a:solidFill>
              </a:rPr>
              <a:t>NaN</a:t>
            </a:r>
            <a:r>
              <a:rPr lang="en-US" altLang="en-US" sz="2500"/>
              <a:t> represents a value that is “not a number”</a:t>
            </a:r>
            <a:r>
              <a:rPr lang="en-US" altLang="en-US" sz="2500">
                <a:solidFill>
                  <a:srgbClr val="FF0000"/>
                </a:solidFill>
              </a:rPr>
              <a:t>; a numeric type</a:t>
            </a:r>
          </a:p>
          <a:p>
            <a:pPr marL="571500" indent="-571500"/>
            <a:r>
              <a:rPr lang="en-US" altLang="en-US" sz="2500">
                <a:solidFill>
                  <a:srgbClr val="FF0000"/>
                </a:solidFill>
              </a:rPr>
              <a:t>The </a:t>
            </a:r>
            <a:r>
              <a:rPr lang="en-US" altLang="en-US" sz="2500">
                <a:solidFill>
                  <a:srgbClr val="009999"/>
                </a:solidFill>
              </a:rPr>
              <a:t>typeof(var)</a:t>
            </a:r>
            <a:r>
              <a:rPr lang="en-US" altLang="en-US" sz="2500">
                <a:solidFill>
                  <a:srgbClr val="FF0000"/>
                </a:solidFill>
              </a:rPr>
              <a:t> function returns a string indicating a value’s type</a:t>
            </a:r>
          </a:p>
          <a:p>
            <a:pPr marL="571500" indent="-571500"/>
            <a:endParaRPr lang="en-US" altLang="en-US" sz="25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0611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>
            <a:extLst>
              <a:ext uri="{FF2B5EF4-FFF2-40B4-BE49-F238E27FC236}">
                <a16:creationId xmlns:a16="http://schemas.microsoft.com/office/drawing/2014/main" id="{4601605A-1A32-9900-ACB3-B8AC1E9F84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/>
              <a:t>An explicit conversion is required to turn a string to a number</a:t>
            </a:r>
          </a:p>
        </p:txBody>
      </p:sp>
      <p:sp>
        <p:nvSpPr>
          <p:cNvPr id="1221635" name="Rectangle 3">
            <a:extLst>
              <a:ext uri="{FF2B5EF4-FFF2-40B4-BE49-F238E27FC236}">
                <a16:creationId xmlns:a16="http://schemas.microsoft.com/office/drawing/2014/main" id="{86404EF2-D0F6-3951-77F3-4CB65EBFA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0" y="1676400"/>
            <a:ext cx="7543800" cy="4191000"/>
          </a:xfrm>
        </p:spPr>
        <p:txBody>
          <a:bodyPr>
            <a:normAutofit fontScale="92500" lnSpcReduction="20000"/>
          </a:bodyPr>
          <a:lstStyle/>
          <a:p>
            <a:pPr marL="571500" indent="-571500">
              <a:lnSpc>
                <a:spcPct val="80000"/>
              </a:lnSpc>
              <a:buNone/>
            </a:pPr>
            <a:r>
              <a:rPr lang="en-US" altLang="en-US" sz="2400">
                <a:solidFill>
                  <a:srgbClr val="0000FF"/>
                </a:solidFill>
                <a:latin typeface="Bookman Old Style" panose="02050604050505020204" pitchFamily="18" charset="0"/>
              </a:rPr>
              <a:t>var1 = parseInt(“10”);</a:t>
            </a: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400">
              <a:solidFill>
                <a:srgbClr val="0000FF"/>
              </a:solidFill>
              <a:latin typeface="Bookman Old Style" panose="02050604050505020204" pitchFamily="18" charset="0"/>
            </a:endParaRP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400">
                <a:solidFill>
                  <a:srgbClr val="0000FF"/>
                </a:solidFill>
                <a:latin typeface="Bookman Old Style" panose="02050604050505020204" pitchFamily="18" charset="0"/>
              </a:rPr>
              <a:t>var1 = parseFloat(“3.14”);</a:t>
            </a: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400">
              <a:solidFill>
                <a:srgbClr val="0000FF"/>
              </a:solidFill>
            </a:endParaRP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400">
                <a:solidFill>
                  <a:srgbClr val="0000FF"/>
                </a:solidFill>
                <a:latin typeface="Bookman Old Style" panose="02050604050505020204" pitchFamily="18" charset="0"/>
              </a:rPr>
              <a:t>var1 = parseFloat(“abc”); </a:t>
            </a: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500"/>
              <a:t>The </a:t>
            </a:r>
            <a:r>
              <a:rPr lang="en-US" altLang="en-US" sz="2500">
                <a:solidFill>
                  <a:srgbClr val="FF0000"/>
                </a:solidFill>
              </a:rPr>
              <a:t>numeric value </a:t>
            </a:r>
            <a:r>
              <a:rPr lang="en-US" altLang="en-US" sz="2500">
                <a:solidFill>
                  <a:srgbClr val="0000FF"/>
                </a:solidFill>
              </a:rPr>
              <a:t>NaN </a:t>
            </a:r>
            <a:r>
              <a:rPr lang="en-US" altLang="en-US" sz="2500"/>
              <a:t>is assigned when a string cannot be parsed. </a:t>
            </a:r>
            <a:endParaRPr lang="en-US" altLang="en-US" sz="2500">
              <a:solidFill>
                <a:srgbClr val="9A0075"/>
              </a:solidFill>
            </a:endParaRP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500"/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500">
                <a:solidFill>
                  <a:srgbClr val="C00000"/>
                </a:solidFill>
              </a:rPr>
              <a:t>The opposite conversion from a numeric value to a String is done via:</a:t>
            </a:r>
            <a:br>
              <a:rPr lang="en-US" altLang="en-US" sz="2500"/>
            </a:br>
            <a:endParaRPr lang="en-US" altLang="en-US" sz="2500"/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500">
                <a:solidFill>
                  <a:srgbClr val="C00000"/>
                </a:solidFill>
              </a:rPr>
              <a:t>var1 = 100; 	// var1 contains numeric value 100</a:t>
            </a: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500">
                <a:solidFill>
                  <a:srgbClr val="C00000"/>
                </a:solidFill>
              </a:rPr>
              <a:t>var1 = String(100); // var1  contains “100”</a:t>
            </a: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500">
              <a:solidFill>
                <a:srgbClr val="C00000"/>
              </a:solidFill>
            </a:endParaRP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>
            <a:extLst>
              <a:ext uri="{FF2B5EF4-FFF2-40B4-BE49-F238E27FC236}">
                <a16:creationId xmlns:a16="http://schemas.microsoft.com/office/drawing/2014/main" id="{A27A32B7-A40B-D673-1BE7-9025CB9C80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/>
              <a:t>Type coercion (promotion)</a:t>
            </a:r>
          </a:p>
        </p:txBody>
      </p:sp>
      <p:sp>
        <p:nvSpPr>
          <p:cNvPr id="1221635" name="Rectangle 3">
            <a:extLst>
              <a:ext uri="{FF2B5EF4-FFF2-40B4-BE49-F238E27FC236}">
                <a16:creationId xmlns:a16="http://schemas.microsoft.com/office/drawing/2014/main" id="{1EF9BE46-281E-AD99-DF36-7748CD0AF0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0" y="1676400"/>
            <a:ext cx="7543800" cy="4191000"/>
          </a:xfrm>
        </p:spPr>
        <p:txBody>
          <a:bodyPr/>
          <a:lstStyle/>
          <a:p>
            <a:pPr marL="571500" indent="-571500">
              <a:lnSpc>
                <a:spcPct val="80000"/>
              </a:lnSpc>
              <a:buNone/>
            </a:pPr>
            <a:r>
              <a:rPr lang="en-US" altLang="en-US" sz="2000" dirty="0">
                <a:solidFill>
                  <a:srgbClr val="0000FF"/>
                </a:solidFill>
                <a:latin typeface="Book Antiqua" panose="02040602050305030304" pitchFamily="18" charset="0"/>
              </a:rPr>
              <a:t>var x = 1;</a:t>
            </a: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000" dirty="0">
                <a:solidFill>
                  <a:srgbClr val="0000FF"/>
                </a:solidFill>
                <a:latin typeface="Book Antiqua" panose="02040602050305030304" pitchFamily="18" charset="0"/>
              </a:rPr>
              <a:t>var y = “1”; </a:t>
            </a:r>
            <a:r>
              <a:rPr lang="en-US" altLang="en-US" sz="2000" dirty="0">
                <a:solidFill>
                  <a:srgbClr val="00B050"/>
                </a:solidFill>
                <a:latin typeface="Book Antiqua" panose="02040602050305030304" pitchFamily="18" charset="0"/>
              </a:rPr>
              <a:t>// note single quotes can also be used</a:t>
            </a: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000" dirty="0">
                <a:solidFill>
                  <a:srgbClr val="0000FF"/>
                </a:solidFill>
                <a:latin typeface="Book Antiqua" panose="02040602050305030304" pitchFamily="18" charset="0"/>
              </a:rPr>
              <a:t>if( x=y ) {…} </a:t>
            </a:r>
            <a:r>
              <a:rPr lang="en-US" altLang="en-US" sz="2000" dirty="0">
                <a:solidFill>
                  <a:srgbClr val="00B050"/>
                </a:solidFill>
                <a:latin typeface="Book Antiqua" panose="02040602050305030304" pitchFamily="18" charset="0"/>
              </a:rPr>
              <a:t>// </a:t>
            </a:r>
            <a:r>
              <a:rPr lang="en-US" altLang="en-US" sz="2000" b="1" dirty="0">
                <a:solidFill>
                  <a:srgbClr val="00B050"/>
                </a:solidFill>
                <a:latin typeface="Book Antiqua" panose="02040602050305030304" pitchFamily="18" charset="0"/>
              </a:rPr>
              <a:t>assigns</a:t>
            </a:r>
            <a:r>
              <a:rPr lang="en-US" altLang="en-US" sz="2000" dirty="0">
                <a:solidFill>
                  <a:srgbClr val="00B050"/>
                </a:solidFill>
                <a:latin typeface="Book Antiqua" panose="02040602050305030304" pitchFamily="18" charset="0"/>
              </a:rPr>
              <a:t> y to x; x is then evaluated as </a:t>
            </a:r>
            <a:r>
              <a:rPr lang="en-US" altLang="en-US" sz="2000" b="1" dirty="0">
                <a:solidFill>
                  <a:srgbClr val="00B050"/>
                </a:solidFill>
                <a:latin typeface="Book Antiqua" panose="02040602050305030304" pitchFamily="18" charset="0"/>
              </a:rPr>
              <a:t>true</a:t>
            </a: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000" dirty="0">
                <a:solidFill>
                  <a:srgbClr val="0000FF"/>
                </a:solidFill>
                <a:latin typeface="Book Antiqua" panose="02040602050305030304" pitchFamily="18" charset="0"/>
              </a:rPr>
              <a:t>if( x==y ) {…} </a:t>
            </a:r>
            <a:r>
              <a:rPr lang="en-US" altLang="en-US" sz="2000" dirty="0">
                <a:solidFill>
                  <a:srgbClr val="00B050"/>
                </a:solidFill>
                <a:latin typeface="Book Antiqua" panose="02040602050305030304" pitchFamily="18" charset="0"/>
              </a:rPr>
              <a:t>// </a:t>
            </a:r>
            <a:r>
              <a:rPr lang="en-US" altLang="en-US" sz="2000" b="1" dirty="0">
                <a:solidFill>
                  <a:srgbClr val="00B050"/>
                </a:solidFill>
                <a:latin typeface="Book Antiqua" panose="02040602050305030304" pitchFamily="18" charset="0"/>
              </a:rPr>
              <a:t>coerces</a:t>
            </a:r>
            <a:r>
              <a:rPr lang="en-US" altLang="en-US" sz="2000" dirty="0">
                <a:solidFill>
                  <a:srgbClr val="00B050"/>
                </a:solidFill>
                <a:latin typeface="Book Antiqua" panose="02040602050305030304" pitchFamily="18" charset="0"/>
              </a:rPr>
              <a:t> x to string ‘1’, and evaluates to </a:t>
            </a:r>
            <a:r>
              <a:rPr lang="en-US" altLang="en-US" sz="2000" b="1" dirty="0">
                <a:solidFill>
                  <a:srgbClr val="00B050"/>
                </a:solidFill>
                <a:latin typeface="Book Antiqua" panose="02040602050305030304" pitchFamily="18" charset="0"/>
              </a:rPr>
              <a:t>true</a:t>
            </a: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000" dirty="0">
                <a:solidFill>
                  <a:srgbClr val="0000FF"/>
                </a:solidFill>
                <a:latin typeface="Book Antiqua" panose="02040602050305030304" pitchFamily="18" charset="0"/>
              </a:rPr>
              <a:t>if( x===y ) {…} </a:t>
            </a:r>
            <a:r>
              <a:rPr lang="en-US" altLang="en-US" sz="2000" dirty="0">
                <a:solidFill>
                  <a:srgbClr val="00B050"/>
                </a:solidFill>
                <a:latin typeface="Book Antiqua" panose="02040602050305030304" pitchFamily="18" charset="0"/>
              </a:rPr>
              <a:t>// evaluates to </a:t>
            </a:r>
            <a:r>
              <a:rPr lang="en-US" altLang="en-US" sz="2000" b="1" dirty="0">
                <a:solidFill>
                  <a:srgbClr val="00B050"/>
                </a:solidFill>
                <a:latin typeface="Book Antiqua" panose="02040602050305030304" pitchFamily="18" charset="0"/>
              </a:rPr>
              <a:t>false</a:t>
            </a: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400" dirty="0">
              <a:solidFill>
                <a:srgbClr val="0000FF"/>
              </a:solidFill>
            </a:endParaRP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400" dirty="0"/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500" dirty="0">
                <a:solidFill>
                  <a:srgbClr val="C00000"/>
                </a:solidFill>
              </a:rPr>
              <a:t>General rule: Always use === for comparisons</a:t>
            </a: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500" dirty="0">
              <a:solidFill>
                <a:srgbClr val="C00000"/>
              </a:solidFill>
            </a:endParaRP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>
            <a:extLst>
              <a:ext uri="{FF2B5EF4-FFF2-40B4-BE49-F238E27FC236}">
                <a16:creationId xmlns:a16="http://schemas.microsoft.com/office/drawing/2014/main" id="{E88ED1D9-2C29-220F-F2D7-1149009AA1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/>
              <a:t>Boolean false and truthy/falsy values</a:t>
            </a:r>
          </a:p>
        </p:txBody>
      </p:sp>
      <p:sp>
        <p:nvSpPr>
          <p:cNvPr id="1221635" name="Rectangle 3">
            <a:extLst>
              <a:ext uri="{FF2B5EF4-FFF2-40B4-BE49-F238E27FC236}">
                <a16:creationId xmlns:a16="http://schemas.microsoft.com/office/drawing/2014/main" id="{A8263F64-7F6C-BE4D-FEC9-2F13D290B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0" y="1676400"/>
            <a:ext cx="7543800" cy="4191000"/>
          </a:xfrm>
        </p:spPr>
        <p:txBody>
          <a:bodyPr>
            <a:normAutofit fontScale="85000" lnSpcReduction="20000"/>
          </a:bodyPr>
          <a:lstStyle/>
          <a:p>
            <a:pPr marL="571500" indent="-571500">
              <a:lnSpc>
                <a:spcPct val="80000"/>
              </a:lnSpc>
              <a:buNone/>
            </a:pPr>
            <a:r>
              <a:rPr lang="en-US" altLang="en-US" sz="2000">
                <a:solidFill>
                  <a:srgbClr val="0000FF"/>
                </a:solidFill>
                <a:latin typeface="Book Antiqua" panose="02040602050305030304" pitchFamily="18" charset="0"/>
              </a:rPr>
              <a:t>boolean x = false;</a:t>
            </a: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000">
                <a:solidFill>
                  <a:srgbClr val="0000FF"/>
                </a:solidFill>
                <a:latin typeface="Book Antiqua" panose="02040602050305030304" pitchFamily="18" charset="0"/>
              </a:rPr>
              <a:t>if( x ) </a:t>
            </a:r>
            <a:r>
              <a:rPr lang="en-US" altLang="en-US" sz="2000">
                <a:solidFill>
                  <a:srgbClr val="00B050"/>
                </a:solidFill>
                <a:latin typeface="Book Antiqua" panose="02040602050305030304" pitchFamily="18" charset="0"/>
              </a:rPr>
              <a:t>// evaluates to false (duh)</a:t>
            </a: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000">
              <a:solidFill>
                <a:srgbClr val="0000FF"/>
              </a:solidFill>
              <a:latin typeface="Book Antiqua" panose="02040602050305030304" pitchFamily="18" charset="0"/>
            </a:endParaRP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000">
                <a:solidFill>
                  <a:srgbClr val="0000FF"/>
                </a:solidFill>
                <a:latin typeface="Book Antiqua" panose="02040602050305030304" pitchFamily="18" charset="0"/>
              </a:rPr>
              <a:t>x = undefined; </a:t>
            </a:r>
            <a:r>
              <a:rPr lang="en-US" altLang="en-US" sz="2000">
                <a:solidFill>
                  <a:srgbClr val="00B050"/>
                </a:solidFill>
                <a:latin typeface="Book Antiqua" panose="02040602050305030304" pitchFamily="18" charset="0"/>
              </a:rPr>
              <a:t>// evaluates to false in </a:t>
            </a:r>
            <a:r>
              <a:rPr lang="en-US" altLang="en-US" sz="2000" b="1">
                <a:solidFill>
                  <a:srgbClr val="00B050"/>
                </a:solidFill>
                <a:latin typeface="Book Antiqua" panose="02040602050305030304" pitchFamily="18" charset="0"/>
              </a:rPr>
              <a:t>if( x )</a:t>
            </a: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000">
                <a:solidFill>
                  <a:srgbClr val="0000FF"/>
                </a:solidFill>
                <a:latin typeface="Book Antiqua" panose="02040602050305030304" pitchFamily="18" charset="0"/>
              </a:rPr>
              <a:t>x = NaN; </a:t>
            </a:r>
            <a:r>
              <a:rPr lang="en-US" altLang="en-US" sz="2000">
                <a:solidFill>
                  <a:srgbClr val="00B050"/>
                </a:solidFill>
                <a:latin typeface="Book Antiqua" panose="02040602050305030304" pitchFamily="18" charset="0"/>
              </a:rPr>
              <a:t>// evaluates to false in </a:t>
            </a:r>
            <a:r>
              <a:rPr lang="en-US" altLang="en-US" sz="2000" b="1">
                <a:solidFill>
                  <a:srgbClr val="00B050"/>
                </a:solidFill>
                <a:latin typeface="Book Antiqua" panose="02040602050305030304" pitchFamily="18" charset="0"/>
              </a:rPr>
              <a:t>if( x )</a:t>
            </a: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000">
                <a:solidFill>
                  <a:srgbClr val="0000FF"/>
                </a:solidFill>
                <a:latin typeface="Book Antiqua" panose="02040602050305030304" pitchFamily="18" charset="0"/>
              </a:rPr>
              <a:t>x = null; </a:t>
            </a:r>
            <a:r>
              <a:rPr lang="en-US" altLang="en-US" sz="2000">
                <a:solidFill>
                  <a:srgbClr val="00B050"/>
                </a:solidFill>
                <a:latin typeface="Book Antiqua" panose="02040602050305030304" pitchFamily="18" charset="0"/>
              </a:rPr>
              <a:t>// evaluates to false in </a:t>
            </a:r>
            <a:r>
              <a:rPr lang="en-US" altLang="en-US" sz="2000" b="1">
                <a:solidFill>
                  <a:srgbClr val="00B050"/>
                </a:solidFill>
                <a:latin typeface="Book Antiqua" panose="02040602050305030304" pitchFamily="18" charset="0"/>
              </a:rPr>
              <a:t>if( x )</a:t>
            </a:r>
            <a:endParaRPr lang="en-US" altLang="en-US" sz="2000">
              <a:solidFill>
                <a:srgbClr val="0000FF"/>
              </a:solidFill>
            </a:endParaRP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000">
              <a:solidFill>
                <a:srgbClr val="0000FF"/>
              </a:solidFill>
              <a:latin typeface="Book Antiqua" panose="02040602050305030304" pitchFamily="18" charset="0"/>
            </a:endParaRP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000">
                <a:solidFill>
                  <a:srgbClr val="0000FF"/>
                </a:solidFill>
                <a:latin typeface="Book Antiqua" panose="02040602050305030304" pitchFamily="18" charset="0"/>
              </a:rPr>
              <a:t>x = “”; </a:t>
            </a:r>
            <a:r>
              <a:rPr lang="en-US" altLang="en-US" sz="2000">
                <a:solidFill>
                  <a:srgbClr val="00B050"/>
                </a:solidFill>
                <a:latin typeface="Book Antiqua" panose="02040602050305030304" pitchFamily="18" charset="0"/>
              </a:rPr>
              <a:t>// empty string; evaluates to false in </a:t>
            </a:r>
            <a:r>
              <a:rPr lang="en-US" altLang="en-US" sz="2000" b="1">
                <a:solidFill>
                  <a:srgbClr val="00B050"/>
                </a:solidFill>
                <a:latin typeface="Book Antiqua" panose="02040602050305030304" pitchFamily="18" charset="0"/>
              </a:rPr>
              <a:t>if( x )</a:t>
            </a: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000">
                <a:solidFill>
                  <a:srgbClr val="0000FF"/>
                </a:solidFill>
                <a:latin typeface="Book Antiqua" panose="02040602050305030304" pitchFamily="18" charset="0"/>
              </a:rPr>
              <a:t>x = “ ”; </a:t>
            </a:r>
            <a:r>
              <a:rPr lang="en-US" altLang="en-US" sz="2000">
                <a:solidFill>
                  <a:srgbClr val="00B050"/>
                </a:solidFill>
                <a:latin typeface="Book Antiqua" panose="02040602050305030304" pitchFamily="18" charset="0"/>
              </a:rPr>
              <a:t>// non-empty strings evaluate to </a:t>
            </a:r>
            <a:r>
              <a:rPr lang="en-US" altLang="en-US" sz="2000">
                <a:solidFill>
                  <a:srgbClr val="9A0075"/>
                </a:solidFill>
                <a:latin typeface="Book Antiqua" panose="02040602050305030304" pitchFamily="18" charset="0"/>
              </a:rPr>
              <a:t>true</a:t>
            </a:r>
            <a:r>
              <a:rPr lang="en-US" altLang="en-US" sz="2000">
                <a:solidFill>
                  <a:srgbClr val="00B050"/>
                </a:solidFill>
                <a:latin typeface="Book Antiqua" panose="02040602050305030304" pitchFamily="18" charset="0"/>
              </a:rPr>
              <a:t> in </a:t>
            </a:r>
            <a:r>
              <a:rPr lang="en-US" altLang="en-US" sz="2000" b="1">
                <a:solidFill>
                  <a:srgbClr val="00B050"/>
                </a:solidFill>
                <a:latin typeface="Book Antiqua" panose="02040602050305030304" pitchFamily="18" charset="0"/>
              </a:rPr>
              <a:t>if( x )</a:t>
            </a: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000" b="1">
              <a:solidFill>
                <a:srgbClr val="00B050"/>
              </a:solidFill>
              <a:latin typeface="Book Antiqua" panose="02040602050305030304" pitchFamily="18" charset="0"/>
            </a:endParaRP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000">
                <a:solidFill>
                  <a:srgbClr val="0000FF"/>
                </a:solidFill>
                <a:latin typeface="Book Antiqua" panose="02040602050305030304" pitchFamily="18" charset="0"/>
              </a:rPr>
              <a:t>x = 0; </a:t>
            </a:r>
            <a:r>
              <a:rPr lang="en-US" altLang="en-US" sz="2000">
                <a:solidFill>
                  <a:srgbClr val="00B050"/>
                </a:solidFill>
                <a:latin typeface="Book Antiqua" panose="02040602050305030304" pitchFamily="18" charset="0"/>
              </a:rPr>
              <a:t>// evaluates to false in </a:t>
            </a:r>
            <a:r>
              <a:rPr lang="en-US" altLang="en-US" sz="2000" b="1">
                <a:solidFill>
                  <a:srgbClr val="00B050"/>
                </a:solidFill>
                <a:latin typeface="Book Antiqua" panose="02040602050305030304" pitchFamily="18" charset="0"/>
              </a:rPr>
              <a:t>if( x )</a:t>
            </a:r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000">
                <a:solidFill>
                  <a:srgbClr val="0000FF"/>
                </a:solidFill>
                <a:latin typeface="Book Antiqua" panose="02040602050305030304" pitchFamily="18" charset="0"/>
              </a:rPr>
              <a:t>x = -1; </a:t>
            </a:r>
            <a:r>
              <a:rPr lang="en-US" altLang="en-US" sz="2000">
                <a:solidFill>
                  <a:srgbClr val="00B050"/>
                </a:solidFill>
                <a:latin typeface="Book Antiqua" panose="02040602050305030304" pitchFamily="18" charset="0"/>
              </a:rPr>
              <a:t>// non-zero values evaluate to </a:t>
            </a:r>
            <a:r>
              <a:rPr lang="en-US" altLang="en-US" sz="2000">
                <a:solidFill>
                  <a:srgbClr val="9A0075"/>
                </a:solidFill>
                <a:latin typeface="Book Antiqua" panose="02040602050305030304" pitchFamily="18" charset="0"/>
              </a:rPr>
              <a:t>true</a:t>
            </a:r>
            <a:r>
              <a:rPr lang="en-US" altLang="en-US" sz="2000">
                <a:solidFill>
                  <a:srgbClr val="00B050"/>
                </a:solidFill>
                <a:latin typeface="Book Antiqua" panose="02040602050305030304" pitchFamily="18" charset="0"/>
              </a:rPr>
              <a:t> in </a:t>
            </a:r>
            <a:r>
              <a:rPr lang="en-US" altLang="en-US" sz="2000" b="1">
                <a:solidFill>
                  <a:srgbClr val="00B050"/>
                </a:solidFill>
                <a:latin typeface="Book Antiqua" panose="02040602050305030304" pitchFamily="18" charset="0"/>
              </a:rPr>
              <a:t>if( x )</a:t>
            </a: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400"/>
          </a:p>
          <a:p>
            <a:pPr marL="571500" indent="-571500">
              <a:lnSpc>
                <a:spcPct val="80000"/>
              </a:lnSpc>
              <a:buNone/>
            </a:pPr>
            <a:r>
              <a:rPr lang="en-US" altLang="en-US" sz="2500">
                <a:solidFill>
                  <a:srgbClr val="C00000"/>
                </a:solidFill>
              </a:rPr>
              <a:t>Proceed with caution</a:t>
            </a: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500">
              <a:solidFill>
                <a:srgbClr val="C00000"/>
              </a:solidFill>
            </a:endParaRPr>
          </a:p>
          <a:p>
            <a:pPr marL="571500" indent="-571500">
              <a:lnSpc>
                <a:spcPct val="80000"/>
              </a:lnSpc>
              <a:buNone/>
            </a:pPr>
            <a:endParaRPr lang="en-US" altLang="en-US" sz="2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0FC63CAA-DEAC-A9B8-958C-737630FCD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Arrays in Javascript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6B1F99C5-833E-EE12-9132-CF133AD24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/>
              <a:t>var myArray; // untyped and undefined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myArray = new Array(); // size not needed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myArray[0] = “Hello”; // array size now 1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myArray[1] = 1; // array size now 2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myArray[2]= new Array(); // array element 3 is another array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0000FF"/>
                </a:solidFill>
              </a:rPr>
              <a:t>If an array size is specified, and the number of elements assigned to the array exceeds the size of the array, the array grows itself!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8008FE2F-8670-6C0B-C1E6-7136C7AF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More on arrays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5369F48E-07DF-FCB2-4415-56B6AFF7A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/>
              <a:t>var myArray = [0,1,2,3]; // declared &amp; initialized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myArray[4]= -1; // now [0,1,2,3,-1]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myArray[6]= 8; // now [0,1,2,3,-1, </a:t>
            </a:r>
            <a:r>
              <a:rPr lang="en-US" altLang="en-US">
                <a:solidFill>
                  <a:srgbClr val="FF0000"/>
                </a:solidFill>
              </a:rPr>
              <a:t>undefined</a:t>
            </a:r>
            <a:r>
              <a:rPr lang="en-US" altLang="en-US"/>
              <a:t>, 8]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myArray[0]= “hello”; // legal!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4336CD66-8282-AB4C-A985-B1F18D9A2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3" y="122238"/>
            <a:ext cx="10646228" cy="1020762"/>
          </a:xfrm>
        </p:spPr>
        <p:txBody>
          <a:bodyPr>
            <a:normAutofit fontScale="90000"/>
          </a:bodyPr>
          <a:lstStyle/>
          <a:p>
            <a:r>
              <a:rPr lang="en-US" altLang="en-US" b="0" dirty="0" err="1"/>
              <a:t>Javascript</a:t>
            </a:r>
            <a:r>
              <a:rPr lang="en-US" altLang="en-US" b="0" dirty="0"/>
              <a:t> supports the concept of </a:t>
            </a:r>
            <a:r>
              <a:rPr lang="en-US" altLang="en-US" dirty="0"/>
              <a:t>global functions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AF75F82E-DB51-073F-BDBC-70A16CE13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886" y="1502228"/>
            <a:ext cx="10646228" cy="48006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myMethod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(param1, param2)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“use strict”; // don’t allow sloppy code</a:t>
            </a:r>
            <a:b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localVar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param1 + …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localVar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2400" dirty="0"/>
              <a:t>0 or more formal parameters </a:t>
            </a:r>
          </a:p>
          <a:p>
            <a:r>
              <a:rPr lang="en-US" altLang="en-US" sz="2400" dirty="0"/>
              <a:t>Formal parameters are not typed</a:t>
            </a:r>
          </a:p>
          <a:p>
            <a:r>
              <a:rPr lang="en-US" altLang="en-US" sz="2400" dirty="0"/>
              <a:t>Return value of function is not typed</a:t>
            </a:r>
          </a:p>
          <a:p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2400" dirty="0"/>
              <a:t>statement is optional</a:t>
            </a:r>
          </a:p>
          <a:p>
            <a:pPr lvl="1"/>
            <a:r>
              <a:rPr lang="en-US" altLang="en-US" sz="2000" dirty="0">
                <a:solidFill>
                  <a:srgbClr val="009999"/>
                </a:solidFill>
              </a:rPr>
              <a:t>If no </a:t>
            </a: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2000" dirty="0">
                <a:solidFill>
                  <a:srgbClr val="009999"/>
                </a:solidFill>
              </a:rPr>
              <a:t>statement, function returns “undefined”</a:t>
            </a:r>
          </a:p>
          <a:p>
            <a:r>
              <a:rPr lang="en-US" altLang="en-US" sz="2400" dirty="0"/>
              <a:t>Local variables have function scope and visibility</a:t>
            </a:r>
          </a:p>
          <a:p>
            <a:pPr lvl="1"/>
            <a:r>
              <a:rPr lang="en-US" altLang="en-US" sz="2000" dirty="0">
                <a:solidFill>
                  <a:srgbClr val="FF0000"/>
                </a:solidFill>
              </a:rPr>
              <a:t>Note: no block { } scope in </a:t>
            </a:r>
            <a:r>
              <a:rPr lang="en-US" altLang="en-US" sz="2000" dirty="0" err="1">
                <a:solidFill>
                  <a:srgbClr val="FF0000"/>
                </a:solidFill>
              </a:rPr>
              <a:t>Javascript</a:t>
            </a:r>
            <a:r>
              <a:rPr lang="en-US" altLang="en-US" sz="2000" dirty="0">
                <a:solidFill>
                  <a:srgbClr val="FF0000"/>
                </a:solidFill>
              </a:rPr>
              <a:t>&lt;ES6! Use the </a:t>
            </a:r>
            <a:r>
              <a:rPr lang="en-US" altLang="en-US" sz="2000" b="1" dirty="0">
                <a:solidFill>
                  <a:srgbClr val="9A0075"/>
                </a:solidFill>
                <a:latin typeface="Bookman Old Style" panose="02050604050505020204" pitchFamily="18" charset="0"/>
              </a:rPr>
              <a:t>let</a:t>
            </a:r>
            <a:r>
              <a:rPr lang="en-US" altLang="en-US" sz="2000" dirty="0">
                <a:solidFill>
                  <a:srgbClr val="9A0075"/>
                </a:solidFill>
              </a:rPr>
              <a:t> </a:t>
            </a:r>
            <a:r>
              <a:rPr lang="en-US" altLang="en-US" sz="2000" dirty="0">
                <a:solidFill>
                  <a:srgbClr val="FF0000"/>
                </a:solidFill>
              </a:rPr>
              <a:t>keyword in place of var for block-scoped variables in JS 6 &amp; later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3B5FC645-0792-EF24-1C2E-D1A0BE86C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22238"/>
            <a:ext cx="11179630" cy="1020762"/>
          </a:xfrm>
        </p:spPr>
        <p:txBody>
          <a:bodyPr>
            <a:normAutofit fontScale="90000"/>
          </a:bodyPr>
          <a:lstStyle/>
          <a:p>
            <a:r>
              <a:rPr lang="en-US" altLang="en-US" b="0" dirty="0" err="1"/>
              <a:t>Javascript</a:t>
            </a:r>
            <a:r>
              <a:rPr lang="en-US" altLang="en-US" b="0" dirty="0"/>
              <a:t> supports the concept of </a:t>
            </a:r>
            <a:r>
              <a:rPr lang="en-US" altLang="en-US" dirty="0"/>
              <a:t>global variables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0C6E4BA9-86B1-FF1D-949C-23069755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611086"/>
            <a:ext cx="11179630" cy="4419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x = “I’m global!”;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myMethod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(param1, param2)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“use strict”;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var </a:t>
            </a: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localVar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…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localVar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x; </a:t>
            </a:r>
            <a:r>
              <a:rPr lang="en-US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x is visible here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en-US" dirty="0"/>
              <a:t>Global variables are visible everywhere</a:t>
            </a:r>
          </a:p>
          <a:p>
            <a:r>
              <a:rPr lang="en-US" altLang="en-US" dirty="0"/>
              <a:t>Local variables are only visible in their function scope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B230ED6F-747F-3BB2-1F67-22E397466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22238"/>
            <a:ext cx="7543800" cy="1020762"/>
          </a:xfrm>
        </p:spPr>
        <p:txBody>
          <a:bodyPr/>
          <a:lstStyle/>
          <a:p>
            <a:r>
              <a:rPr lang="en-US" altLang="en-US"/>
              <a:t>Scoping and hoisting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49E6B1C5-7F69-D2D3-9D78-9E4E49046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514" y="1589315"/>
            <a:ext cx="10896600" cy="44196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alt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myMethod</a:t>
            </a: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(param1)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“use strict”;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000" b="1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var x is accessible here (but undefined) due to </a:t>
            </a:r>
            <a:r>
              <a:rPr lang="en-US" altLang="en-US" sz="2000" b="1" dirty="0">
                <a:solidFill>
                  <a:srgbClr val="9A00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hoisting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9A007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x = 5;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const z = 3;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if( param1 &gt; value )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var x = 1; </a:t>
            </a:r>
            <a:r>
              <a:rPr lang="en-US" altLang="en-US" sz="2000" b="1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x is function scoped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let y = 2; </a:t>
            </a:r>
            <a:r>
              <a:rPr lang="en-US" altLang="en-US" sz="2000" b="1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y is block scoped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000" b="1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var x is accessible here; y is 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JS &lt; 6 does not support block scope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05335EF-C9E9-A778-330E-4F76A9E33A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285B170-F266-F356-77E7-DE959D024C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07B338-501C-4B67-A57D-573DE258DB17}" type="slidenum">
              <a:rPr lang="en-US" altLang="en-US"/>
              <a:pPr/>
              <a:t>96</a:t>
            </a:fld>
            <a:endParaRPr lang="en-US" altLang="en-US"/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49CA1F78-70E5-C13A-340E-B917651215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Functions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A42B2C5A-0B2C-51AF-1714-A7ADE8F41D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Defining a function to create an object</a:t>
            </a:r>
          </a:p>
          <a:p>
            <a:pPr lvl="1">
              <a:buFontTx/>
              <a:buNone/>
            </a:pPr>
            <a:r>
              <a:rPr lang="en-US" altLang="en-US" b="1" i="1"/>
              <a:t>function house(rms, stl, yr, gar){</a:t>
            </a:r>
          </a:p>
          <a:p>
            <a:pPr lvl="1">
              <a:buFontTx/>
              <a:buNone/>
            </a:pPr>
            <a:r>
              <a:rPr lang="en-US" altLang="en-US" b="1" i="1"/>
              <a:t>	this.rooms = rms;</a:t>
            </a:r>
          </a:p>
          <a:p>
            <a:pPr lvl="1">
              <a:buFontTx/>
              <a:buNone/>
            </a:pPr>
            <a:r>
              <a:rPr lang="en-US" altLang="en-US" b="1" i="1"/>
              <a:t>	this.style = stl;</a:t>
            </a:r>
          </a:p>
          <a:p>
            <a:pPr lvl="1">
              <a:buFontTx/>
              <a:buNone/>
            </a:pPr>
            <a:r>
              <a:rPr lang="en-US" altLang="en-US" b="1" i="1"/>
              <a:t>	this.yearBuilt = yr;</a:t>
            </a:r>
          </a:p>
          <a:p>
            <a:pPr lvl="1">
              <a:buFontTx/>
              <a:buNone/>
            </a:pPr>
            <a:r>
              <a:rPr lang="en-US" altLang="en-US" b="1" i="1"/>
              <a:t>	this.hasGarage = gar;</a:t>
            </a:r>
          </a:p>
          <a:p>
            <a:pPr lvl="1">
              <a:buFontTx/>
              <a:buNone/>
            </a:pPr>
            <a:r>
              <a:rPr lang="en-US" altLang="en-US" b="1" i="1"/>
              <a:t>}</a:t>
            </a:r>
          </a:p>
          <a:p>
            <a:pPr lvl="1">
              <a:buFontTx/>
              <a:buNone/>
            </a:pPr>
            <a:r>
              <a:rPr lang="en-US" altLang="en-US" b="1" i="1"/>
              <a:t>var myhouse = new house(8, “Ranch”, 1990, true)</a:t>
            </a:r>
            <a:endParaRPr lang="en-US" alt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537CC4D-6D70-3334-E702-85AD9603F6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9A97646-6DE3-AC12-0C37-09ADEA899A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D09979-222E-4EF2-87C3-756C2E283C65}" type="slidenum">
              <a:rPr lang="en-US" altLang="en-US"/>
              <a:pPr/>
              <a:t>97</a:t>
            </a:fld>
            <a:endParaRPr lang="en-US" altLang="en-US"/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B73E3268-45D7-012F-B1D3-45CA39BD2D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Functions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5CCF6EC9-280D-D06E-7FDC-FF130967A2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Every object is an array of its property values and every array is an object</a:t>
            </a:r>
          </a:p>
          <a:p>
            <a:pPr lvl="1"/>
            <a:r>
              <a:rPr lang="en-US" altLang="en-US"/>
              <a:t>0-based indexing</a:t>
            </a:r>
          </a:p>
          <a:p>
            <a:r>
              <a:rPr lang="en-US" altLang="en-US"/>
              <a:t>Thus,</a:t>
            </a:r>
          </a:p>
          <a:p>
            <a:pPr lvl="1"/>
            <a:r>
              <a:rPr lang="en-US" altLang="en-US" b="1" i="1"/>
              <a:t>myhouse[0] = 8</a:t>
            </a:r>
          </a:p>
          <a:p>
            <a:pPr lvl="1"/>
            <a:r>
              <a:rPr lang="en-US" altLang="en-US" b="1" i="1"/>
              <a:t>myhouse[1] = “Ranch”</a:t>
            </a:r>
          </a:p>
          <a:p>
            <a:pPr lvl="1"/>
            <a:r>
              <a:rPr lang="en-US" altLang="en-US" b="1" i="1"/>
              <a:t>myhouse[2] = 1990</a:t>
            </a:r>
          </a:p>
          <a:p>
            <a:pPr lvl="1"/>
            <a:r>
              <a:rPr lang="en-US" altLang="en-US" b="1" i="1"/>
              <a:t>myhouse[3] = true</a:t>
            </a:r>
            <a:endParaRPr lang="en-US" alt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36DA074-5A67-AE7F-2CCF-4997CC743C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3F8CEA1-A788-5013-BD28-9E506859F5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D9FD55-BF69-46CF-AEB9-F2344234E9B2}" type="slidenum">
              <a:rPr lang="en-US" altLang="en-US"/>
              <a:pPr/>
              <a:t>98</a:t>
            </a:fld>
            <a:endParaRPr lang="en-US" altLang="en-US"/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EF5DC9D2-638E-294C-57B4-B4FC47C4A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Functions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28B1B207-075D-5C11-6DE3-DB611B2630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Every object is also an associative array</a:t>
            </a:r>
          </a:p>
          <a:p>
            <a:r>
              <a:rPr lang="en-US" altLang="en-US"/>
              <a:t>Thus,</a:t>
            </a:r>
          </a:p>
          <a:p>
            <a:pPr lvl="1"/>
            <a:r>
              <a:rPr lang="en-US" altLang="en-US" b="1" i="1"/>
              <a:t>myhouse[“rooms”] = 8</a:t>
            </a:r>
          </a:p>
          <a:p>
            <a:pPr lvl="1"/>
            <a:r>
              <a:rPr lang="en-US" altLang="en-US" b="1" i="1"/>
              <a:t>myhouse[“style”] = “Ranch”</a:t>
            </a:r>
          </a:p>
          <a:p>
            <a:pPr lvl="1"/>
            <a:r>
              <a:rPr lang="en-US" altLang="en-US" b="1" i="1"/>
              <a:t>myhouse[“yearBuilt”] = 1990</a:t>
            </a:r>
          </a:p>
          <a:p>
            <a:pPr lvl="1"/>
            <a:r>
              <a:rPr lang="en-US" altLang="en-US" b="1" i="1"/>
              <a:t>myhouse[“hasGarage”] = true</a:t>
            </a:r>
            <a:endParaRPr lang="en-US" alt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81475C0-66E8-6284-9700-EECFF453B7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B85A0CF-24F4-6A1B-94E0-6B4BAC98BA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284AD0B-6FA2-4DC5-AC6D-75017764BBF8}" type="slidenum">
              <a:rPr lang="en-US" altLang="en-US"/>
              <a:pPr/>
              <a:t>99</a:t>
            </a:fld>
            <a:endParaRPr lang="en-US" altLang="en-US"/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CCC06102-6DA1-4B35-3E18-BCDD9FF37D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Functions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4A9BEC19-AC96-9206-C898-4C3D6FC7C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Can dynamically extend an object instance</a:t>
            </a:r>
          </a:p>
          <a:p>
            <a:pPr lvl="1">
              <a:buFontTx/>
              <a:buNone/>
            </a:pPr>
            <a:r>
              <a:rPr lang="en-US" altLang="en-US" b="1" i="1"/>
              <a:t>yourhouse = new house(12, “Tudor”, 1934, true);</a:t>
            </a:r>
          </a:p>
          <a:p>
            <a:pPr lvl="1">
              <a:buFontTx/>
              <a:buNone/>
            </a:pPr>
            <a:r>
              <a:rPr lang="en-US" altLang="en-US" b="1" i="1"/>
              <a:t>yourhouse.hasPorch = “false”;</a:t>
            </a:r>
          </a:p>
          <a:p>
            <a:pPr lvl="1">
              <a:buFontTx/>
              <a:buNone/>
            </a:pPr>
            <a:r>
              <a:rPr lang="en-US" altLang="en-US" b="1" i="1"/>
              <a:t>yourhouse.windows = 46;</a:t>
            </a:r>
            <a:endParaRPr lang="en-US" altLang="en-US"/>
          </a:p>
          <a:p>
            <a:pPr lvl="1"/>
            <a:r>
              <a:rPr lang="en-US" altLang="en-US"/>
              <a:t>Doesn’t affect other object instances nor the object itself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6C4E6877-1E35-394C-0520-843BA90D89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8A3606C-10E6-15A7-F258-D6E127E216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152F2B-9EFA-44ED-91B3-3870C624B53C}" type="slidenum">
              <a:rPr lang="en-US" altLang="en-US"/>
              <a:pPr/>
              <a:t>100</a:t>
            </a:fld>
            <a:endParaRPr lang="en-US" altLang="en-US"/>
          </a:p>
        </p:txBody>
      </p:sp>
      <p:sp>
        <p:nvSpPr>
          <p:cNvPr id="116738" name="Rectangle 2">
            <a:extLst>
              <a:ext uri="{FF2B5EF4-FFF2-40B4-BE49-F238E27FC236}">
                <a16:creationId xmlns:a16="http://schemas.microsoft.com/office/drawing/2014/main" id="{0643DA2B-15A0-14ED-455B-13B3ECDEC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Functions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8F47F1C0-4F2C-B29F-63E5-D92FC89285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 variable-length array-of-strings object</a:t>
            </a:r>
          </a:p>
          <a:p>
            <a:pPr lvl="1">
              <a:buFontTx/>
              <a:buNone/>
            </a:pPr>
            <a:r>
              <a:rPr lang="en-US" altLang="en-US" b="1" i="1"/>
              <a:t>function stringarr(howMany, initStr) {</a:t>
            </a:r>
          </a:p>
          <a:p>
            <a:pPr lvl="1">
              <a:buFontTx/>
              <a:buNone/>
            </a:pPr>
            <a:r>
              <a:rPr lang="en-US" altLang="en-US" b="1" i="1"/>
              <a:t>	this.length = howMany;</a:t>
            </a:r>
          </a:p>
          <a:p>
            <a:pPr lvl="1">
              <a:buFontTx/>
              <a:buNone/>
            </a:pPr>
            <a:r>
              <a:rPr lang="en-US" altLang="en-US" b="1" i="1"/>
              <a:t>	for (var j = 1; j &lt;= howMany; j++) {</a:t>
            </a:r>
          </a:p>
          <a:p>
            <a:pPr lvl="1">
              <a:buFontTx/>
              <a:buNone/>
            </a:pPr>
            <a:r>
              <a:rPr lang="en-US" altLang="en-US" b="1" i="1"/>
              <a:t>			this[j] = initStr;</a:t>
            </a:r>
          </a:p>
          <a:p>
            <a:pPr lvl="1">
              <a:buFontTx/>
              <a:buNone/>
            </a:pPr>
            <a:r>
              <a:rPr lang="en-US" altLang="en-US" b="1" i="1"/>
              <a:t>	}</a:t>
            </a:r>
          </a:p>
          <a:p>
            <a:pPr lvl="1">
              <a:buFontTx/>
              <a:buNone/>
            </a:pPr>
            <a:r>
              <a:rPr lang="en-US" altLang="en-US" b="1" i="1"/>
              <a:t>}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333F444-8D9D-CCD3-4AEB-58FD483F59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EB1B9CB-F026-6A86-1619-23A05964D9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EE3CD7-5744-4460-B1CD-8770A9CEFB9C}" type="slidenum">
              <a:rPr lang="en-US" altLang="en-US"/>
              <a:pPr/>
              <a:t>101</a:t>
            </a:fld>
            <a:endParaRPr lang="en-US" altLang="en-US"/>
          </a:p>
        </p:txBody>
      </p:sp>
      <p:sp>
        <p:nvSpPr>
          <p:cNvPr id="117762" name="Rectangle 2">
            <a:extLst>
              <a:ext uri="{FF2B5EF4-FFF2-40B4-BE49-F238E27FC236}">
                <a16:creationId xmlns:a16="http://schemas.microsoft.com/office/drawing/2014/main" id="{5C5A4712-A05F-0304-8BC8-61EA6ED73B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for..in Statement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7269D121-0F8A-0AE6-A2B6-FC478CBADB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for (varName in objName) 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	forBody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}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b="1" i="1"/>
          </a:p>
          <a:p>
            <a:pPr>
              <a:lnSpc>
                <a:spcPct val="90000"/>
              </a:lnSpc>
            </a:pPr>
            <a:r>
              <a:rPr lang="en-US" altLang="en-US" b="1" i="1"/>
              <a:t>varName</a:t>
            </a:r>
            <a:r>
              <a:rPr lang="en-US" altLang="en-US"/>
              <a:t> takes on the successive property names of the object </a:t>
            </a:r>
            <a:r>
              <a:rPr lang="en-US" altLang="en-US" b="1" i="1"/>
              <a:t>objName</a:t>
            </a:r>
            <a:endParaRPr lang="en-US" alt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558C54FE-9B27-EA0D-E236-3A195B6928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4DE0190-5F0F-BF5F-1207-012CA59D4F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D9DC78-369F-41A7-B74F-0231C19C4858}" type="slidenum">
              <a:rPr lang="en-US" altLang="en-US"/>
              <a:pPr/>
              <a:t>102</a:t>
            </a:fld>
            <a:endParaRPr lang="en-US" altLang="en-US"/>
          </a:p>
        </p:txBody>
      </p:sp>
      <p:sp>
        <p:nvSpPr>
          <p:cNvPr id="118786" name="Rectangle 2">
            <a:extLst>
              <a:ext uri="{FF2B5EF4-FFF2-40B4-BE49-F238E27FC236}">
                <a16:creationId xmlns:a16="http://schemas.microsoft.com/office/drawing/2014/main" id="{354E8D54-6A42-8461-52D9-EE80E9AE4C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i="1"/>
              <a:t>for..in</a:t>
            </a:r>
            <a:r>
              <a:rPr lang="en-US" altLang="en-US"/>
              <a:t> Statement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17A47518-E711-66A1-B08E-1C4D32971F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function showAny(anyObj) 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	for (var iter in anyObj) 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		document.write(“&lt;br&gt;Property ” + 		iter + “ is ” + anyObj[iter]);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	}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	document.write(“&lt;br&gt;”);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}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52FD3B9-D5FC-ED25-1738-918FA3CD80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AD51CBE-0D5C-60AD-C84D-859900D6F5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69C3BA-4E53-4F62-9B9D-1E08CD28C468}" type="slidenum">
              <a:rPr lang="en-US" altLang="en-US"/>
              <a:pPr/>
              <a:t>103</a:t>
            </a:fld>
            <a:endParaRPr lang="en-US" altLang="en-US"/>
          </a:p>
        </p:txBody>
      </p:sp>
      <p:sp>
        <p:nvSpPr>
          <p:cNvPr id="119810" name="Rectangle 2">
            <a:extLst>
              <a:ext uri="{FF2B5EF4-FFF2-40B4-BE49-F238E27FC236}">
                <a16:creationId xmlns:a16="http://schemas.microsoft.com/office/drawing/2014/main" id="{4D310125-0998-B658-6C41-D75EA6FF73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Methods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79AAE4C3-4D0A-0BE0-BD3D-57A41D3B97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None/>
            </a:pPr>
            <a:r>
              <a:rPr lang="en-US" altLang="en-US" b="1" i="1"/>
              <a:t>function house(rms, stl, yr, garp) {</a:t>
            </a:r>
          </a:p>
          <a:p>
            <a:pPr lvl="1">
              <a:buFontTx/>
              <a:buNone/>
            </a:pPr>
            <a:r>
              <a:rPr lang="en-US" altLang="en-US" b="1" i="1"/>
              <a:t>	this.length = 5;</a:t>
            </a:r>
          </a:p>
          <a:p>
            <a:pPr lvl="1">
              <a:buFontTx/>
              <a:buNone/>
            </a:pPr>
            <a:r>
              <a:rPr lang="en-US" altLang="en-US" b="1" i="1"/>
              <a:t>	this.rooms = rms;</a:t>
            </a:r>
          </a:p>
          <a:p>
            <a:pPr lvl="1">
              <a:buFontTx/>
              <a:buNone/>
            </a:pPr>
            <a:r>
              <a:rPr lang="en-US" altLang="en-US" b="1" i="1"/>
              <a:t>	this.style = stl;</a:t>
            </a:r>
          </a:p>
          <a:p>
            <a:pPr lvl="1">
              <a:buFontTx/>
              <a:buNone/>
            </a:pPr>
            <a:r>
              <a:rPr lang="en-US" altLang="en-US" b="1" i="1"/>
              <a:t>	this.yearBuilt = yr;</a:t>
            </a:r>
          </a:p>
          <a:p>
            <a:pPr lvl="1">
              <a:buFontTx/>
              <a:buNone/>
            </a:pPr>
            <a:r>
              <a:rPr lang="en-US" altLang="en-US" b="1" i="1"/>
              <a:t>	this.hasGarage = gar;</a:t>
            </a:r>
          </a:p>
          <a:p>
            <a:pPr lvl="1">
              <a:buFontTx/>
              <a:buNone/>
            </a:pPr>
            <a:r>
              <a:rPr lang="en-US" altLang="en-US" b="1" i="1"/>
              <a:t>	this.show = mshowHouse;</a:t>
            </a:r>
          </a:p>
          <a:p>
            <a:pPr lvl="1">
              <a:buFontTx/>
              <a:buNone/>
            </a:pPr>
            <a:r>
              <a:rPr lang="en-US" altLang="en-US" b="1" i="1"/>
              <a:t>}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BF5E774-AAEA-65B2-9187-E93A8ED730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JavaScript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B5973A5-BF06-A676-24DE-F0388FEB95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FEBF10B-FCDC-4A55-B180-D624AFB4B846}" type="slidenum">
              <a:rPr lang="en-US" altLang="en-US"/>
              <a:pPr/>
              <a:t>104</a:t>
            </a:fld>
            <a:endParaRPr lang="en-US" altLang="en-US"/>
          </a:p>
        </p:txBody>
      </p:sp>
      <p:sp>
        <p:nvSpPr>
          <p:cNvPr id="120834" name="Rectangle 2">
            <a:extLst>
              <a:ext uri="{FF2B5EF4-FFF2-40B4-BE49-F238E27FC236}">
                <a16:creationId xmlns:a16="http://schemas.microsoft.com/office/drawing/2014/main" id="{0E31DD5A-D97F-08AE-DAEB-A8350A0AF8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Methods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BA04361B-0FBF-BD17-11A8-AD9AC00191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function mshowHouse( ) 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	var nprops = this.length;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	for (var iter = 1; iter &lt; nprops; 				iter++) {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		  document.write(“&lt;br&gt;Property ” + 		iter + “ is ” + this[iter]);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	    }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	document.write(“&lt;br&gt;”);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}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b="1" i="1"/>
              <a:t>myhouse.show( );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7BDA0BEE-C457-96C5-6C77-11B7AF5D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22238"/>
            <a:ext cx="7543800" cy="1020762"/>
          </a:xfrm>
        </p:spPr>
        <p:txBody>
          <a:bodyPr/>
          <a:lstStyle/>
          <a:p>
            <a:r>
              <a:rPr lang="en-US" altLang="en-US"/>
              <a:t>Anonymous functions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406D0640-2F4F-CA7A-3EFC-A2562090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771" y="1698172"/>
            <a:ext cx="10178143" cy="4419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adder = function(a, b)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“use strict”;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alt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sum = adder(1,3); </a:t>
            </a:r>
            <a:r>
              <a:rPr lang="en-US" altLang="en-US" sz="2000" b="1" dirty="0">
                <a:solidFill>
                  <a:srgbClr val="0099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called like a normal function!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800" b="1" dirty="0">
              <a:solidFill>
                <a:srgbClr val="0099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</a:rPr>
              <a:t>Note: Recursion is not possible with anonymous functions since internally the function cannot refer to itself by name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12BE1F64-25DB-28B7-2E9D-7A443B47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22238"/>
            <a:ext cx="7543800" cy="1020762"/>
          </a:xfrm>
        </p:spPr>
        <p:txBody>
          <a:bodyPr/>
          <a:lstStyle/>
          <a:p>
            <a:r>
              <a:rPr lang="en-US" altLang="en-US"/>
              <a:t>Fat arrow functions (JS6)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408DA6CB-2343-CA53-DC24-17FEDAFBF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719942"/>
            <a:ext cx="8229600" cy="384265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add = (</a:t>
            </a: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)=&gt;</a:t>
            </a: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sum = add(1,2); </a:t>
            </a:r>
            <a:r>
              <a:rPr lang="en-US" altLang="en-US" sz="2400" b="1" dirty="0">
                <a:solidFill>
                  <a:srgbClr val="0099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called like a normal function!</a:t>
            </a:r>
          </a:p>
          <a:p>
            <a:pPr marL="0" indent="0">
              <a:buNone/>
            </a:pPr>
            <a:r>
              <a:rPr lang="en-US" altLang="en-US" sz="3600" dirty="0">
                <a:solidFill>
                  <a:srgbClr val="FF0000"/>
                </a:solidFill>
              </a:rPr>
              <a:t>Similar to Java lambda’s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7FAD135A-B647-CF32-71EB-ECB1CD604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JavaScript supports objects, but without needing formal classes</a:t>
            </a:r>
            <a:r>
              <a:rPr lang="en-US" altLang="en-US" sz="4000">
                <a:solidFill>
                  <a:srgbClr val="FF0000"/>
                </a:solidFill>
              </a:rPr>
              <a:t>*</a:t>
            </a:r>
            <a:endParaRPr lang="en-US" altLang="en-US"/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131AF739-B80C-0845-9B46-02B39087A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>
                <a:solidFill>
                  <a:srgbClr val="FF0000"/>
                </a:solidFill>
              </a:rPr>
              <a:t>JS6 supports the class keyword, but this approach is optional and is considered “syntactic sugar”</a:t>
            </a:r>
          </a:p>
          <a:p>
            <a:pPr lvl="1"/>
            <a:r>
              <a:rPr lang="en-US" altLang="en-US" sz="2800">
                <a:solidFill>
                  <a:srgbClr val="0070C0"/>
                </a:solidFill>
              </a:rPr>
              <a:t>i.e. it doesn’t change the underlying mechanism, which is based on </a:t>
            </a:r>
            <a:r>
              <a:rPr lang="en-US" altLang="en-US" sz="2800" u="sng">
                <a:solidFill>
                  <a:srgbClr val="0070C0"/>
                </a:solidFill>
              </a:rPr>
              <a:t>prototypes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E080FE0E-0397-22FA-AC75-CF5E84E1A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22238"/>
            <a:ext cx="7543800" cy="715962"/>
          </a:xfrm>
        </p:spPr>
        <p:txBody>
          <a:bodyPr/>
          <a:lstStyle/>
          <a:p>
            <a:r>
              <a:rPr lang="en-US" altLang="en-US" sz="2800"/>
              <a:t>No-class objects via constructor functions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219E9697-B85C-2374-0FFA-CFE009561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230085"/>
            <a:ext cx="10787743" cy="48006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alt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MyObject</a:t>
            </a: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(param1, param2)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“use strict”;</a:t>
            </a:r>
            <a:b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this.property1 = param1; 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public attribute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this.property2 = param2; 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public attribute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this.doSomething</a:t>
            </a: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function(…) { 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public method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body goes here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x = new </a:t>
            </a:r>
            <a:r>
              <a:rPr lang="en-US" alt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MyObject</a:t>
            </a: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en-US" sz="2000" b="1" dirty="0">
                <a:solidFill>
                  <a:srgbClr val="0099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creation</a:t>
            </a:r>
            <a:endParaRPr lang="en-US" altLang="en-US" sz="2400" dirty="0">
              <a:solidFill>
                <a:srgbClr val="009999"/>
              </a:solidFill>
            </a:endParaRPr>
          </a:p>
          <a:p>
            <a:r>
              <a:rPr lang="en-US" altLang="en-US" sz="2400" dirty="0"/>
              <a:t>Looks like a regular function</a:t>
            </a:r>
          </a:p>
          <a:p>
            <a:r>
              <a:rPr lang="en-US" altLang="en-US" sz="2400" b="1" dirty="0">
                <a:solidFill>
                  <a:srgbClr val="FF0000"/>
                </a:solidFill>
              </a:rPr>
              <a:t>Always use a capital letter for the function name</a:t>
            </a:r>
            <a:endParaRPr lang="en-US" altLang="en-US" sz="2000" b="1" dirty="0">
              <a:solidFill>
                <a:srgbClr val="FF0000"/>
              </a:solidFill>
            </a:endParaRPr>
          </a:p>
          <a:p>
            <a:r>
              <a:rPr lang="en-US" altLang="en-US" sz="2400" dirty="0"/>
              <a:t>No formal attribute declarations</a:t>
            </a:r>
          </a:p>
          <a:p>
            <a:pPr lvl="1"/>
            <a:r>
              <a:rPr lang="en-US" altLang="en-US" sz="2000" dirty="0">
                <a:solidFill>
                  <a:srgbClr val="009900"/>
                </a:solidFill>
              </a:rPr>
              <a:t>Use of “this” automatically creates a public attribute</a:t>
            </a:r>
          </a:p>
          <a:p>
            <a:pPr lvl="2"/>
            <a:r>
              <a:rPr lang="en-US" altLang="en-US" sz="1800" dirty="0">
                <a:solidFill>
                  <a:srgbClr val="FF0000"/>
                </a:solidFill>
              </a:rPr>
              <a:t>Be careful; typos may introduce unwanted attributes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D14DF8F9-46BC-5E6A-8E9C-5E10DEC4A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69888"/>
            <a:ext cx="7543800" cy="715962"/>
          </a:xfrm>
        </p:spPr>
        <p:txBody>
          <a:bodyPr/>
          <a:lstStyle/>
          <a:p>
            <a:r>
              <a:rPr lang="en-US" altLang="en-US" sz="3200"/>
              <a:t>Making attributes and methods private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4CE17B80-E947-7764-6947-DBB0E55C8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066800"/>
            <a:ext cx="8229600" cy="4800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MyObject(param1, param2)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“use strict”;</a:t>
            </a:r>
            <a:br>
              <a:rPr lang="en-US" alt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property1 = param1; </a:t>
            </a:r>
            <a:r>
              <a:rPr lang="en-US" altLang="en-US" sz="20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en-US" sz="2000" b="1" u="sng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altLang="en-US" sz="20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attribute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this.property2 = param2; </a:t>
            </a:r>
            <a:r>
              <a:rPr lang="en-US" altLang="en-US" sz="20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public attribute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this.doSomething1 = function(…) { </a:t>
            </a:r>
            <a:r>
              <a:rPr lang="en-US" altLang="en-US" sz="20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public method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body goes here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0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doSomething2 = function(…) { </a:t>
            </a:r>
            <a:r>
              <a:rPr lang="en-US" altLang="en-US" sz="20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en-US" sz="2000" b="1" u="sng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altLang="en-US" sz="20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br>
              <a:rPr lang="en-US" altLang="en-US" sz="20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20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body goes here</a:t>
            </a:r>
            <a:br>
              <a:rPr lang="en-US" altLang="en-US" sz="20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x = new MyObject(x,y); </a:t>
            </a:r>
            <a:r>
              <a:rPr lang="en-US" altLang="en-US" sz="2000" b="1">
                <a:solidFill>
                  <a:srgbClr val="0099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creation</a:t>
            </a:r>
            <a:endParaRPr lang="en-US" altLang="en-US" sz="2400">
              <a:solidFill>
                <a:srgbClr val="009999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DB287E06-C6AE-0F22-B0A4-411E9F0AD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Literal objects</a:t>
            </a:r>
            <a:endParaRPr lang="en-US" altLang="en-US" sz="3600">
              <a:solidFill>
                <a:srgbClr val="FF0000"/>
              </a:solidFill>
            </a:endParaRPr>
          </a:p>
        </p:txBody>
      </p:sp>
      <p:sp>
        <p:nvSpPr>
          <p:cNvPr id="29701" name="Content Placeholder 2">
            <a:extLst>
              <a:ext uri="{FF2B5EF4-FFF2-40B4-BE49-F238E27FC236}">
                <a16:creationId xmlns:a16="http://schemas.microsoft.com/office/drawing/2014/main" id="{AF177FC8-67C8-9C03-2E4F-F421FDE22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47800"/>
            <a:ext cx="8229600" cy="5181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roscoe = {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“Roscoe”, </a:t>
            </a:r>
            <a:r>
              <a:rPr lang="en-US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public </a:t>
            </a:r>
            <a:r>
              <a:rPr lang="en-US" altLang="en-US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endParaRPr lang="en-US" altLang="en-US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“Raider”, </a:t>
            </a:r>
            <a:r>
              <a:rPr lang="en-US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public </a:t>
            </a:r>
            <a:r>
              <a:rPr lang="en-US" altLang="en-US" sz="24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endParaRPr lang="en-US" altLang="en-US" sz="24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getFullname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function(){ </a:t>
            </a:r>
            <a:r>
              <a:rPr lang="en-US" alt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public method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return </a:t>
            </a: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this.firstName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				</a:t>
            </a: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this.lastName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en-US" altLang="en-US" sz="2000" b="1" dirty="0"/>
              <a:t>This is a kind of Singleton for </a:t>
            </a:r>
            <a:r>
              <a:rPr lang="en-US" altLang="en-US" sz="2000" b="1" dirty="0" err="1"/>
              <a:t>Javascript</a:t>
            </a:r>
            <a:endParaRPr lang="en-US" altLang="en-US" sz="2000" b="1" dirty="0"/>
          </a:p>
          <a:p>
            <a:pPr marL="0" indent="0">
              <a:buNone/>
              <a:defRPr/>
            </a:pPr>
            <a:endParaRPr lang="en-US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F292D4BA-BA25-BCA0-ED34-895559C89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JS6 class approach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8571A78F-7277-41D9-6C50-0C312DFB6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MyObject</a:t>
            </a: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“use strict”;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constructor</a:t>
            </a: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(param1, param2) {</a:t>
            </a:r>
            <a:b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property1 = param1; 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en-US" sz="1800" b="1" u="sng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attribute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this.property2 = param2; 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public attribute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this.doSomething1 = function(…) { 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public method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body goes here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end constructor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8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doSomething2 = function(…) { 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en-US" sz="1800" b="1" u="sng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method</a:t>
            </a:r>
            <a:b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function body goes here</a:t>
            </a:r>
            <a:b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end class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x = new </a:t>
            </a:r>
            <a:r>
              <a:rPr lang="en-US" altLang="en-US" sz="1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MyObject</a:t>
            </a: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creation (same as JS5)</a:t>
            </a:r>
            <a:endParaRPr lang="en-US" altLang="en-US" sz="18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085B155F-42D6-F9C2-5A8B-13F1AC10C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390525"/>
            <a:ext cx="7543800" cy="1295400"/>
          </a:xfrm>
        </p:spPr>
        <p:txBody>
          <a:bodyPr>
            <a:normAutofit fontScale="90000"/>
          </a:bodyPr>
          <a:lstStyle/>
          <a:p>
            <a:r>
              <a:rPr lang="en-US" altLang="en-US" sz="3200"/>
              <a:t>Using a Javascript constructor to create objects (same approach whether class-based or not</a:t>
            </a:r>
            <a:r>
              <a:rPr lang="en-US" altLang="en-US"/>
              <a:t>)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AF3AA092-54FA-418C-2086-E9389384E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=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MyObject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(“arg1”, “arg2”);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x.setXXX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(“arg1b”);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 = 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x.getXXX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  <a:defRPr/>
            </a:pPr>
            <a:endParaRPr lang="en-US" altLang="en-US" dirty="0">
              <a:solidFill>
                <a:srgbClr val="FF0000"/>
              </a:solidFill>
            </a:endParaRPr>
          </a:p>
          <a:p>
            <a:pPr marL="0" indent="0">
              <a:buNone/>
              <a:defRPr/>
            </a:pPr>
            <a:r>
              <a:rPr lang="en-US" altLang="en-US" dirty="0">
                <a:solidFill>
                  <a:srgbClr val="FF0000"/>
                </a:solidFill>
              </a:rPr>
              <a:t>Always use ‘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altLang="en-US" dirty="0">
                <a:solidFill>
                  <a:srgbClr val="FF0000"/>
                </a:solidFill>
              </a:rPr>
              <a:t>’; otherwise the effect will be to simply call </a:t>
            </a:r>
            <a:r>
              <a:rPr lang="en-US" altLang="en-US" dirty="0" err="1">
                <a:solidFill>
                  <a:srgbClr val="FF0000"/>
                </a:solidFill>
              </a:rPr>
              <a:t>MyObject</a:t>
            </a:r>
            <a:r>
              <a:rPr lang="en-US" altLang="en-US" dirty="0">
                <a:solidFill>
                  <a:srgbClr val="FF0000"/>
                </a:solidFill>
              </a:rPr>
              <a:t> as a normal function.</a:t>
            </a:r>
          </a:p>
          <a:p>
            <a:pPr lvl="1"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No instance of </a:t>
            </a:r>
            <a:r>
              <a:rPr lang="en-US" altLang="en-US" sz="2000" dirty="0" err="1">
                <a:solidFill>
                  <a:srgbClr val="FF0000"/>
                </a:solidFill>
              </a:rPr>
              <a:t>MyObject</a:t>
            </a:r>
            <a:r>
              <a:rPr lang="en-US" altLang="en-US" sz="2000" dirty="0">
                <a:solidFill>
                  <a:srgbClr val="FF0000"/>
                </a:solidFill>
              </a:rPr>
              <a:t> would be created.</a:t>
            </a:r>
          </a:p>
          <a:p>
            <a:pPr lvl="1">
              <a:defRPr/>
            </a:pPr>
            <a:r>
              <a:rPr lang="en-US" altLang="en-US" sz="2000" dirty="0">
                <a:solidFill>
                  <a:srgbClr val="FF0000"/>
                </a:solidFill>
              </a:rPr>
              <a:t>The attributes would be added to the “window” object </a:t>
            </a:r>
            <a:r>
              <a:rPr lang="en-US" altLang="en-US" sz="2000" dirty="0" err="1">
                <a:solidFill>
                  <a:srgbClr val="FF0000"/>
                </a:solidFill>
              </a:rPr>
              <a:t>instanct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en-US" sz="3200" dirty="0">
              <a:solidFill>
                <a:srgbClr val="0000FF"/>
              </a:solidFill>
            </a:endParaRPr>
          </a:p>
          <a:p>
            <a:pPr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8675F44C-40A7-C978-91A5-B0F1FAF23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22238"/>
            <a:ext cx="7543800" cy="1858962"/>
          </a:xfrm>
        </p:spPr>
        <p:txBody>
          <a:bodyPr/>
          <a:lstStyle/>
          <a:p>
            <a:r>
              <a:rPr lang="en-US" altLang="en-US" sz="3200" dirty="0"/>
              <a:t>JavaScript “core API” defines only a few native objects – the remainder come from the hosting environment (i.e. the browser)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C35494F7-5105-3CBE-2ADD-EDAC36A5E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2329544"/>
            <a:ext cx="8229600" cy="3268663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400" dirty="0">
                <a:solidFill>
                  <a:srgbClr val="0000FF"/>
                </a:solidFill>
              </a:rPr>
              <a:t>String</a:t>
            </a:r>
            <a:r>
              <a:rPr lang="en-US" altLang="en-US" sz="2400" dirty="0"/>
              <a:t> – similar to the Java String class</a:t>
            </a:r>
          </a:p>
          <a:p>
            <a:r>
              <a:rPr lang="en-US" altLang="en-US" sz="2400" dirty="0">
                <a:solidFill>
                  <a:srgbClr val="0000FF"/>
                </a:solidFill>
              </a:rPr>
              <a:t>Array</a:t>
            </a:r>
            <a:r>
              <a:rPr lang="en-US" altLang="en-US" sz="2400" dirty="0"/>
              <a:t> – generic container/collection class</a:t>
            </a:r>
          </a:p>
          <a:p>
            <a:r>
              <a:rPr lang="en-US" altLang="en-US" sz="2400" dirty="0">
                <a:solidFill>
                  <a:srgbClr val="0000FF"/>
                </a:solidFill>
              </a:rPr>
              <a:t>Math</a:t>
            </a:r>
            <a:r>
              <a:rPr lang="en-US" altLang="en-US" sz="2400" dirty="0"/>
              <a:t> - like the Java Math class</a:t>
            </a:r>
          </a:p>
          <a:p>
            <a:r>
              <a:rPr lang="en-US" altLang="en-US" sz="2400" dirty="0">
                <a:solidFill>
                  <a:srgbClr val="0000FF"/>
                </a:solidFill>
              </a:rPr>
              <a:t>Number, Boolean</a:t>
            </a:r>
            <a:r>
              <a:rPr lang="en-US" altLang="en-US" sz="2400" dirty="0"/>
              <a:t> – wrapper classes similar to Java wrapper classes (Integer, Double </a:t>
            </a:r>
            <a:r>
              <a:rPr lang="en-US" altLang="en-US" sz="2400" dirty="0" err="1"/>
              <a:t>etc</a:t>
            </a:r>
            <a:r>
              <a:rPr lang="en-US" altLang="en-US" sz="2400" dirty="0"/>
              <a:t>)</a:t>
            </a:r>
          </a:p>
          <a:p>
            <a:pPr lvl="1"/>
            <a:r>
              <a:rPr lang="en-US" altLang="en-US" sz="2000" dirty="0"/>
              <a:t>var x = 123; // x is treated as a Number</a:t>
            </a:r>
          </a:p>
          <a:p>
            <a:pPr lvl="1"/>
            <a:r>
              <a:rPr lang="en-US" altLang="en-US" sz="2000" dirty="0"/>
              <a:t>var y = “123”; // y is treated as a String</a:t>
            </a:r>
          </a:p>
          <a:p>
            <a:pPr lvl="1"/>
            <a:r>
              <a:rPr lang="en-US" altLang="en-US" sz="2000" dirty="0"/>
              <a:t>var z = new Number(“123”); // z is a Number</a:t>
            </a:r>
          </a:p>
          <a:p>
            <a:r>
              <a:rPr lang="en-US" altLang="en-US" sz="2400" dirty="0">
                <a:solidFill>
                  <a:srgbClr val="0000FF"/>
                </a:solidFill>
              </a:rPr>
              <a:t>Date</a:t>
            </a:r>
            <a:r>
              <a:rPr lang="en-US" altLang="en-US" sz="2400" dirty="0"/>
              <a:t> – represents dates and times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7A81914B-EAE5-2241-0D7F-8EEF1B53B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Other Javascript features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2C45DA40-4783-14B2-487F-965706855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Functions are actually objects!</a:t>
            </a:r>
          </a:p>
          <a:p>
            <a:pPr lvl="1"/>
            <a:r>
              <a:rPr lang="en-US" altLang="en-US"/>
              <a:t>Having their own properties and methods</a:t>
            </a:r>
          </a:p>
          <a:p>
            <a:r>
              <a:rPr lang="en-US" altLang="en-US"/>
              <a:t>Functions can be passed as arguments to other Functions </a:t>
            </a:r>
          </a:p>
          <a:p>
            <a:pPr lvl="1"/>
            <a:r>
              <a:rPr lang="en-US" altLang="en-US"/>
              <a:t>C/C++ can do this, but Java cannot</a:t>
            </a:r>
          </a:p>
          <a:p>
            <a:r>
              <a:rPr lang="en-US" altLang="en-US"/>
              <a:t>Functions can nest other Functions</a:t>
            </a:r>
          </a:p>
          <a:p>
            <a:r>
              <a:rPr lang="en-US" altLang="en-US"/>
              <a:t>Functions are called </a:t>
            </a:r>
            <a:r>
              <a:rPr lang="en-US" altLang="en-US" b="1"/>
              <a:t>methods</a:t>
            </a:r>
            <a:r>
              <a:rPr lang="en-US" altLang="en-US"/>
              <a:t> when they are defined within an object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23258" y="3679371"/>
            <a:ext cx="10711541" cy="3178629"/>
          </a:xfrm>
        </p:spPr>
        <p:txBody>
          <a:bodyPr>
            <a:normAutofit/>
          </a:bodyPr>
          <a:lstStyle/>
          <a:p>
            <a:r>
              <a:rPr lang="en-US" dirty="0"/>
              <a:t>variables are declared with the </a:t>
            </a:r>
            <a:r>
              <a:rPr lang="en-US" dirty="0" err="1"/>
              <a:t>var</a:t>
            </a:r>
            <a:r>
              <a:rPr lang="en-US" dirty="0"/>
              <a:t> keyword (case sensitive)</a:t>
            </a:r>
          </a:p>
          <a:p>
            <a:r>
              <a:rPr lang="en-US" dirty="0"/>
              <a:t>types are not specified, but JS does have types ("loosely typed")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Number, Boolean, String, Array, Object, Function, Null, Undefined</a:t>
            </a:r>
          </a:p>
          <a:p>
            <a:pPr lvl="1"/>
            <a:r>
              <a:rPr lang="en-US" dirty="0"/>
              <a:t>can find out a variable's type by calling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typeof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3600" y="1600200"/>
            <a:ext cx="8153400" cy="369332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var name = expression;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	 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3600" y="2221468"/>
            <a:ext cx="8153400" cy="923330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clientName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"Connie Client";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age = 32;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var weight = 127.4;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06020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type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36914" y="3336924"/>
            <a:ext cx="10232572" cy="3521076"/>
          </a:xfrm>
        </p:spPr>
        <p:txBody>
          <a:bodyPr>
            <a:normAutofit/>
          </a:bodyPr>
          <a:lstStyle/>
          <a:p>
            <a:r>
              <a:rPr lang="en-US" dirty="0"/>
              <a:t>integers and real numbers are the same type </a:t>
            </a:r>
          </a:p>
          <a:p>
            <a:r>
              <a:rPr lang="en-US" dirty="0"/>
              <a:t>same operators: + - * / % ++ -- = += -= *= /= %=</a:t>
            </a:r>
          </a:p>
          <a:p>
            <a:r>
              <a:rPr lang="en-US" dirty="0"/>
              <a:t>similar precedence to Java</a:t>
            </a:r>
          </a:p>
          <a:p>
            <a:r>
              <a:rPr lang="en-US" dirty="0"/>
              <a:t>many operators auto-convert types: "2" * 3 is 6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3600" y="1600201"/>
            <a:ext cx="8153400" cy="1200329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enrollment = 99;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medianGrade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2.8;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var credits = 5 + 4 + (2 * 3);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         							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98971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36648" y="2971799"/>
            <a:ext cx="8153400" cy="3624943"/>
          </a:xfrm>
        </p:spPr>
        <p:txBody>
          <a:bodyPr>
            <a:normAutofit/>
          </a:bodyPr>
          <a:lstStyle/>
          <a:p>
            <a:r>
              <a:rPr lang="en-US" dirty="0"/>
              <a:t>comment syntaxes</a:t>
            </a:r>
          </a:p>
          <a:p>
            <a:pPr lvl="1"/>
            <a:r>
              <a:rPr lang="en-US" dirty="0"/>
              <a:t>HTML: &lt;!-- comment --&gt;</a:t>
            </a:r>
          </a:p>
          <a:p>
            <a:pPr lvl="1"/>
            <a:r>
              <a:rPr lang="en-US" dirty="0"/>
              <a:t>CSS/JS/PHP: /* comment */</a:t>
            </a:r>
          </a:p>
          <a:p>
            <a:pPr lvl="1"/>
            <a:r>
              <a:rPr lang="en-US" dirty="0"/>
              <a:t>Java/JS/PHP: // comment</a:t>
            </a:r>
          </a:p>
          <a:p>
            <a:pPr lvl="1"/>
            <a:r>
              <a:rPr lang="en-US" dirty="0"/>
              <a:t>PHP: # comment</a:t>
            </a:r>
            <a:endParaRPr lang="en-US" sz="21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3600" y="1600200"/>
            <a:ext cx="8153400" cy="923330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// single-line comment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/* multi-line comment */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         							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90940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Math object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3600" y="1600200"/>
            <a:ext cx="8153400" cy="923330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rand1to10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Math.floor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Math.random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* 10 + 1);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three 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Math.floor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Math.PI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	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			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838200" y="3429000"/>
            <a:ext cx="10951028" cy="3320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methods: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abs, ceil,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cos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, floor, log, max, min,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pow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, random, round, sin, </a:t>
            </a:r>
            <a:r>
              <a:rPr lang="en-US" sz="2800" dirty="0" err="1"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, tan</a:t>
            </a:r>
          </a:p>
          <a:p>
            <a:r>
              <a:rPr lang="en-US" dirty="0"/>
              <a:t>properties: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E, PI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15673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Special values: null and undefined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62843" y="1958182"/>
            <a:ext cx="8153400" cy="2031325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ned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null;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benson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9;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// at this point in the code,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ned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is null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benson's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9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caroline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is undefined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	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				  	  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838200" y="4409402"/>
            <a:ext cx="10602686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ourier New" pitchFamily="49" charset="0"/>
                <a:cs typeface="Courier New" pitchFamily="49" charset="0"/>
              </a:rPr>
              <a:t>undefined</a:t>
            </a:r>
            <a:r>
              <a:rPr lang="en-US" dirty="0"/>
              <a:t> : has not been declared, does not exist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null</a:t>
            </a:r>
            <a:r>
              <a:rPr lang="en-US" dirty="0"/>
              <a:t> : exists, but was specifically assigned an empty or null value</a:t>
            </a:r>
          </a:p>
          <a:p>
            <a:r>
              <a:rPr lang="en-US" dirty="0"/>
              <a:t>Why does JavaScript have both of these?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30968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Logical operators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2086897" y="1752600"/>
            <a:ext cx="815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&gt; &lt; &gt;= &lt;= &amp;&amp; || ! == != === !==</a:t>
            </a:r>
          </a:p>
          <a:p>
            <a:r>
              <a:rPr lang="en-US" dirty="0"/>
              <a:t>most logical operators automatically convert types:</a:t>
            </a:r>
          </a:p>
          <a:p>
            <a:pPr lvl="1"/>
            <a:r>
              <a:rPr lang="en-US" dirty="0"/>
              <a:t>5 &lt; "7" is true</a:t>
            </a:r>
          </a:p>
          <a:p>
            <a:pPr lvl="1"/>
            <a:r>
              <a:rPr lang="en-US" dirty="0"/>
              <a:t>42 == 42.0 is true</a:t>
            </a:r>
          </a:p>
          <a:p>
            <a:pPr lvl="1"/>
            <a:r>
              <a:rPr lang="en-US" dirty="0"/>
              <a:t>"5.0" == 5 is true</a:t>
            </a:r>
          </a:p>
          <a:p>
            <a:r>
              <a:rPr lang="en-US" dirty="0"/>
              <a:t>=== and !== are strict equality tests; checks both type and value</a:t>
            </a:r>
          </a:p>
          <a:p>
            <a:pPr lvl="1"/>
            <a:r>
              <a:rPr lang="en-US" dirty="0"/>
              <a:t>"5.0" === 5 is false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85812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if/else statement (same as Java)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3600" y="1600200"/>
            <a:ext cx="8153400" cy="2308324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if (condition)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statements;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 else if (condition)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statements;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 else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statements;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nn-NO" dirty="0">
                <a:latin typeface="Courier New" pitchFamily="49" charset="0"/>
                <a:cs typeface="Courier New" pitchFamily="49" charset="0"/>
              </a:rPr>
              <a:t>		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2019300" y="4310743"/>
            <a:ext cx="815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identical structure to Java's if/else statement</a:t>
            </a:r>
          </a:p>
          <a:p>
            <a:r>
              <a:rPr lang="en-US" dirty="0"/>
              <a:t>JavaScript allows almost anything as a condition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93490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type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3600" y="1600200"/>
            <a:ext cx="8153400" cy="1477328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iLike190M = true;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ieIsGood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"IE6" &gt; 0; // false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if ("web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devevelopment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is great") { /* true */ 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if (0) { /* false */ }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			         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2019300" y="3298372"/>
            <a:ext cx="815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any value can be used as a Boolean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falsey</a:t>
            </a:r>
            <a:r>
              <a:rPr lang="en-US" dirty="0"/>
              <a:t>" values: 0, 0.0, </a:t>
            </a:r>
            <a:r>
              <a:rPr lang="en-US" dirty="0" err="1"/>
              <a:t>NaN</a:t>
            </a:r>
            <a:r>
              <a:rPr lang="en-US" dirty="0"/>
              <a:t>, "", null, and undefined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truthy</a:t>
            </a:r>
            <a:r>
              <a:rPr lang="en-US" dirty="0"/>
              <a:t>" values: anything else</a:t>
            </a:r>
          </a:p>
          <a:p>
            <a:r>
              <a:rPr lang="en-US" dirty="0"/>
              <a:t>converting a value into a Boolean explicitly:</a:t>
            </a:r>
          </a:p>
          <a:p>
            <a:pPr lvl="1"/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boolValue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= Boolean(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otherValue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lvl="1"/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boolValue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= !!(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otherValue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);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43651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for loop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3600" y="1600201"/>
            <a:ext cx="8153400" cy="1200329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n-NO" dirty="0">
                <a:latin typeface="Courier New" pitchFamily="49" charset="0"/>
                <a:cs typeface="Courier New" pitchFamily="49" charset="0"/>
              </a:rPr>
              <a:t>var sum = 0;</a:t>
            </a:r>
          </a:p>
          <a:p>
            <a:r>
              <a:rPr lang="nn-NO" b="1" dirty="0">
                <a:latin typeface="Courier New" pitchFamily="49" charset="0"/>
                <a:cs typeface="Courier New" pitchFamily="49" charset="0"/>
              </a:rPr>
              <a:t>for (var i = 0; i &lt; 100; i++) {</a:t>
            </a:r>
          </a:p>
          <a:p>
            <a:r>
              <a:rPr lang="nn-NO" dirty="0">
                <a:latin typeface="Courier New" pitchFamily="49" charset="0"/>
                <a:cs typeface="Courier New" pitchFamily="49" charset="0"/>
              </a:rPr>
              <a:t>	sum = sum + i;</a:t>
            </a:r>
          </a:p>
          <a:p>
            <a:r>
              <a:rPr lang="nn-NO" dirty="0">
                <a:latin typeface="Courier New" pitchFamily="49" charset="0"/>
                <a:cs typeface="Courier New" pitchFamily="49" charset="0"/>
              </a:rPr>
              <a:t>}			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33600" y="3048000"/>
            <a:ext cx="8153400" cy="1754326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s1 = "hello";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s2 = "";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i = 0; i &lt;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s.length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 i++)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s2 += s1.charAt(i) + s1.charAt(i);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// s2 stores 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hheelllloo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		   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74990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loops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3600" y="1600200"/>
            <a:ext cx="8153400" cy="923330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while (condition)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	statements;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2057400" y="4343400"/>
            <a:ext cx="815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break and continue keywords also behave as in Java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33600" y="2962871"/>
            <a:ext cx="8153400" cy="1200329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do {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statements;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} while (condition);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						  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19555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Popup boxes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5056" y="1940101"/>
            <a:ext cx="10638743" cy="1200329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alert("message"); // message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confirm("message"); // returns true or false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prompt("message"); // returns user input string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	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2" y="3842804"/>
            <a:ext cx="4910138" cy="1866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56" y="3899535"/>
            <a:ext cx="4913539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638940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3600" y="1600201"/>
            <a:ext cx="8153400" cy="1200329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name = []; // empty array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name = [value, value, ..., value]; // pre-filled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name[index] = value; // store element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		  	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33600" y="2990672"/>
            <a:ext cx="8153400" cy="2031325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ducks = ["Huey", "Dewey", "Louie"];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stooges = [];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stooges.length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is 0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stooges[0] = "Larry";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stooges.length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is 1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stooges[1] = "Moe";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stooges.length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is 2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stooges[4] = "Curly";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stooges.length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is 5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stooges[4] = 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Shemp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";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stooges.length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is 5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		  	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36933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methods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3600" y="1397675"/>
            <a:ext cx="8153400" cy="2031325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 = ["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Stef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", "Jason"];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Stef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Jason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a.push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("Brian");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Stef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Jason, Brian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a.unshift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("Kelly"); // Kelly,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Stef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Jason, Brian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a.pop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 // Kelly,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Stef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Jason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a.shift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Stef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, Jason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a.sort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 // Jason,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Stef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		  		  	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019300" y="3495002"/>
            <a:ext cx="815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array serves as many data structures: list, queue, stack, ...</a:t>
            </a:r>
          </a:p>
          <a:p>
            <a:r>
              <a:rPr lang="en-US" sz="2800" dirty="0"/>
              <a:t>methods: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concat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, join, pop, push, reverse, shift, slice, sort, splice,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toString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unshift</a:t>
            </a:r>
            <a:endParaRPr lang="en-US" sz="28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2400" dirty="0"/>
              <a:t>push and pop add / remove from back</a:t>
            </a:r>
          </a:p>
          <a:p>
            <a:pPr lvl="1"/>
            <a:r>
              <a:rPr lang="en-US" sz="2400" dirty="0" err="1"/>
              <a:t>unshift</a:t>
            </a:r>
            <a:r>
              <a:rPr lang="en-US" sz="2400" dirty="0"/>
              <a:t> and shift add / remove from front</a:t>
            </a:r>
          </a:p>
          <a:p>
            <a:pPr lvl="1"/>
            <a:r>
              <a:rPr lang="en-US" sz="2400" dirty="0"/>
              <a:t>shift and pop return the element that is removed</a:t>
            </a:r>
            <a:endParaRPr lang="en-US" sz="105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63306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dirty="0"/>
              <a:t> type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21229" y="3320144"/>
            <a:ext cx="10515600" cy="317273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methods: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charAt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charCodeAt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fromCharCode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indexOf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lastIndexOf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, replace, split, substring,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toLowerCase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toUpperCase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 err="1"/>
              <a:t>charAt</a:t>
            </a:r>
            <a:r>
              <a:rPr lang="en-US" dirty="0"/>
              <a:t> returns a one-letter String (there is no char type)</a:t>
            </a:r>
          </a:p>
          <a:p>
            <a:r>
              <a:rPr lang="en-US" dirty="0"/>
              <a:t>length property (not a method as in Java)</a:t>
            </a:r>
          </a:p>
          <a:p>
            <a:r>
              <a:rPr lang="en-US" dirty="0"/>
              <a:t>Strings can be specified with "" or ''</a:t>
            </a:r>
          </a:p>
          <a:p>
            <a:r>
              <a:rPr lang="en-US" dirty="0"/>
              <a:t>concatenation with + :</a:t>
            </a:r>
          </a:p>
          <a:p>
            <a:pPr lvl="1"/>
            <a:r>
              <a:rPr lang="en-US" dirty="0"/>
              <a:t>1 + 1 is 2, but "1" + 1 is "11"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3600" y="1600200"/>
            <a:ext cx="8153400" cy="1477328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 = "Connie Client";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fName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s.substring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(0,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s.indexOf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 ")); // "Connie"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s.length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 // 13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var s2 = 'Melvin Merchant';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		         							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21303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More about </a:t>
            </a:r>
            <a:r>
              <a:rPr lang="en-US" sz="4000" dirty="0">
                <a:latin typeface="Courier New" pitchFamily="49" charset="0"/>
                <a:cs typeface="Courier New" pitchFamily="49" charset="0"/>
              </a:rPr>
              <a:t>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36648" y="4724400"/>
            <a:ext cx="8153400" cy="1219200"/>
          </a:xfrm>
        </p:spPr>
        <p:txBody>
          <a:bodyPr/>
          <a:lstStyle/>
          <a:p>
            <a:r>
              <a:rPr lang="en-US" dirty="0"/>
              <a:t>accessing the letters of a String: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3600" y="2895600"/>
            <a:ext cx="8153400" cy="1754326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count = 10;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s1 = "" + count; // "10"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s2 = count + " bananas, ah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!"; // "10 bananas, ah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!"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n1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parseInt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("42 is the answer"); // 42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var n2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parseFloat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("booyah"); //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NaN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47800" y="1447800"/>
            <a:ext cx="8994648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escape sequences behave as in Java: \' \" \&amp; \n \t \\</a:t>
            </a:r>
          </a:p>
          <a:p>
            <a:r>
              <a:rPr lang="en-US" dirty="0"/>
              <a:t>converting between numbers and Strings: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33600" y="5256074"/>
            <a:ext cx="8153400" cy="923330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firstLetter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s[0]; // fails in IE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firstLetter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s.charAt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(0); // does work in IE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var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lastLetter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s.charAt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s.length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- 1);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32861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Splitting strings: split and join</a:t>
            </a:r>
            <a:endParaRPr lang="en-US" sz="4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33600" y="1524000"/>
            <a:ext cx="8153400" cy="1477328"/>
          </a:xfrm>
          <a:prstGeom prst="rect">
            <a:avLst/>
          </a:prstGeom>
          <a:solidFill>
            <a:srgbClr val="F4F6A8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 = "the quick brown fox";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s.split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 "); // ["the", "quick", "brown", "fox"]</a:t>
            </a: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a.reverse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(); // ["fox", "brown", "quick", "the"]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s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a.join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("!"); // "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fox!brown!quick!the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nn-NO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		           	  	  		  	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057400" y="3352800"/>
            <a:ext cx="815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split breaks apart a string into an array using a delimiter</a:t>
            </a:r>
          </a:p>
          <a:p>
            <a:pPr lvl="1"/>
            <a:r>
              <a:rPr lang="en-US" dirty="0"/>
              <a:t>can also be used with regular expressions (seen later)</a:t>
            </a:r>
          </a:p>
          <a:p>
            <a:r>
              <a:rPr lang="en-US" dirty="0"/>
              <a:t>join merges an array into a single string, placing a delimiter between them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24678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F5E3D4E-D70C-CB66-68C9-73EA5E7E45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Typical JavaScript Applications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D3224AD-8781-2948-F545-2B5C0A31D4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Post a page, sent from some server, back to the server with client supplied data</a:t>
            </a:r>
          </a:p>
          <a:p>
            <a:pPr eaLnBrk="1" hangingPunct="1"/>
            <a:r>
              <a:rPr lang="en-US" altLang="en-US"/>
              <a:t>Validate Form fields on client side</a:t>
            </a:r>
          </a:p>
          <a:p>
            <a:pPr eaLnBrk="1" hangingPunct="1"/>
            <a:r>
              <a:rPr lang="en-US" altLang="en-US"/>
              <a:t>Alter the style of page elements based on mouse events</a:t>
            </a:r>
          </a:p>
          <a:p>
            <a:pPr eaLnBrk="1" hangingPunct="1"/>
            <a:r>
              <a:rPr lang="en-US" altLang="en-US"/>
              <a:t>Hide, show, and move page elements</a:t>
            </a:r>
          </a:p>
          <a:p>
            <a:pPr eaLnBrk="1" hangingPunct="1"/>
            <a:r>
              <a:rPr lang="en-US" altLang="en-US"/>
              <a:t>Manage page scrolling</a:t>
            </a:r>
          </a:p>
          <a:p>
            <a:pPr eaLnBrk="1" hangingPunct="1"/>
            <a:r>
              <a:rPr lang="en-US" altLang="en-US"/>
              <a:t>Set and retrieve cookies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4A6DCFF-7C15-4B08-73AC-3CC503FC2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800"/>
              <a:t>What JavaScript cannot do for reasons of security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1BC959-35FC-22F9-1516-0C30EA649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Cannot read or write files to the filesystem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IIS and IE provide filesystem objects that script can use to do that.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Cannot execute other programs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Cannot establish communication with another computer other than to download a page or send mail.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IE provides the File object that script can use to upload and download files.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Cannot read the browser history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Cannot act on the DOM of another page that did not come from the same server.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C712353-290E-CECF-B2F8-F1D78B283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Javascript Types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169EE2F-BACD-6687-392A-30DF111A8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Most Objects are reference types:</a:t>
            </a:r>
          </a:p>
          <a:p>
            <a:pPr lvl="1" eaLnBrk="1" hangingPunct="1"/>
            <a:r>
              <a:rPr lang="en-US" altLang="en-US"/>
              <a:t>DOM object, user-defined object, array</a:t>
            </a:r>
            <a:br>
              <a:rPr lang="en-US" altLang="en-US" sz="900"/>
            </a:br>
            <a:endParaRPr lang="en-US" altLang="en-US" sz="900"/>
          </a:p>
          <a:p>
            <a:pPr eaLnBrk="1" hangingPunct="1"/>
            <a:r>
              <a:rPr lang="en-US" altLang="en-US"/>
              <a:t>Other types are value types:</a:t>
            </a:r>
          </a:p>
          <a:p>
            <a:pPr lvl="1" eaLnBrk="1" hangingPunct="1"/>
            <a:r>
              <a:rPr lang="en-US" altLang="en-US"/>
              <a:t>String, Number, Boolean</a:t>
            </a:r>
          </a:p>
          <a:p>
            <a:pPr lvl="1" eaLnBrk="1" hangingPunct="1"/>
            <a:r>
              <a:rPr lang="en-US" altLang="en-US"/>
              <a:t>Literals, e.g., “a string”, 5, true</a:t>
            </a:r>
            <a:endParaRPr lang="en-US" altLang="en-US" sz="900"/>
          </a:p>
          <a:p>
            <a:pPr lvl="1" eaLnBrk="1" hangingPunct="1"/>
            <a:endParaRPr lang="en-US" altLang="en-US" sz="900"/>
          </a:p>
          <a:p>
            <a:pPr eaLnBrk="1" hangingPunct="1"/>
            <a:r>
              <a:rPr lang="en-US" altLang="en-US"/>
              <a:t>Everything is either a literal or an object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69268F8-7CF2-53D5-53B3-0E773D5DC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Strings, Numbers, and Booleans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BB1D2F3-1585-C094-159B-CC02B5C80E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 s1 = “this is a literal string”;</a:t>
            </a:r>
          </a:p>
          <a:p>
            <a:pPr eaLnBrk="1" hangingPunct="1"/>
            <a:r>
              <a:rPr lang="en-US" altLang="en-US"/>
              <a:t>var s2 = new String(“this is a string object”);</a:t>
            </a:r>
          </a:p>
          <a:p>
            <a:pPr eaLnBrk="1" hangingPunct="1"/>
            <a:r>
              <a:rPr lang="en-US" altLang="en-US"/>
              <a:t>var i = 3;</a:t>
            </a:r>
          </a:p>
          <a:p>
            <a:pPr eaLnBrk="1" hangingPunct="1"/>
            <a:r>
              <a:rPr lang="en-US" altLang="en-US"/>
              <a:t>var d = 3.1415927;</a:t>
            </a:r>
          </a:p>
          <a:p>
            <a:pPr eaLnBrk="1" hangingPunct="1"/>
            <a:r>
              <a:rPr lang="en-US" altLang="en-US"/>
              <a:t>var d2 = new Number(“34.2e-3”);</a:t>
            </a:r>
          </a:p>
          <a:p>
            <a:pPr eaLnBrk="1" hangingPunct="1"/>
            <a:r>
              <a:rPr lang="en-US" altLang="en-US"/>
              <a:t>var b1 = true; 	// note: not “true”</a:t>
            </a:r>
          </a:p>
          <a:p>
            <a:pPr eaLnBrk="1" hangingPunct="1"/>
            <a:r>
              <a:rPr lang="en-US" altLang="en-US"/>
              <a:t>var b2 = new Boolean(false);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34E73F7-9ABF-07E3-DF72-31D78869BA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JavaScript Objects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DEEAD5E-173D-EB4C-E732-7117EF23B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All </a:t>
            </a:r>
            <a:r>
              <a:rPr lang="en-US" altLang="en-US" b="1"/>
              <a:t>Objects are dictionaries</a:t>
            </a:r>
            <a:r>
              <a:rPr lang="en-US" altLang="en-US"/>
              <a:t>, e.g., collections of name value pairs:</a:t>
            </a:r>
          </a:p>
          <a:p>
            <a:pPr lvl="1" eaLnBrk="1" hangingPunct="1"/>
            <a:r>
              <a:rPr lang="en-US" altLang="en-US"/>
              <a:t>var myObj = new Object();</a:t>
            </a:r>
          </a:p>
          <a:p>
            <a:pPr lvl="1" eaLnBrk="1" hangingPunct="1"/>
            <a:r>
              <a:rPr lang="en-US" altLang="en-US"/>
              <a:t>myObj.name = “myObj”;		// usual way</a:t>
            </a:r>
          </a:p>
          <a:p>
            <a:pPr lvl="1" eaLnBrk="1" hangingPunct="1"/>
            <a:r>
              <a:rPr lang="en-US" altLang="en-US"/>
              <a:t>myObj[“date”] = new Date();	// dictionary</a:t>
            </a:r>
          </a:p>
          <a:p>
            <a:pPr lvl="1" eaLnBrk="1" hangingPunct="1"/>
            <a:r>
              <a:rPr lang="en-US" altLang="en-US"/>
              <a:t>document.write(myObj.name + “ “);</a:t>
            </a:r>
          </a:p>
          <a:p>
            <a:pPr lvl="1" eaLnBrk="1" hangingPunct="1"/>
            <a:r>
              <a:rPr lang="en-US" altLang="en-US"/>
              <a:t>document.write(myObj.date);</a:t>
            </a:r>
          </a:p>
          <a:p>
            <a:pPr lvl="1" eaLnBrk="1" hangingPunct="1"/>
            <a:r>
              <a:rPr lang="en-US" altLang="en-US"/>
              <a:t>function aFun() { … }</a:t>
            </a:r>
          </a:p>
          <a:p>
            <a:pPr lvl="1" eaLnBrk="1" hangingPunct="1"/>
            <a:r>
              <a:rPr lang="en-US" altLang="en-US"/>
              <a:t>myObj.myFun = aFun;	// add member func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272AE30-4C20-55B0-79F4-850B4E52D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Prototypes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8042E8D-3F0B-A9B1-C7D6-6621269FE8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You can create a new object as a copy of an existing object, the prototype:</a:t>
            </a:r>
            <a:br>
              <a:rPr lang="en-US" altLang="en-US" sz="900"/>
            </a:br>
            <a:endParaRPr lang="en-US" altLang="en-US" sz="900"/>
          </a:p>
          <a:p>
            <a:pPr lvl="1" eaLnBrk="1" hangingPunct="1"/>
            <a:r>
              <a:rPr lang="en-US" altLang="en-US" sz="2200"/>
              <a:t>var YourObj = new myObj(“Jim”, new Date());</a:t>
            </a:r>
            <a:br>
              <a:rPr lang="en-US" altLang="en-US" sz="1000"/>
            </a:br>
            <a:endParaRPr lang="en-US" altLang="en-US" sz="1000"/>
          </a:p>
          <a:p>
            <a:pPr eaLnBrk="1" hangingPunct="1"/>
            <a:r>
              <a:rPr lang="en-US" altLang="en-US" sz="2400"/>
              <a:t>You can add a property or method to a single instance of some object:</a:t>
            </a:r>
          </a:p>
          <a:p>
            <a:pPr lvl="1" eaLnBrk="1" hangingPunct="1"/>
            <a:r>
              <a:rPr lang="en-US" altLang="en-US" sz="2200"/>
              <a:t>var myModObj = new myObj();</a:t>
            </a:r>
          </a:p>
          <a:p>
            <a:pPr lvl="1" eaLnBrk="1" hangingPunct="1"/>
            <a:r>
              <a:rPr lang="en-US" altLang="en-US" sz="2200"/>
              <a:t>myModObj.prop1 = someString;</a:t>
            </a:r>
          </a:p>
          <a:p>
            <a:pPr lvl="1" eaLnBrk="1" hangingPunct="1"/>
            <a:endParaRPr lang="en-US" altLang="en-US" sz="1000"/>
          </a:p>
          <a:p>
            <a:pPr eaLnBrk="1" hangingPunct="1"/>
            <a:r>
              <a:rPr lang="en-US" altLang="en-US" sz="2400"/>
              <a:t>You can add a property or method to every instance of an object like this:</a:t>
            </a:r>
          </a:p>
          <a:p>
            <a:pPr lvl="1" eaLnBrk="1" hangingPunct="1"/>
            <a:r>
              <a:rPr lang="en-US" altLang="en-US" sz="2200"/>
              <a:t>myModObj.prototype.prop2 = “some prop”;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26AEFA5-4B93-629B-A754-A30840A8E0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Functions are Objects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9BDB416-D833-03A4-4AAA-9BF5C71ECE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 JavaScript functions are also objects:</a:t>
            </a:r>
            <a:br>
              <a:rPr lang="en-US" altLang="en-US" sz="1000"/>
            </a:br>
            <a:endParaRPr lang="en-US" altLang="en-US" sz="1000"/>
          </a:p>
          <a:p>
            <a:pPr lvl="1" eaLnBrk="1" hangingPunct="1"/>
            <a:r>
              <a:rPr lang="en-US" altLang="en-US" b="1"/>
              <a:t>Ordinary definition:</a:t>
            </a:r>
            <a:br>
              <a:rPr lang="en-US" altLang="en-US"/>
            </a:br>
            <a:r>
              <a:rPr lang="en-US" altLang="en-US"/>
              <a:t>  function myFun(x) { alert(x); }</a:t>
            </a:r>
            <a:br>
              <a:rPr lang="en-US" altLang="en-US"/>
            </a:br>
            <a:r>
              <a:rPr lang="en-US" altLang="en-US"/>
              <a:t>  myFun(“this is a message”);</a:t>
            </a:r>
            <a:br>
              <a:rPr lang="en-US" altLang="en-US"/>
            </a:br>
            <a:endParaRPr lang="en-US" altLang="en-US" sz="1000"/>
          </a:p>
          <a:p>
            <a:pPr lvl="1" eaLnBrk="1" hangingPunct="1"/>
            <a:r>
              <a:rPr lang="en-US" altLang="en-US" b="1"/>
              <a:t>Anonymous definition:</a:t>
            </a:r>
            <a:br>
              <a:rPr lang="en-US" altLang="en-US" b="1"/>
            </a:br>
            <a:r>
              <a:rPr lang="en-US" altLang="en-US" b="1"/>
              <a:t>  </a:t>
            </a:r>
            <a:r>
              <a:rPr lang="en-US" altLang="en-US"/>
              <a:t>var myFun = function(x) { alert(x); }</a:t>
            </a:r>
            <a:br>
              <a:rPr lang="en-US" altLang="en-US"/>
            </a:br>
            <a:endParaRPr lang="en-US" altLang="en-US" sz="1000"/>
          </a:p>
          <a:p>
            <a:pPr lvl="1" eaLnBrk="1" hangingPunct="1"/>
            <a:r>
              <a:rPr lang="en-US" altLang="en-US" b="1"/>
              <a:t>Function constructor:</a:t>
            </a:r>
            <a:br>
              <a:rPr lang="en-US" altLang="en-US" b="1"/>
            </a:br>
            <a:r>
              <a:rPr lang="en-US" altLang="en-US" b="1"/>
              <a:t>  </a:t>
            </a:r>
            <a:r>
              <a:rPr lang="en-US" altLang="en-US"/>
              <a:t>var myFun = new Function(“x”, “alert(x);”);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A13770C-4F6D-1F16-2EBD-305FCE2EB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Arrays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E4EC274-E440-B882-1A5E-11FA7558FD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Three ways to create Arrays:</a:t>
            </a:r>
          </a:p>
          <a:p>
            <a:pPr lvl="1" eaLnBrk="1" hangingPunct="1"/>
            <a:r>
              <a:rPr lang="en-US" altLang="en-US"/>
              <a:t>var array1 = new Array(1, 1.5, 0, -1); </a:t>
            </a:r>
          </a:p>
          <a:p>
            <a:pPr lvl="1" eaLnBrk="1" hangingPunct="1"/>
            <a:r>
              <a:rPr lang="en-US" altLang="en-US"/>
              <a:t>var array2 = [1, 4, 9, 16, 26];</a:t>
            </a:r>
          </a:p>
          <a:p>
            <a:pPr lvl="1" eaLnBrk="1" hangingPunct="1"/>
            <a:r>
              <a:rPr lang="en-US" altLang="en-US"/>
              <a:t>var array3 = new Object();</a:t>
            </a:r>
            <a:br>
              <a:rPr lang="en-US" altLang="en-US"/>
            </a:br>
            <a:r>
              <a:rPr lang="en-US" altLang="en-US"/>
              <a:t>array3[“pig”] = “mammal”;</a:t>
            </a:r>
            <a:br>
              <a:rPr lang="en-US" altLang="en-US"/>
            </a:br>
            <a:r>
              <a:rPr lang="en-US" altLang="en-US"/>
              <a:t>array3[“snake”] = “reptile”;</a:t>
            </a:r>
            <a:br>
              <a:rPr lang="en-US" altLang="en-US"/>
            </a:br>
            <a:r>
              <a:rPr lang="en-US" altLang="en-US"/>
              <a:t>array3[“platypus”] = “marsupial”;</a:t>
            </a:r>
            <a:br>
              <a:rPr lang="en-US" altLang="en-US"/>
            </a:br>
            <a:r>
              <a:rPr lang="en-US" altLang="en-US"/>
              <a:t>array4[“vulture”] = “bird”;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8981A72-4E53-9C27-4DBF-DD3891A6D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User-Defined Objects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C28F3C3-36FD-64AA-00EB-007DD3C18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Two ways to create an object:</a:t>
            </a:r>
          </a:p>
          <a:p>
            <a:pPr lvl="1" eaLnBrk="1" hangingPunct="1"/>
            <a:r>
              <a:rPr lang="en-US" altLang="en-US" sz="2200"/>
              <a:t>var myFirstObj = new Object();</a:t>
            </a:r>
          </a:p>
          <a:p>
            <a:pPr lvl="1" eaLnBrk="1" hangingPunct="1"/>
            <a:r>
              <a:rPr lang="en-US" altLang="en-US" sz="2200"/>
              <a:t>myFirstObj.name = “my_object”</a:t>
            </a:r>
          </a:p>
          <a:p>
            <a:pPr lvl="1" eaLnBrk="1" hangingPunct="1"/>
            <a:r>
              <a:rPr lang="en-US" altLang="en-US" sz="2200"/>
              <a:t>myFirstObj.func = function() { … };</a:t>
            </a:r>
          </a:p>
          <a:p>
            <a:pPr eaLnBrk="1" hangingPunct="1"/>
            <a:r>
              <a:rPr lang="en-US" altLang="en-US" sz="2400"/>
              <a:t>And:</a:t>
            </a:r>
          </a:p>
          <a:p>
            <a:pPr lvl="1" eaLnBrk="1" hangingPunct="1"/>
            <a:r>
              <a:rPr lang="en-US" altLang="en-US" sz="2200"/>
              <a:t>function mySecondObj(name,func)</a:t>
            </a:r>
            <a:br>
              <a:rPr lang="en-US" altLang="en-US" sz="2200"/>
            </a:br>
            <a:r>
              <a:rPr lang="en-US" altLang="en-US" sz="2200"/>
              <a:t>{ </a:t>
            </a:r>
            <a:br>
              <a:rPr lang="en-US" altLang="en-US" sz="2200"/>
            </a:br>
            <a:r>
              <a:rPr lang="en-US" altLang="en-US" sz="2200"/>
              <a:t>    this.name = name;</a:t>
            </a:r>
            <a:br>
              <a:rPr lang="en-US" altLang="en-US" sz="2200"/>
            </a:br>
            <a:r>
              <a:rPr lang="en-US" altLang="en-US" sz="2200"/>
              <a:t>    this.func = function() {…};</a:t>
            </a:r>
            <a:br>
              <a:rPr lang="en-US" altLang="en-US" sz="2200"/>
            </a:br>
            <a:r>
              <a:rPr lang="en-US" altLang="en-US" sz="2200"/>
              <a:t>}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1DC5926-DBE8-F5DC-F547-A8B34F940B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DOM Objects - Document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076A837-9B1A-7F5B-DD80-9CD2F40542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Document</a:t>
            </a:r>
          </a:p>
          <a:p>
            <a:pPr lvl="1" eaLnBrk="1" hangingPunct="1"/>
            <a:r>
              <a:rPr lang="en-US" altLang="en-US"/>
              <a:t>Element</a:t>
            </a:r>
          </a:p>
          <a:p>
            <a:pPr lvl="1" eaLnBrk="1" hangingPunct="1"/>
            <a:r>
              <a:rPr lang="en-US" altLang="en-US"/>
              <a:t>Text</a:t>
            </a:r>
          </a:p>
          <a:p>
            <a:pPr lvl="1" eaLnBrk="1" hangingPunct="1"/>
            <a:r>
              <a:rPr lang="en-US" altLang="en-US"/>
              <a:t>Comment</a:t>
            </a:r>
          </a:p>
          <a:p>
            <a:pPr lvl="1" eaLnBrk="1" hangingPunct="1"/>
            <a:r>
              <a:rPr lang="en-US" altLang="en-US"/>
              <a:t>Attr</a:t>
            </a:r>
          </a:p>
          <a:p>
            <a:pPr lvl="1" eaLnBrk="1" hangingPunct="1"/>
            <a:r>
              <a:rPr lang="en-US" altLang="en-US"/>
              <a:t>…</a:t>
            </a:r>
          </a:p>
          <a:p>
            <a:pPr lvl="1" eaLnBrk="1" hangingPunct="1"/>
            <a:r>
              <a:rPr lang="en-US" altLang="en-US" sz="1600">
                <a:hlinkClick r:id="rId3"/>
              </a:rPr>
              <a:t>http://www.w3.org/TR/DOM-Level-2-Core/core.html#ID-1590626202</a:t>
            </a:r>
            <a:endParaRPr lang="en-US" altLang="en-US" sz="1600"/>
          </a:p>
          <a:p>
            <a:pPr lvl="1" eaLnBrk="1" hangingPunct="1"/>
            <a:r>
              <a:rPr lang="en-US" altLang="en-US" sz="1600">
                <a:hlinkClick r:id="rId4"/>
              </a:rPr>
              <a:t>http://msdn.microsoft.com/library/default.asp?url=/workshop/author/dom/domoverview.asp</a:t>
            </a:r>
            <a:endParaRPr lang="en-US" altLang="en-US" sz="1600"/>
          </a:p>
          <a:p>
            <a:pPr lvl="1" eaLnBrk="1" hangingPunct="1"/>
            <a:r>
              <a:rPr lang="en-US" altLang="en-US" sz="1600">
                <a:hlinkClick r:id="rId5"/>
              </a:rPr>
              <a:t>http://www.w3schools.com/htmldom/dom_obj_document.asp</a:t>
            </a:r>
            <a:endParaRPr lang="en-US" altLang="en-US" sz="1600"/>
          </a:p>
          <a:p>
            <a:pPr lvl="1" eaLnBrk="1" hangingPunct="1"/>
            <a:endParaRPr lang="en-US" altLang="en-US" sz="1600"/>
          </a:p>
          <a:p>
            <a:pPr lvl="1" eaLnBrk="1" hangingPunct="1"/>
            <a:endParaRPr lang="en-US" altLang="en-US" sz="160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160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39ED7AC-5898-B8A3-61C3-D090463CE2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DOM Methods (</a:t>
            </a:r>
            <a:r>
              <a:rPr lang="en-US" altLang="en-US">
                <a:solidFill>
                  <a:srgbClr val="0000FF"/>
                </a:solidFill>
              </a:rPr>
              <a:t>most used</a:t>
            </a:r>
            <a:r>
              <a:rPr lang="en-US" altLang="en-US">
                <a:solidFill>
                  <a:schemeClr val="tx1"/>
                </a:solidFill>
              </a:rPr>
              <a:t>)</a:t>
            </a: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C73DACD-2E3B-C374-B829-99A85FE686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>
                <a:solidFill>
                  <a:srgbClr val="0000FF"/>
                </a:solidFill>
              </a:rPr>
              <a:t>ref = document.createElement(tagName)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solidFill>
                  <a:srgbClr val="0000FF"/>
                </a:solidFill>
              </a:rPr>
              <a:t>ref = document.createTextNode(text)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ref = node.cloneNode(deep)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solidFill>
                  <a:srgbClr val="0000FF"/>
                </a:solidFill>
              </a:rPr>
              <a:t>ref = element.appendChild(newChild)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ref = element.insertBefore(newNode,tagetNode)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ref = element.removeChild(node)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ref = element.replaceChild(newChild,oldChild)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solidFill>
                  <a:srgbClr val="0000FF"/>
                </a:solidFill>
              </a:rPr>
              <a:t>element.setAttribute(attributeName,attributeValue)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solidFill>
                  <a:srgbClr val="0000FF"/>
                </a:solidFill>
              </a:rPr>
              <a:t>attributeValue = element.getAttribute(attributeName)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solidFill>
                  <a:srgbClr val="0000FF"/>
                </a:solidFill>
              </a:rPr>
              <a:t>element = document.getElementById(id)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solidFill>
                  <a:srgbClr val="0000FF"/>
                </a:solidFill>
              </a:rPr>
              <a:t>elements = document.getElementsByTagName(tag)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boolean = element.hasChildNodes()</a:t>
            </a:r>
          </a:p>
          <a:p>
            <a:pPr eaLnBrk="1" hangingPunct="1">
              <a:lnSpc>
                <a:spcPct val="80000"/>
              </a:lnSpc>
            </a:pPr>
            <a:endParaRPr lang="en-US" altLang="en-US" sz="240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671E0C7-7E22-E88F-C49E-E5CF743CC0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DOM Properties (</a:t>
            </a:r>
            <a:r>
              <a:rPr lang="en-US" altLang="en-US">
                <a:solidFill>
                  <a:schemeClr val="accent2"/>
                </a:solidFill>
              </a:rPr>
              <a:t>XML only</a:t>
            </a:r>
            <a:r>
              <a:rPr lang="en-US" altLang="en-US">
                <a:solidFill>
                  <a:schemeClr val="tx1"/>
                </a:solidFill>
              </a:rPr>
              <a:t>)</a:t>
            </a:r>
            <a:endParaRPr lang="en-US" alt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D85EDDD-63CC-73F0-EE63-071989B5E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600"/>
              <a:t>Node properties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500"/>
              <a:t>Name = node.nodeName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500"/>
              <a:t>integer = node.nodeType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200"/>
              <a:t>1: ELEMENT_NODE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200"/>
              <a:t>2: ATTRIBUTE_NODE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200"/>
              <a:t>3: TEXT_NODE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200"/>
              <a:t>4: </a:t>
            </a:r>
            <a:r>
              <a:rPr lang="en-US" altLang="en-US" sz="1200">
                <a:solidFill>
                  <a:schemeClr val="accent2"/>
                </a:solidFill>
              </a:rPr>
              <a:t>CDATA_SECTION_NODE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200"/>
              <a:t>5: </a:t>
            </a:r>
            <a:r>
              <a:rPr lang="en-US" altLang="en-US" sz="1200">
                <a:solidFill>
                  <a:schemeClr val="accent2"/>
                </a:solidFill>
              </a:rPr>
              <a:t>ENTITY_REFERENCE_NODE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200"/>
              <a:t>6: </a:t>
            </a:r>
            <a:r>
              <a:rPr lang="en-US" altLang="en-US" sz="1200">
                <a:solidFill>
                  <a:schemeClr val="accent2"/>
                </a:solidFill>
              </a:rPr>
              <a:t>ENTITY_NODE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200"/>
              <a:t>7: PROCESSING_INSTRUCTION_NODE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200"/>
              <a:t>8: COMMENT_NODE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200"/>
              <a:t>9: DOCUMENT_NODE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200"/>
              <a:t>10: </a:t>
            </a:r>
            <a:r>
              <a:rPr lang="en-US" altLang="en-US" sz="1200">
                <a:solidFill>
                  <a:schemeClr val="accent2"/>
                </a:solidFill>
              </a:rPr>
              <a:t>DOCUMENT_TYPE_NODE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200"/>
              <a:t>11: DOCUMENT_FRAGMENT_NODE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200"/>
              <a:t>12: </a:t>
            </a:r>
            <a:r>
              <a:rPr lang="en-US" altLang="en-US" sz="1200">
                <a:solidFill>
                  <a:schemeClr val="accent2"/>
                </a:solidFill>
              </a:rPr>
              <a:t>NOTATION_NODE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500"/>
              <a:t>Value = node.nodeValue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500"/>
              <a:t>nodeList = node.childNodes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500"/>
              <a:t>Ref = node.firstChild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500"/>
              <a:t>Ref = node.lastChild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500"/>
              <a:t>Ref = node.nextSibling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500"/>
              <a:t>Ref = node.parentNode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500"/>
              <a:t>Ref = node.previousSibling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7A332F6-B023-CA0F-F488-9DE5346F52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Window Properties (partial list)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0924F9C-D7B1-EFDF-07B3-206CED90A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closed</a:t>
            </a:r>
          </a:p>
          <a:p>
            <a:pPr eaLnBrk="1" hangingPunct="1"/>
            <a:r>
              <a:rPr lang="en-US" altLang="en-US"/>
              <a:t>document</a:t>
            </a:r>
          </a:p>
          <a:p>
            <a:pPr eaLnBrk="1" hangingPunct="1"/>
            <a:r>
              <a:rPr lang="en-US" altLang="en-US"/>
              <a:t>frames[]</a:t>
            </a:r>
          </a:p>
          <a:p>
            <a:pPr eaLnBrk="1" hangingPunct="1"/>
            <a:r>
              <a:rPr lang="en-US" altLang="en-US"/>
              <a:t>location (url)</a:t>
            </a:r>
          </a:p>
          <a:p>
            <a:pPr eaLnBrk="1" hangingPunct="1"/>
            <a:r>
              <a:rPr lang="en-US" altLang="en-US"/>
              <a:t>name</a:t>
            </a:r>
          </a:p>
          <a:p>
            <a:pPr eaLnBrk="1" hangingPunct="1"/>
            <a:r>
              <a:rPr lang="en-US" altLang="en-US"/>
              <a:t>navigator</a:t>
            </a:r>
          </a:p>
          <a:p>
            <a:pPr eaLnBrk="1" hangingPunct="1"/>
            <a:r>
              <a:rPr lang="en-US" altLang="en-US"/>
              <a:t>parent</a:t>
            </a:r>
          </a:p>
          <a:p>
            <a:pPr eaLnBrk="1" hangingPunct="1"/>
            <a:r>
              <a:rPr lang="en-US" altLang="en-US"/>
              <a:t>screen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1B6A9C6-3BFD-1286-FEA8-3F95073B23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Window Methods (partial list)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E2903FA-999D-4161-D2A9-D19282C2E8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/>
              <a:t>Alert() 	– dialog box</a:t>
            </a:r>
          </a:p>
          <a:p>
            <a:pPr eaLnBrk="1" hangingPunct="1"/>
            <a:r>
              <a:rPr lang="en-US" altLang="en-US" sz="2400"/>
              <a:t>Close() 	– close window</a:t>
            </a:r>
          </a:p>
          <a:p>
            <a:pPr eaLnBrk="1" hangingPunct="1"/>
            <a:r>
              <a:rPr lang="en-US" altLang="en-US" sz="2400"/>
              <a:t>Confirm() 	– dialog box</a:t>
            </a:r>
          </a:p>
          <a:p>
            <a:pPr eaLnBrk="1" hangingPunct="1"/>
            <a:r>
              <a:rPr lang="en-US" altLang="en-US" sz="2400"/>
              <a:t>Focus() 	– set focus</a:t>
            </a:r>
          </a:p>
          <a:p>
            <a:pPr eaLnBrk="1" hangingPunct="1"/>
            <a:r>
              <a:rPr lang="en-US" altLang="en-US" sz="2400"/>
              <a:t>moveBy() 	– move relative to current position</a:t>
            </a:r>
          </a:p>
          <a:p>
            <a:pPr eaLnBrk="1" hangingPunct="1"/>
            <a:r>
              <a:rPr lang="en-US" altLang="en-US" sz="2400"/>
              <a:t>moveTo() 	– move to new screen location</a:t>
            </a:r>
          </a:p>
          <a:p>
            <a:pPr eaLnBrk="1" hangingPunct="1"/>
            <a:r>
              <a:rPr lang="en-US" altLang="en-US" sz="2400"/>
              <a:t>Open() 	– open new window</a:t>
            </a:r>
          </a:p>
          <a:p>
            <a:pPr eaLnBrk="1" hangingPunct="1"/>
            <a:r>
              <a:rPr lang="en-US" altLang="en-US" sz="2400"/>
              <a:t>Prompt() 	– dialog box</a:t>
            </a:r>
          </a:p>
          <a:p>
            <a:pPr eaLnBrk="1" hangingPunct="1"/>
            <a:r>
              <a:rPr lang="en-US" altLang="en-US" sz="2400"/>
              <a:t>setInterval()  – execute code periodically</a:t>
            </a:r>
          </a:p>
          <a:p>
            <a:pPr eaLnBrk="1" hangingPunct="1"/>
            <a:r>
              <a:rPr lang="en-US" altLang="en-US" sz="2400"/>
              <a:t>setTimeout() – execute code after a specified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8624</Words>
  <Application>Microsoft Office PowerPoint</Application>
  <PresentationFormat>Widescreen</PresentationFormat>
  <Paragraphs>1297</Paragraphs>
  <Slides>144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144</vt:i4>
      </vt:variant>
    </vt:vector>
  </HeadingPairs>
  <TitlesOfParts>
    <vt:vector size="155" baseType="lpstr">
      <vt:lpstr>Monotype Sorts</vt:lpstr>
      <vt:lpstr>Arial</vt:lpstr>
      <vt:lpstr>Book Antiqua</vt:lpstr>
      <vt:lpstr>Bookman Old Style</vt:lpstr>
      <vt:lpstr>Calibri</vt:lpstr>
      <vt:lpstr>Calibri Light</vt:lpstr>
      <vt:lpstr>Comic Sans MS</vt:lpstr>
      <vt:lpstr>Consolas</vt:lpstr>
      <vt:lpstr>Courier New</vt:lpstr>
      <vt:lpstr>Wingdings</vt:lpstr>
      <vt:lpstr>Office Theme</vt:lpstr>
      <vt:lpstr>Module 0: Introduction to JavaScript</vt:lpstr>
      <vt:lpstr>What is JavaScript</vt:lpstr>
      <vt:lpstr>What is a scripting language?</vt:lpstr>
      <vt:lpstr>JavaScript is not Java</vt:lpstr>
      <vt:lpstr>Advantages of JavaScript:</vt:lpstr>
      <vt:lpstr>Including JavaScript in HTML</vt:lpstr>
      <vt:lpstr>Hello, World!</vt:lpstr>
      <vt:lpstr>Hello World in JavaScript</vt:lpstr>
      <vt:lpstr>The &lt;script&gt;…&lt;/script&gt; tag</vt:lpstr>
      <vt:lpstr>The &lt;script&gt;…&lt;/script&gt; Tags</vt:lpstr>
      <vt:lpstr>The &lt;script&gt;…&lt;/script&gt; Tags</vt:lpstr>
      <vt:lpstr>The &lt;script&gt;…&lt;/script&gt; Tags</vt:lpstr>
      <vt:lpstr>The &lt;script&gt;…&lt;/script&gt; Tags</vt:lpstr>
      <vt:lpstr>The &lt;script&gt;…&lt;/script&gt; Tags</vt:lpstr>
      <vt:lpstr>The &lt;script&gt;…&lt;/script&gt; Tags</vt:lpstr>
      <vt:lpstr>JavaScript Program Code</vt:lpstr>
      <vt:lpstr>Events</vt:lpstr>
      <vt:lpstr>Event Handlers</vt:lpstr>
      <vt:lpstr>More Events</vt:lpstr>
      <vt:lpstr>Navigation</vt:lpstr>
      <vt:lpstr>Navigation</vt:lpstr>
      <vt:lpstr>JavaScript Events</vt:lpstr>
      <vt:lpstr>JavaScript Events</vt:lpstr>
      <vt:lpstr>JavaScript Events</vt:lpstr>
      <vt:lpstr>JavaScript Events</vt:lpstr>
      <vt:lpstr>JavaScript Events</vt:lpstr>
      <vt:lpstr>Techniques for Including JavaScript Code in HTML</vt:lpstr>
      <vt:lpstr>Whitespace and Line Breaks:</vt:lpstr>
      <vt:lpstr>Event Handler Functions</vt:lpstr>
      <vt:lpstr>Event Handler Functions</vt:lpstr>
      <vt:lpstr>Event Handler Functions</vt:lpstr>
      <vt:lpstr>Event Handler Functions</vt:lpstr>
      <vt:lpstr>JavaScript in URL's</vt:lpstr>
      <vt:lpstr>JavaScript in URL's</vt:lpstr>
      <vt:lpstr>JavaScript in URL's</vt:lpstr>
      <vt:lpstr>JavaScript Entities</vt:lpstr>
      <vt:lpstr>Order of Execution</vt:lpstr>
      <vt:lpstr>Order of Execution</vt:lpstr>
      <vt:lpstr>Order of Execution</vt:lpstr>
      <vt:lpstr>Order of Execution</vt:lpstr>
      <vt:lpstr>Order of Execution</vt:lpstr>
      <vt:lpstr>Order of Execution</vt:lpstr>
      <vt:lpstr>Order of Execution</vt:lpstr>
      <vt:lpstr>Order of Execution</vt:lpstr>
      <vt:lpstr>Order of Execution</vt:lpstr>
      <vt:lpstr>Order of Execution</vt:lpstr>
      <vt:lpstr>JavaScript Object Hierarchy</vt:lpstr>
      <vt:lpstr>JavaScript Object Hierarchy</vt:lpstr>
      <vt:lpstr>JavaScript Object Hierarchy</vt:lpstr>
      <vt:lpstr>JavaScript Object Hierarchy</vt:lpstr>
      <vt:lpstr>JavaScript Object Hierarchy</vt:lpstr>
      <vt:lpstr>JavaScript Object Hierarchy</vt:lpstr>
      <vt:lpstr>JavaScript Objects</vt:lpstr>
      <vt:lpstr>Built-in Objects</vt:lpstr>
      <vt:lpstr>string Objects</vt:lpstr>
      <vt:lpstr>string Objects</vt:lpstr>
      <vt:lpstr>string Objects</vt:lpstr>
      <vt:lpstr>string Objects</vt:lpstr>
      <vt:lpstr>string Objects</vt:lpstr>
      <vt:lpstr>string Objects</vt:lpstr>
      <vt:lpstr>string Objects</vt:lpstr>
      <vt:lpstr>string Objects</vt:lpstr>
      <vt:lpstr>string Objects</vt:lpstr>
      <vt:lpstr>string Objects</vt:lpstr>
      <vt:lpstr>Comments in JavaScript</vt:lpstr>
      <vt:lpstr>Single Line Comment Example</vt:lpstr>
      <vt:lpstr>Multiple Line Comment Example</vt:lpstr>
      <vt:lpstr>Case Sensitivity: </vt:lpstr>
      <vt:lpstr>Event-driven programming</vt:lpstr>
      <vt:lpstr>JavaScript affects the behavior of a web page via manipulation of the browser’s Document</vt:lpstr>
      <vt:lpstr>Familiar applications of Javascript</vt:lpstr>
      <vt:lpstr>A JavaScript statement: alert</vt:lpstr>
      <vt:lpstr>Event-driven programming</vt:lpstr>
      <vt:lpstr>Buttons</vt:lpstr>
      <vt:lpstr>JavaScript functions</vt:lpstr>
      <vt:lpstr>Event handlers</vt:lpstr>
      <vt:lpstr>Document Object Model (DOM)</vt:lpstr>
      <vt:lpstr>DOM element objects</vt:lpstr>
      <vt:lpstr>Accessing elements: document.getElementById</vt:lpstr>
      <vt:lpstr>Accessing elements: document.getElementById</vt:lpstr>
      <vt:lpstr>Changing element style: element.style</vt:lpstr>
      <vt:lpstr>Preetify</vt:lpstr>
      <vt:lpstr>Javascript is it’s own complete high-level programming language, with familiar elements</vt:lpstr>
      <vt:lpstr>Javascript is a weakly (dynamically)-typed language, unlike C++ or Java</vt:lpstr>
      <vt:lpstr>NaN and Infinity</vt:lpstr>
      <vt:lpstr>Javascript automatically converts types</vt:lpstr>
      <vt:lpstr>Aspects of weakly-typed data</vt:lpstr>
      <vt:lpstr>An explicit conversion is required to turn a string to a number</vt:lpstr>
      <vt:lpstr>Type coercion (promotion)</vt:lpstr>
      <vt:lpstr>Boolean false and truthy/falsy values</vt:lpstr>
      <vt:lpstr>Arrays in Javascript</vt:lpstr>
      <vt:lpstr>More on arrays</vt:lpstr>
      <vt:lpstr>Javascript supports the concept of global functions</vt:lpstr>
      <vt:lpstr>Javascript supports the concept of global variables</vt:lpstr>
      <vt:lpstr>Scoping and hoisting</vt:lpstr>
      <vt:lpstr>Functions</vt:lpstr>
      <vt:lpstr>Functions</vt:lpstr>
      <vt:lpstr>Functions</vt:lpstr>
      <vt:lpstr>Functions</vt:lpstr>
      <vt:lpstr>Functions</vt:lpstr>
      <vt:lpstr>for..in Statement</vt:lpstr>
      <vt:lpstr>for..in Statement</vt:lpstr>
      <vt:lpstr>Methods</vt:lpstr>
      <vt:lpstr>Methods</vt:lpstr>
      <vt:lpstr>Anonymous functions</vt:lpstr>
      <vt:lpstr>Fat arrow functions (JS6)</vt:lpstr>
      <vt:lpstr>JavaScript supports objects, but without needing formal classes*</vt:lpstr>
      <vt:lpstr>No-class objects via constructor functions</vt:lpstr>
      <vt:lpstr>Making attributes and methods private</vt:lpstr>
      <vt:lpstr>Literal objects</vt:lpstr>
      <vt:lpstr>JS6 class approach</vt:lpstr>
      <vt:lpstr>Using a Javascript constructor to create objects (same approach whether class-based or not)</vt:lpstr>
      <vt:lpstr>JavaScript “core API” defines only a few native objects – the remainder come from the hosting environment (i.e. the browser)</vt:lpstr>
      <vt:lpstr>Other Javascript features</vt:lpstr>
      <vt:lpstr>Variables</vt:lpstr>
      <vt:lpstr>Number type</vt:lpstr>
      <vt:lpstr>Comments</vt:lpstr>
      <vt:lpstr> Math object</vt:lpstr>
      <vt:lpstr> Special values: null and undefined</vt:lpstr>
      <vt:lpstr> Logical operators</vt:lpstr>
      <vt:lpstr> if/else statement (same as Java)</vt:lpstr>
      <vt:lpstr>Boolean type</vt:lpstr>
      <vt:lpstr> for loop</vt:lpstr>
      <vt:lpstr>while loops</vt:lpstr>
      <vt:lpstr>Popup boxes</vt:lpstr>
      <vt:lpstr>Arrays</vt:lpstr>
      <vt:lpstr>Array methods</vt:lpstr>
      <vt:lpstr>String type</vt:lpstr>
      <vt:lpstr> More about String</vt:lpstr>
      <vt:lpstr>Splitting strings: split and join</vt:lpstr>
      <vt:lpstr>Typical JavaScript Applications</vt:lpstr>
      <vt:lpstr>What JavaScript cannot do for reasons of security</vt:lpstr>
      <vt:lpstr>Javascript Types</vt:lpstr>
      <vt:lpstr>Strings, Numbers, and Booleans</vt:lpstr>
      <vt:lpstr>JavaScript Objects</vt:lpstr>
      <vt:lpstr>Prototypes</vt:lpstr>
      <vt:lpstr>Functions are Objects</vt:lpstr>
      <vt:lpstr>Arrays</vt:lpstr>
      <vt:lpstr>User-Defined Objects</vt:lpstr>
      <vt:lpstr>DOM Objects - Document</vt:lpstr>
      <vt:lpstr>DOM Methods (most used)</vt:lpstr>
      <vt:lpstr>DOM Properties (XML only)</vt:lpstr>
      <vt:lpstr>Window Properties (partial list)</vt:lpstr>
      <vt:lpstr>Window Methods (partial list)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</dc:creator>
  <cp:lastModifiedBy>Sean</cp:lastModifiedBy>
  <cp:revision>24</cp:revision>
  <dcterms:created xsi:type="dcterms:W3CDTF">2025-12-30T23:34:10Z</dcterms:created>
  <dcterms:modified xsi:type="dcterms:W3CDTF">2025-12-31T14:10:27Z</dcterms:modified>
</cp:coreProperties>
</file>