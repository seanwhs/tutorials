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0876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Aptos Display"/>
              </a:rPr>
              <a:t>GreyMatter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2316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Aptos"/>
              </a:rPr>
              <a:t>A QR Code Feedback Application</a:t>
            </a:r>
            <a:br/>
            <a:r>
              <a:rPr sz="2600" b="0">
                <a:solidFill>
                  <a:srgbClr val="000000"/>
                </a:solidFill>
                <a:latin typeface="Aptos"/>
              </a:rPr>
              <a:t>Tutorial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Next.js 16 · React 19 · Tailwind CSS · Neon PostgreSQL · Prisma · Inngest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ptos"/>
              </a:rPr>
              <a:t>Minimalist companion deck for Parts 0–8, Primers 1–8, and Appendices A–P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GreyMatter Feedback Tutorial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Introduction to GreyMatter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Define the product, users, architecture, and tutorial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Part 0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Define the product, users, architecture, and tutorial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Understand the participant and administrator experiences.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Understand dynamic, versioned feedback forms.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Understand why Neon, Prisma, Next.js, and Inngest are 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QR codes identify sessions, not hard-coded forms.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Each session can use a different published form version.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Responses remain linked to the exact form version participants saw.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Product architecture diagram.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Tutorial roadmap from setup through production deployment.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 shared vocabulary for events, sessions, forms, questions, and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the path from QR scan to stored response.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why forms are versioned.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the difference between an event and a session.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Avoid treating GreyMatter Feedback as one fixed survey. It is a configurable form platform.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Understand the participant and administrator experiences.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QR codes identify sessions, not hard-coded forms.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Next.js, Neon, and Prisma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Create the application, connect Neon PostgreSQL, and define the versioned database schema.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Part 1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Create the application, connect Neon PostgreSQL, and define the versioned database schema.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a Next.js 16 project using TypeScript and Tailwind CSS.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a Neon PostgreSQL project and private environment configuration.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initial Prisma migration.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Neon provides hosted PostgreSQL with pooled and direct connection URLs.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Prisma provides schema modeling, migrations, and typed database access.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Environment variables keep secrets outside the codebase.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prisma/schema.prisma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src/lib/prisma.ts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.env.example and local .env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npx prisma validate.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npm run db:test.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npm run build.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Never commit DATABASE_URL, DIRECT_URL, or administrator secrets to Git.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a Next.js 16 project using TypeScript and Tailwind CSS.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Neon provides hosted PostgreSQL with pooled and direct connection URLs.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Seed Data and Dynamic Participant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Seed Neon with sample content and load an active published form through a QR-friendly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Part 2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Seed Neon with sample content and load an active published form through a QR-friendly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realistic development seed data.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Load a session using /e/[sessionId].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Render published questions dynamically from Neon.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 dynamic route reads a session ID from the URL.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Only active sessions with published forms are visible to participants.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Server Components safely load database data before interactive UI begins.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prisma/seed.ts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src/lib/participant-session.ts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src/app/e/[sessionId]/page.tsx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npm run db:seed.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Open /e/REACT-2026-Q3.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Test inactive and unpublished form states.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draft forms merely because someone knows a session URL.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realistic development seed data.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 dynamic route reads a session ID from the URL.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Administrator Authentication and Form Authoring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Build the protected admin portal for creating events, sessions, draft forms, and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Part 3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Build the protected admin portal for creating events, sessions, draft forms, and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Sign in using a signed HTTP-only administrator session.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events, courses, sessions, and draft form versions.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Publish a versioned form without editing historical forms.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Server Actions safely perform protected database writes.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Draft forms are editable; published forms are historically protected.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Publishing archives the old active version and activates the new version.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src/lib/admin-auth.ts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src/app/(admin)/admin/layout.tsx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Session editor and question authoring components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an event and session.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a draft with rating, NPS, choice, and text questions.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Publish the form and open participant preview.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permit administrators to alter a published question after responses exist.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Sign in using a signed HTTP-only administrator session.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Server Actions safely perform protected database writes.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Interactive Mobile Participant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Build touch-friendly question controls, local drafts, haptic feedback, and browser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Part 4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Build touch-friendly question controls, local drafts, haptic feedback, and browser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Render interactive rating, NPS, choice, and text controls.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Persist unfinished answers in browser localStorage.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Validate required fields before submission.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Client Components manage browser interaction and local state.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Draft keys include both session ID and form version ID.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Mobile controls need large tap targets and readable input text.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src/components/participant/feedback-form.tsx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src/components/participant/question-input.tsx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src/lib/participant-draft.ts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Select answers on a phone-sized viewport.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Refresh and confirm the draft is restored.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Submit incomplete form and inspect field-level errors.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clear a draft until the server accepts the completed submission.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Render interactive rating, NPS, choice, and text controls.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Client Components manage browser interaction and local state.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Secure Feedback API and Rate Limiting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Validate public submissions, hash client IP addresses, rate-limit abuse, and queue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Part 5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Validate public submissions, hash client IP addresses, rate-limit abuse, and queue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POST /api/feedback.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Validate JSON and answer values with Zod and Neon data.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privacy-aware daily salted IP hashes.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Browser input is untrusted until the server validates it.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Zod validates request shape; Neon validates form ownership and answer correctness.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Rate limiting protects public participant forms from repeated submissions.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src/app/api/feedback/route.ts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src/lib/validate-feedback.ts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src/lib/rate-limit.ts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Send malformed JSON with curl.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Submit invalid answer values and verify rejection.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Test a rate-limited second submission.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Never trust a question ID, choice value, rating value, or form version supplied by the browser.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Create POST /api/feedback.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Browser input is untrusted until the server validates it.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Inngest Response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Configure background jobs, store answers safely, and prevent duplicate responses during retries.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Part 6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Configure background jobs, store answers safely, and prevent duplicate responses during retries.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Inngest locally.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Process feedback/submitted events.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Persist one Response and related Answer records in Neon.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 202 response means work was accepted for asynchronous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Stable submission IDs make retries idempotent.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Database uniqueness is the final duplicate-prevention safety net.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src/app/api/inngest/route.ts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src/inngest/functions/process-feedback-submission.ts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src/lib/save-feedback-response.ts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Open the Inngest local dashboard.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Submit participant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Replay a run and confirm only one Response exists.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Retries are normal in distributed systems; duplicate writes must be prevented by design.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Inngest locally.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 202 response means work was accepted for asynchronous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Analytics Dashboard, QR Codes, and CSV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Turn stored answers into actionable metrics and export tools for administrators.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Part 7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Turn stored answers into actionable metrics and export tools for administrators.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Calculate response totals, averages, distributions, and NPS.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Generate downloadable QR-code images.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Export answer-level CSV data securely.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Analytics are calculated from authoritative response records.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NPS separates promoters, passives, and detractors.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CSV exports should remain flexible across form versions.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src/lib/session-analytics.ts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src/components/admin/qr-code-card.tsx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src/app/api/admin/export/[sessionId]/route.ts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Submit feedback and watch dashboard metrics refresh.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Download a QR PNG.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Download and inspect exported CSV data.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export IP hashes, raw user agents, or unnecessary technical metadata.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Calculate response totals, averages, distributions, and NPS.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Analytics are calculated from authoritative response records.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PDF Reports, Offline Support, Testing,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Generate reports asynchronously, support offline retry, add tests, and prepare production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Part 8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Generate reports asynchronously, support offline retry, add tests, and prepare production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Queue and generate PDF reports with Inngest.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Store PDFs locally in development and in object storage for production.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Add a retry-friendly submission outbox and production checklist.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Report records represent queued, processing, complete, or failed work.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Offline outboxes retain completed payloads until connectivity returns.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Production deployments need separate infrastructure and secrets.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src/inngest/functions/generate-pdf-report.ts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src/lib/report-storage.ts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src/lib/submission-outbox.ts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Generate a local PDF report.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Test an offline submission and reconnect.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npm test, npm run lint, and npm run build.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rely on local filesystem storage for durable serverless production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Queue and generate PDF reports with Inngest.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Report records represent queued, processing, complete, or failed work.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How GreyMatter Feedback Works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the full participant, admin, database, and background-job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Primer 1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the full participant, admin, database, and background-job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Trace the QR-to-response lifecycle.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Trace the author-to-report lifecycle.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why background work is separated from the participant request.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Participants scan, answer, submit, and receive fast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Administrators author, publish, measure, export, and improve.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Neon stores durable records while Inngest coordinates slow work.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End-to-end architecture map.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journey map.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workflow map.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Describe the full feedback data flow aloud.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which steps happen in browser, server, and worker.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the purpose of each platform service.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combine every responsibility into one synchronous browser request.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Trace the QR-to-response lifecycle.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Participants scan, answer, submit, and receive fast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Next.js App Router and Server/Client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routes, layouts, Server Components, Client Components, APIs, and Server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Primer 2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routes, layouts, Server Components, Client Components, APIs, and Server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Recognize App Router file conventions.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Separate browser-only and server-only code.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Choose API routes or Server Actions appropriately.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Server Components safely load secure data.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Client Components handle local interaction and browser APIs.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Route groups organize protected routes without changing URLs.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dynamic route structure.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Protected admin layout structure.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API and Server Action decision guide.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which component needs use client.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which helper needs server-only.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Map a URL to its app directory file.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Never import Prisma, secrets, or server infrastructure into a Client Component.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Recognize App Router file conventions.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Server Components safely load secure data.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Neon, Prisma, and the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PostgreSQL relationships, Prisma schemas, migrations, and versioned form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Primer 3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PostgreSQL relationships, Prisma schemas, migrations, and versioned form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the Event, Session, FormVersion, Question, Response, Answer, and Report models.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Understand pooled versus direct Neon URLs.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Understand why form version and event IDs matter.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Relationships preserve data integrity.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Migrations evolve database structure safely.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Transactions keep publishing operations consistent.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Core relational diagram.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Prisma model reference.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Migration and transaction examples.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Response.formVersionId.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Response.eventId.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when to use prisma migrate deploy.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run destructive database reset commands against production.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the Event, Session, FormVersion, Question, Response, Answer, and Report models.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Relationships preserve data integrity.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Inngest, Retries, and Reliable Background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events, functions, steps, retries, concurrency, and idempotency.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Primer 4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events, functions, steps, retries, concurrency, and idempotency.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feedback/submitted and report/generate.pdf.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why step.run is useful.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how stable submission IDs prevent duplicates.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Events announce facts that happened.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Functions perform retryable background work.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Concurrency limits protect downstream dependencies.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Inngest event contract.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Function registration flow.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Idempotent persistence example.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Replay a completed submission run.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Inspect job steps in the local dashboard.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Confirm duplicate processing remains safe.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assume one function execution means one database write without an idempotency strategy.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feedback/submitted and report/generate.pdf.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Events announce facts that happened.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Security, Validation, Privacy, and Trust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untrusted input, server validation, authentication, IP hashing, and rate limiting.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Primer 5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untrusted input, server validation, authentication, IP hashing, and rate limiting.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Define a trust boundary.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client-side versus server-side validation.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privacy-aware IP hashing.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Every browser value is untrusted until verified by the server.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HTTP-only cookies protect administrator sessions.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Daily salted hashes reduce long-term linkability.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Submission security pipeline.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Secret management checklist.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Privacy and anti-abuse model.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Test invalid API payloads.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Test an unauthenticated admin API request.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why raw IPs are not stored.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Never reveal internal database errors, secrets, or raw request details to participants.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Define a trust boundary.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Every browser value is untrusted until verified by the server.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Designing Mobile-First Feedback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touch targets, draft persistence, accessible errors, and rapid participant completion.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Primer 6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touch targets, draft persistence, accessible errors, and rapid participant completion.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Design for short, one-handed phone interactions.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rating, NPS, choice, and text controls effectively.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Support interruption and poor connectivity.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Participants need large controls and clear selected states.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Text inputs should use at least 16px text to avoid mobile zoom.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Drafts and outboxes make the form tolerant of interruption.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Mobile participant checklist.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Question design examples.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Draft and outbox flow diagram.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Test at narrow viewport width.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Test refresh restoration.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Test keyboard navigation and errors.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create long, multi-page QR surveys unless the business value clearly justifies the friction.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Design for short, one-handed phone interactions.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Participants need large controls and clear selected states.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Analytics, NPS, CSV, and PDF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how raw answers become useful reporting and improvement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Primer 7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how raw answers become useful reporting and improvement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Calculate averages and NPS.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Interpret distributions and written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long-format CSV exports and asynchronous PDF reports.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Averages summarize values but distributions reveal shape.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NPS needs response count and context.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Version context prevents misleading historical comparisons.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Analytics metric reference.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CSV format guide.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Report lifecycle diagram.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Calculate NPS from a small score set.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Interpret a rating distribution.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Explain queued versus complete report status.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make major decisions from one metric or a very small response sample.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Calculate averages and NPS.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Averages summarize values but distributions reveal shape.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Deployment Environments and 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development, staging, production, secrets, migrations, and operational smoke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Primer 8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Understand development, staging, production, secrets, migrations, and operational smoke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Separate development, staging, and production resources.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Configure environment variables safely.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Perform a production participant-to-report smoke test.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Configuration changes by environment; application code stays consistent.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Production needs shared rate limiting and durable report storage.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QR codes must point to stable HTTPS production URLs.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Environment matrix.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Production variable checklist.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Release and rollback sequence.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Prisma migration status.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Verify Inngest production function sync.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Submit one controlled production test response.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Never let local experimentation write to production databases or production storage.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Separate development, staging, and production resources.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Configuration changes by environment; application code stays consistent.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Designing Useful Feedback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Design short, neutral, actionable questions that help organizers make better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A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Design short, neutral, actionable questions that help organizers make better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Designing Useful Feedback Questions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question design, question type selection, required-field restraint, and sample forms.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Form Versioning, Publishing, and Historical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Preserve the exact form experience used by each participant.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Preserve the exact form experience used by each participant.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Form Versioning, Publishing, and Historical Reporting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drafts, publishing, archiving, cloning, stable qr urls, and historical analytics.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Local Development, Debugging, and Common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Troubleshoot local Next.js, Neon, Prisma, and Inngest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C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Troubleshoot local Next.js, Neon, Prisma, and Inngest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Local Development, Debugging, and Common Problems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environment checks, migration issues, job debugging, qr problems, and service worker behavior.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Security, Privacy, and Data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Apply privacy-aware data handling and production security practices.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D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Apply privacy-aware data handling and production security practices.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Security, Privacy, and Data Retention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ip hashes, metadata minimization, protected reports, secret rotation, retention, and deletion.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API Reference and Data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Document public and protected HTTP routes, events, and database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Document public and protected HTTP routes, events, and database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API Reference and Data Contracts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feedback api payloads, report apis, csv exports, inngest events, and response codes.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Accessibility and Mobile Experience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Ensure participant and admin experiences work for a broad range of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F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Ensure participant and admin experiences work for a broad range of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Accessibility and Mobile Experience Guidelines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keyboard access, screen readers, focus states, contrast, qr alternatives, and touch targets.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Testing Strategy and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Create repeatable confidence through unit, integration, manual, and end-to-end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G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Create repeatable confidence through unit, integration, manual, and end-to-end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Testing Strategy and Quality Assurance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vitest, csv safety tests, regression checklists, ci, staging, and live-event qa.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Multi-Organization Design, Roles, and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Evolve the single-organization tutorial into a multi-tenant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H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Evolve the single-organization tutorial into a multi-tenant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Multi-Organization Design, Roles, and Scaling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organizations, memberships, roles, authorization, audit logs, and analytics scaling.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Operations Runbook for Live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Prepare, monitor, troubleshoot, and close live QR feedback sessions.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I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Prepare, monitor, troubleshoot, and close live QR feedback sessions.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Operations Runbook for Live Events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pre-event readiness, qr display, live monitoring, fallback plans, and post-event reporting.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Performance, Monitoring, and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Measure system health and maintain fast participant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J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Measure system health and maintain fast participant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Performance, Monitoring, and Observability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latency targets, structured logs, inngest monitoring, neon monitoring, and alert thresholds.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Templates, Notifications, and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Extend the platform without weakening the reliable core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K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Extend the platform without weakening the reliable core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Templates, Notifications, and Integrations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reusable templates, email, slack, webhooks, lms integrations, imports, and branding.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Advanced Form Authoring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Add sections, helper text, conditional logic, and shared question libraries.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L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Add sections, helper text, conditional logic, and shared question libraries.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Advanced Form Authoring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visibility rules, question dependencies, reporting tags, and advanced publishing validation.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Database Migrations, Backups,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Safely evolve schemas and prepare for operational recovery.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M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Safely evolve schemas and prepare for operational recovery.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Database Migrations, Backups, and Recovery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prisma migration workflows, neon branches, recovery points, soft deletion, and restore drills.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Project Structure and Code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Keep participant, admin, infrastructure, and background code understandable.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Keep participant, admin, infrastructure, and background code understandable.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Recommended Project Structure and Code Ownership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route ownership, component boundaries, lib modules, inngest functions, and prisma organization.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Glossary of 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Create a shared vocabulary for developers, administrators, and operators.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Create a shared vocabulary for developers, administrators, and operators.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Glossary of Key Terms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definitions for events, sessions, versions, answers, inngest, neon, prisma, nps, and more.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Production Launch and Go-Live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GreyMatter Feedback is safe and ready before real participants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Section: Appendix P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module as a focused guide while building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Minimalist slide format: plain black text, white background, and no images.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GreyMatter Feedback is safe and ready before real participants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Apply the guidance to real events, courses, and feedback workflows.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the checklist material to reduce avoidable operational risk.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most important idea to retain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versioned forms and trustworthy response history.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Treat privacy, testing, and operational readiness as product features.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How this module fits into the broader GreyMatter Feedback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Participant experience: QR scan, form completion, and confirmation.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Administrator experience: authoring, publishing, analytics, exports, and reports.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Platform experience: Next.js, Neon, Prisma, Inngest, storage, and rate limiting.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Implementation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Primary technical responsibilities covered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Production Launch and Go-Live Checklist reference notes.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Practical guidance covering infrastructure, qr verification, migration checks, monitoring, smoke tests, and emergency fallback.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Reusable checklists for implementation and operations.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Recommended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 repeatable approach for completing this module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Read the target and concept before changing files.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Implement one complete change at a time.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Run verification commands before continuing.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Commit working changes with a descriptive message.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Important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Engineering choices that keep GreyMatter Feedback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Prefer explicit validation over assumptions.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public participant interactions fast.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Move slow, retryable, or external work into background processing.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Preserve historical truth through form versioning.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Confirm that the module works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Review the checklist against your current environment.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Identify one improvement to apply before production use.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Document the responsible owner for each operational action.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Failure Modes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Common mistakes and the safer engineering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Skipping operational, privacy, testing, or deployment preparation can undermine an otherwise correct implementation.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expose secrets, raw identifiers, or private operational data to browsers.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Do not bypass established validation, authentication, or versioning workflows.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52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 Display"/>
              </a:rP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Appendix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008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What should now be true after completing this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2870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Use this reference section while building, reviewing, or operating GreyMatter Feedback.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Keep the core participant flow fast and simple.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000000"/>
                </a:solidFill>
                <a:latin typeface="Aptos"/>
              </a:rPr>
              <a:t>The next module builds on this capability rather than replacing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